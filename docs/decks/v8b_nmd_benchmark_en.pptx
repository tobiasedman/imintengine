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1F2A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A44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C4B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v8b</c:v>
                  </c:pt>
                  <c:pt idx="1">
                    <c:v>v8</c:v>
                  </c:pt>
                  <c:pt idx="2">
                    <c:v>NMD (labels)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43.1</c:v>
                </c:pt>
                <c:pt idx="1">
                  <c:v>41.6</c:v>
                </c:pt>
                <c:pt idx="2">
                  <c:v>39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500" u="none">
                  <a:solidFill>
                    <a:srgbClr val="1F2A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A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"/>
          <c:min val="30"/>
        </c:scaling>
        <c:delete val="0"/>
        <c:axPos val="l"/>
        <c:majorGridlines>
          <c:spPr>
            <a:ln w="12700" cap="flat">
              <a:solidFill>
                <a:srgbClr val="E0E4D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mIoU</c:v>
                </c:pt>
              </c:strCache>
            </c:strRef>
          </c:tx>
          <c:spPr>
            <a:solidFill>
              <a:srgbClr val="D9A441"/>
            </a:solidFill>
            <a:ln w="38100" cap="flat">
              <a:solidFill>
                <a:srgbClr val="D9A441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5F5F5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9A441"/>
              </a:solidFill>
              <a:ln w="9525" cap="flat">
                <a:solidFill>
                  <a:srgbClr val="D9A4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v6a</c:v>
                  </c:pt>
                  <c:pt idx="1">
                    <c:v>300M/256</c:v>
                  </c:pt>
                  <c:pt idx="2">
                    <c:v>600M/512</c:v>
                  </c:pt>
                  <c:pt idx="3">
                    <c:v>v8</c:v>
                  </c:pt>
                  <c:pt idx="4">
                    <c:v>v8b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0.366</c:v>
                </c:pt>
                <c:pt idx="1">
                  <c:v>0.472</c:v>
                </c:pt>
                <c:pt idx="2">
                  <c:v>0.477</c:v>
                </c:pt>
                <c:pt idx="3">
                  <c:v>0.515</c:v>
                </c:pt>
                <c:pt idx="4">
                  <c:v>0.535</c:v>
                </c:pt>
              </c:numCache>
            </c:numRef>
          </c:val>
          <c:smooth val="1"/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F5F5F5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5F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.3"/>
        </c:scaling>
        <c:delete val="0"/>
        <c:axPos val="l"/>
        <c:majorGridlines>
          <c:spPr>
            <a:ln w="12700" cap="flat">
              <a:solidFill>
                <a:srgbClr val="35502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7BC6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IMINT · v8b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v8b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Multitemporal Sentinel-2 land-cover model for Sweden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10881360" cy="1920240"/>
          </a:xfrm>
          <a:prstGeom prst="roundRect">
            <a:avLst>
              <a:gd name="adj" fmla="val 5714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5643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v8b beats NMD — its own label source — </a:t>
            </a:r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every standard measure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validation against the National Forest Inventory: overall 46.5% vs 40.2%, kappa 0.34 vs 0.26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440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(unified)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02152" y="5440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7,882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02152" y="6035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tiles, all of Sweden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64224" y="5440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Prithvi-600M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64224" y="6035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backbone, 504 px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226296" y="5440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0.5352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26296" y="6035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mIoU (20 epochs)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 type vs field truth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Forest-type accuracy (pine / spruce / deciduous / mixed), same 944 NFI plots, 4-way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680960" y="1965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student beats the teacher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7680960" y="2615184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4"/>
          <p:cNvSpPr/>
          <p:nvPr/>
        </p:nvSpPr>
        <p:spPr>
          <a:xfrm>
            <a:off x="7973568" y="2514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NMD labels — yet more accurate than NMD at the actual field points.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680960" y="3758184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6"/>
          <p:cNvSpPr/>
          <p:nvPr/>
        </p:nvSpPr>
        <p:spPr>
          <a:xfrm>
            <a:off x="7973568" y="3657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Denoises NMD's per-pixel errors via multitemporal S2 + LiDAR-derived aux.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680960" y="4901184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8"/>
          <p:cNvSpPr/>
          <p:nvPr/>
        </p:nvSpPr>
        <p:spPr>
          <a:xfrm>
            <a:off x="7973568" y="4800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0.82 for pine against field-measured truth.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measures — user's / producer's / F1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3385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over all plots (4 forest types + non-forest), the same metrics NMD/WorldCover report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 (5-class)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v8b </a:t>
            </a:r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46.5%</a:t>
            </a:r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NMD </a:t>
            </a:r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40.2%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kappa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v8b </a:t>
            </a:r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0.339</a:t>
            </a:r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NMD </a:t>
            </a:r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0.255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346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v8b User's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v8b Prod.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v8b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E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NMD User's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NMD Prod.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NMD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E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Spruce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Deciduous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D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= precision · Producer's = recall. v8b has higher F1 on all four forest classes, plus higher overall accuracy and kappa.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it mean?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lineage — val mIoU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5544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6675120" y="170078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Beats the national product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675120" y="2130552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forest type vs field truth, v8b beats NMD on F1, overall accuracy and kappa — the operational Swedish land-cover product.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0" y="3090672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6675120" y="323697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Field-validated, not just val-split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675120" y="3666744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0.70–0.82 against the NFI = real discriminative signal vs independent ground truth.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0" y="4626864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12" name="Text 9"/>
          <p:cNvSpPr/>
          <p:nvPr/>
        </p:nvSpPr>
        <p:spPr>
          <a:xfrm>
            <a:off x="6675120" y="477316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WorldCover excluded — and why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675120" y="5202936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Optical-only, no LiDAR/structure, only ”tree cover”. Not comparable on forest type.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absolute numbers reflect that 4-way forest type in a 10 m pixel against a field plot is genuinely hard — for every method.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2026-08-05T11:30:57Z</dcterms:created>
  <dcterms:modified xsi:type="dcterms:W3CDTF">2026-08-05T11:30:57Z</dcterms:modified>
</cp:coreProperties>
</file>