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NFI overall</c:v>
                </c:pt>
              </c:strCache>
            </c:strRef>
          </c:tx>
          <c:spPr>
            <a:solidFill>
              <a:srgbClr val="5E8478"/>
            </a:solidFill>
            <a:effectLst/>
          </c:spPr>
          <c:invertIfNegative val="0"/>
          <c:dLbls>
            <c:numFmt formatCode="0.0&quot;%&quot;"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5E8478"/>
              </a:solidFill>
              <a:effectLst/>
            </c:spPr>
          </c:dPt>
          <c:dPt>
            <c:idx val="1"/>
            <c:invertIfNegative val="0"/>
            <c:bubble3D val="0"/>
            <c:spPr>
              <a:solidFill>
                <a:srgbClr val="5E8478"/>
              </a:solidFill>
              <a:effectLst/>
            </c:spPr>
          </c:dPt>
          <c:dPt>
            <c:idx val="2"/>
            <c:invertIfNegative val="0"/>
            <c:bubble3D val="0"/>
            <c:spPr>
              <a:solidFill>
                <a:srgbClr val="FFFFFF"/>
              </a:solidFill>
              <a:effectLst/>
            </c:spPr>
          </c:dPt>
          <c:dPt>
            <c:idx val="3"/>
            <c:invertIfNegative val="0"/>
            <c:bubble3D val="0"/>
            <c:spPr>
              <a:solidFill>
                <a:srgbClr val="FF826C"/>
              </a:solidFill>
              <a:effectLst/>
            </c:spPr>
          </c:dPt>
          <c:dPt>
            <c:idx val="4"/>
            <c:invertIfNegative val="0"/>
            <c:bubble3D val="0"/>
            <c:spPr>
              <a:solidFill>
                <a:srgbClr val="CDFCE3"/>
              </a:solidFill>
              <a:effectLst/>
            </c:spPr>
          </c:dPt>
          <c:cat>
            <c:multiLvlStrRef>
              <c:f>Sheet1!$A$2:$A$6</c:f>
              <c:multiLvlStrCache>
                <c:ptCount val="5"/>
                <c:lvl>
                  <c:pt idx="0">
                    <c:v>v8b (NMD2018)</c:v>
                  </c:pt>
                  <c:pt idx="1">
                    <c:v>NMD2023 labels</c:v>
                  </c:pt>
                  <c:pt idx="2">
                    <c:v>NMD2023 itself</c:v>
                  </c:pt>
                  <c:pt idx="3">
                    <c:v>Distilled</c:v>
                  </c:pt>
                  <c:pt idx="4">
                    <c:v>NFI head (OOF)</c:v>
                  </c:pt>
                </c:lvl>
              </c:multiLvlStrCache>
            </c:multiLvlStrRef>
          </c:cat>
          <c:val>
            <c:numRef>
              <c:f>Sheet1!$B$2:$B$6</c:f>
              <c:numCache>
                <c:formatCode>General</c:formatCode>
                <c:ptCount val="5"/>
                <c:pt idx="0">
                  <c:v>46.5</c:v>
                </c:pt>
                <c:pt idx="1">
                  <c:v>46</c:v>
                </c:pt>
                <c:pt idx="2">
                  <c:v>49.3</c:v>
                </c:pt>
                <c:pt idx="3">
                  <c:v>52.7</c:v>
                </c:pt>
                <c:pt idx="4">
                  <c:v>63.7</c:v>
                </c:pt>
              </c:numCache>
            </c:numRef>
          </c:val>
        </c:ser>
        <c:dLbls>
          <c:numFmt formatCode="0.0&quot;%&quot;"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68"/>
          <c:min val="40"/>
        </c:scaling>
        <c:delete val="0"/>
        <c:axPos val="l"/>
        <c:majorGridlines>
          <c:spPr>
            <a:ln w="12700" cap="flat">
              <a:solidFill>
                <a:srgbClr val="1C524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overall</c:v>
                </c:pt>
              </c:strCache>
            </c:strRef>
          </c:tx>
          <c:spPr>
            <a:solidFill>
              <a:srgbClr val="5E8478"/>
            </a:solidFill>
            <a:effectLst/>
          </c:spPr>
          <c:invertIfNegative val="0"/>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5E8478"/>
              </a:solidFill>
              <a:effectLst/>
            </c:spPr>
          </c:dPt>
          <c:dPt>
            <c:idx val="1"/>
            <c:invertIfNegative val="0"/>
            <c:bubble3D val="0"/>
            <c:spPr>
              <a:solidFill>
                <a:srgbClr val="FF826C"/>
              </a:solidFill>
              <a:effectLst/>
            </c:spPr>
          </c:dPt>
          <c:dPt>
            <c:idx val="2"/>
            <c:invertIfNegative val="0"/>
            <c:bubble3D val="0"/>
            <c:spPr>
              <a:solidFill>
                <a:srgbClr val="CDFCE3"/>
              </a:solidFill>
              <a:effectLst/>
            </c:spPr>
          </c:dPt>
          <c:cat>
            <c:multiLvlStrRef>
              <c:f>Sheet1!$A$2:$A$4</c:f>
              <c:multiLvlStrCache>
                <c:ptCount val="3"/>
                <c:lvl>
                  <c:pt idx="0">
                    <c:v>NMD2023</c:v>
                  </c:pt>
                  <c:pt idx="1">
                    <c:v>Distilled (28-class)</c:v>
                  </c:pt>
                  <c:pt idx="2">
                    <c:v>Forest-type fractions</c:v>
                  </c:pt>
                </c:lvl>
              </c:multiLvlStrCache>
            </c:multiLvlStrRef>
          </c:cat>
          <c:val>
            <c:numRef>
              <c:f>Sheet1!$B$2:$B$4</c:f>
              <c:numCache>
                <c:formatCode>General</c:formatCode>
                <c:ptCount val="3"/>
                <c:pt idx="0">
                  <c:v>43.1</c:v>
                </c:pt>
                <c:pt idx="1">
                  <c:v>50.2</c:v>
                </c:pt>
                <c:pt idx="2">
                  <c:v>57.9</c:v>
                </c:pt>
              </c:numCache>
            </c:numRef>
          </c:val>
        </c:ser>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62"/>
          <c:min val="35"/>
        </c:scaling>
        <c:delete val="0"/>
        <c:axPos val="l"/>
        <c:majorGridlines>
          <c:spPr>
            <a:ln w="12700" cap="flat">
              <a:solidFill>
                <a:srgbClr val="1C524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DBDB0"/>
                </a:solidFill>
                <a:latin typeface="Space Grotesk"/>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forest-type acc</c:v>
                </c:pt>
              </c:strCache>
            </c:strRef>
          </c:tx>
          <c:spPr>
            <a:solidFill>
              <a:srgbClr val="CDFCE3"/>
            </a:solidFill>
            <a:effectLst/>
          </c:spPr>
          <c:invertIfNegative val="0"/>
          <c:dLbls>
            <c:numFmt formatCode="0.000" sourceLinked="0"/>
            <c:txPr>
              <a:bodyPr/>
              <a:lstStyle/>
              <a:p>
                <a:pPr>
                  <a:defRPr b="0" i="0" strike="noStrike" sz="16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CDFCE3"/>
              </a:solidFill>
              <a:effectLst/>
            </c:spPr>
          </c:dPt>
          <c:dPt>
            <c:idx val="1"/>
            <c:invertIfNegative val="0"/>
            <c:bubble3D val="0"/>
            <c:spPr>
              <a:solidFill>
                <a:srgbClr val="5E8478"/>
              </a:solidFill>
              <a:effectLst/>
            </c:spPr>
          </c:dPt>
          <c:cat>
            <c:multiLvlStrRef>
              <c:f>Sheet1!$A$2:$A$3</c:f>
              <c:multiLvlStrCache>
                <c:ptCount val="2"/>
                <c:lvl>
                  <c:pt idx="0">
                    <c:v>Tessera + fraction head</c:v>
                  </c:pt>
                  <c:pt idx="1">
                    <c:v>Prithvi-600M + fraction head</c:v>
                  </c:pt>
                </c:lvl>
              </c:multiLvlStrCache>
            </c:multiLvlStrRef>
          </c:cat>
          <c:val>
            <c:numRef>
              <c:f>Sheet1!$B$2:$B$3</c:f>
              <c:numCache>
                <c:formatCode>General</c:formatCode>
                <c:ptCount val="2"/>
                <c:pt idx="0">
                  <c:v>0.589</c:v>
                </c:pt>
                <c:pt idx="1">
                  <c:v>0.579</c:v>
                </c:pt>
              </c:numCache>
            </c:numRef>
          </c:val>
        </c:ser>
        <c:dLbls>
          <c:numFmt formatCode="0.000" sourceLinked="0"/>
          <c:txPr>
            <a:bodyPr/>
            <a:lstStyle/>
            <a:p>
              <a:pPr>
                <a:defRPr b="0" i="0" strike="noStrike" sz="1600" u="none">
                  <a:solidFill>
                    <a:srgbClr val="FFFFFF"/>
                  </a:solidFill>
                  <a:latin typeface="Space Grotesk"/>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62"/>
          <c:min val="0.5"/>
        </c:scaling>
        <c:delete val="0"/>
        <c:axPos val="l"/>
        <c:majorGridlines>
          <c:spPr>
            <a:ln w="12700" cap="flat">
              <a:solidFill>
                <a:srgbClr val="1C524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DBDB0"/>
                </a:solidFill>
                <a:latin typeface="Space Grotesk"/>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L2a agreement</c:v>
                </c:pt>
              </c:strCache>
            </c:strRef>
          </c:tx>
          <c:spPr>
            <a:solidFill>
              <a:srgbClr val="CDFCE3"/>
            </a:solidFill>
            <a:effectLst/>
          </c:spPr>
          <c:invertIfNegative val="0"/>
          <c:dLbls>
            <c:numFmt formatCode="0.000" sourceLinked="0"/>
            <c:txPr>
              <a:bodyPr/>
              <a:lstStyle/>
              <a:p>
                <a:pPr>
                  <a:defRPr b="0" i="0" strike="noStrike" sz="14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CDFCE3"/>
              </a:solidFill>
              <a:effectLst/>
            </c:spPr>
          </c:dPt>
          <c:dPt>
            <c:idx val="1"/>
            <c:invertIfNegative val="0"/>
            <c:bubble3D val="0"/>
            <c:spPr>
              <a:solidFill>
                <a:srgbClr val="5E8478"/>
              </a:solidFill>
              <a:effectLst/>
            </c:spPr>
          </c:dPt>
          <c:cat>
            <c:multiLvlStrRef>
              <c:f>Sheet1!$A$2:$A$3</c:f>
              <c:multiLvlStrCache>
                <c:ptCount val="2"/>
                <c:lvl>
                  <c:pt idx="0">
                    <c:v>Tessera</c:v>
                  </c:pt>
                  <c:pt idx="1">
                    <c:v>Prithvi-600M</c:v>
                  </c:pt>
                </c:lvl>
              </c:multiLvlStrCache>
            </c:multiLvlStrRef>
          </c:cat>
          <c:val>
            <c:numRef>
              <c:f>Sheet1!$B$2:$B$3</c:f>
              <c:numCache>
                <c:formatCode>General</c:formatCode>
                <c:ptCount val="2"/>
                <c:pt idx="0">
                  <c:v>0.809</c:v>
                </c:pt>
                <c:pt idx="1">
                  <c:v>0.784</c:v>
                </c:pt>
              </c:numCache>
            </c:numRef>
          </c:val>
        </c:ser>
        <c:dLbls>
          <c:numFmt formatCode="0.000" sourceLinked="0"/>
          <c:txPr>
            <a:bodyPr/>
            <a:lstStyle/>
            <a:p>
              <a:pPr>
                <a:defRPr b="0" i="0" strike="noStrike" sz="1400" u="none">
                  <a:solidFill>
                    <a:srgbClr val="FFFFFF"/>
                  </a:solidFill>
                  <a:latin typeface="Space Grotesk"/>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84"/>
          <c:min val="0.7"/>
        </c:scaling>
        <c:delete val="0"/>
        <c:axPos val="b"/>
        <c:majorGridlines>
          <c:spPr>
            <a:ln w="12700" cap="flat">
              <a:solidFill>
                <a:srgbClr val="1C5248"/>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agreement</c:v>
                </c:pt>
              </c:strCache>
            </c:strRef>
          </c:tx>
          <c:spPr>
            <a:solidFill>
              <a:srgbClr val="CDFCE3"/>
            </a:solidFill>
            <a:effectLst/>
          </c:spPr>
          <c:invertIfNegative val="0"/>
          <c:dLbls>
            <c:numFmt formatCode="0.00"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cat>
            <c:multiLvlStrRef>
              <c:f>Sheet1!$A$2:$A$5</c:f>
              <c:multiLvlStrCache>
                <c:ptCount val="4"/>
                <c:lvl>
                  <c:pt idx="0">
                    <c:v>Sugar-beet</c:v>
                  </c:pt>
                  <c:pt idx="1">
                    <c:v>Potato</c:v>
                  </c:pt>
                  <c:pt idx="2">
                    <c:v>Barley</c:v>
                  </c:pt>
                  <c:pt idx="3">
                    <c:v>Wheat</c:v>
                  </c:pt>
                </c:lvl>
              </c:multiLvlStrCache>
            </c:multiLvlStrRef>
          </c:cat>
          <c:val>
            <c:numRef>
              <c:f>Sheet1!$B$2:$B$5</c:f>
              <c:numCache>
                <c:formatCode>General</c:formatCode>
                <c:ptCount val="4"/>
                <c:pt idx="0">
                  <c:v>0.91</c:v>
                </c:pt>
                <c:pt idx="1">
                  <c:v>0.9</c:v>
                </c:pt>
                <c:pt idx="2">
                  <c:v>0.85</c:v>
                </c:pt>
                <c:pt idx="3">
                  <c:v>0.78</c:v>
                </c:pt>
              </c:numCache>
            </c:numRef>
          </c:val>
        </c:ser>
        <c:dLbls>
          <c:numFmt formatCode="0.00"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95"/>
          <c:min val="0.7"/>
        </c:scaling>
        <c:delete val="0"/>
        <c:axPos val="b"/>
        <c:majorGridlines>
          <c:spPr>
            <a:ln w="12700" cap="flat">
              <a:solidFill>
                <a:srgbClr val="1C5248"/>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headline: a model trained on Sweden's national land-cover map ends up more accurate than that map, when both are scored on independent field plots. I'll show how field calibration breaks a ceiling that hard labels impose. Four datasets underpin the work: 28 unified classes, 7,882 Sentinel-2 tiles, 944 NFI plots and over 34,000 LUCAS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premise: NMD is everywhere used as ground truth, but it is itself a model output. A student model can denoise its teacher, yet classical distillation is bounded by the teacher's accuracy. So the scientific question is whether the ceiling lives in the representation or in the label. Answering that requires evaluation on real field data, which is what the rest of the talk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worlds of data. On the left, the training signal: nearly 8,000 Sentinel-2 tiles labelled by the NMD2023 map, four temporal frames each. On the right, independent field truth we never train on — NFI plots, LUCAS points and LPIS crop parcels. That separation is what makes the later comparisons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a Prithvi-EO-2.0 600M foundation backbone consumes four temporal frames and eleven auxiliary channels — forestry stand metrics, a DEM, and phenology. It carries two heads: a 28-class land-cover head and a forest-type fraction head. We also run a Tessera backbone on frozen, precomputed embeddings so we can ask whether an expensive encoder is even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Rigor matters more than the headline. We split by tile, not by plot, so nothing spatially adjacent leaks across the train-test boundary. Every threshold and collapse rule is calibrated only on the 735 training plots. The NMD2023 baseline is scored on the identical 209 held-out plots. And three independent field sources — NFI, LUCAS, LPIS — cross-check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finding. The three left-hand bars — different NMD generations as the training target — all sit around 46 to 49 percent. Distillation nudges it to 52.7. But take the identical features and supervise with NFI field data, and out-of-fold accuracy jumps to 63.7 percent. The representation was never the bottleneck; the label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held-out plots the numbers speak for themselves: NMD2023 scores 43.1 percent, the distilled 28-class model 50.2, and the forest-type fraction layer 57.9. Kappa climbs from 0.30 to 0.42. Crucially, all thresholds were fit only on the training plots, so this is a clean generalization result, not a tuned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Qualitatively, the same 5-by-5 kilometre tile through four lenses. Left to right: the 2018 NMD label, our model trained on 2018, the 2023 NMD label, and the distilled NFI model. The distilled output is visibly crisper and more coherent than the label it learned from — denoising you can see, not just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by class, the story is nuanced. The distilled model wins spruce and non-forest; the fraction layer wins pine, at F1 0.74, and deciduous. Non-forest is a structural zero for the fraction path — by design it only assigns forest type, so production pairs it with a hard forest mask. No single column dominates every row, which is why we ship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natural question: does ensembling help? We tried six members and an out-of-fold-locked stacked combiner. It reaches 0.617 versus 0.579 for the single best member — but McNemar's p is 0.37 and the bootstrap confidence interval on the gap spans zero. Adding an encoder-diverse Tessera member changed almost nothing. Honestly reported: the ensemble is within noise. We do not ship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representation isn't the ceiling, how cheap can it get? Tessera scores 0.589 on forest type, Prithvi-600M 0.579 — a 0.010 gap with McNemar p of 0.88, a statistical tie. But Tessera runs on precomputed embeddings with no 600-million-parameter forward pass at all. Same accuracy, a fraction of the compute: that is the deployment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entirely separate truth source: over ten thousand year-matched LUCAS points. On the 28-class task Tessera leads at 0.499; on threshold-free forest fraction it reaches 0.809 dominant-species agreement, again ahead of Prithvi. Both backbones struggle with spruce at around 0.54 — that is a shared task limit, not a model quirk. LUCAS independently confirms the NFI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pure label sanity check, no model involved. Nearly 80 percent of LUCAS crop points land on a year-matched LPIS parcel, and excluding pasture the two surveys agree at 0.81 — sugar-beet and potato above 0.90. Pasture looks low at 0.25, but 87 percent is still grass in LPIS: the two surveys simply draw the ley-versus-pasture line differently. Our crop labels are independently well-founded.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take away. First, the supervision target — not the feature representation — was the ceiling. Second, representation is cheap: frozen Tessera embeddings match a 600-million-parameter encoder. Third, ensembling doesn't pay because the members are correlated. Fourth, the hard classes — spruce, open land, shrub — are hard for every backbone and every truth source, so they are a data limit we should target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the boundaries. The held-out set is thin at 209 plots, so several close comparisons are genuinely within noise. Spruce stays weak everywhere. Crops demand strict year-matching. The ley-versus-pasture ambiguity is a survey-definition problem, not a model error. And LUCAS-LPIS overlap is only about a third of crop points. More field data — especially spruce — is the clearest path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field calibration wins on independent truth, beating the very map it learned from. For deployment we recommend the distilled 28-class base paired with the forest-type fraction layer, and Tessera's cheap embeddings to run it. Skip the ensemble — the gain is within noise. All figures trace to the finding documents on the last 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594360" y="960120"/>
            <a:ext cx="10972800" cy="1097280"/>
          </a:xfrm>
          <a:prstGeom prst="rect">
            <a:avLst/>
          </a:prstGeom>
          <a:noFill/>
          <a:ln/>
        </p:spPr>
        <p:txBody>
          <a:bodyPr wrap="square" lIns="0" tIns="0" rIns="0" bIns="0" rtlCol="0" anchor="ctr"/>
          <a:lstStyle/>
          <a:p>
            <a:pPr indent="0" marL="0">
              <a:buNone/>
            </a:pPr>
            <a:r>
              <a:rPr lang="en-US" sz="5800" b="1" dirty="0">
                <a:solidFill>
                  <a:srgbClr val="FFFFFF"/>
                </a:solidFill>
                <a:latin typeface="Space Grotesk" pitchFamily="34" charset="0"/>
                <a:ea typeface="Space Grotesk" pitchFamily="34" charset="-122"/>
                <a:cs typeface="Space Grotesk" pitchFamily="34" charset="-120"/>
              </a:rPr>
              <a:t>Breaking the label ceiling</a:t>
            </a:r>
            <a:endParaRPr lang="en-US" sz="5800" dirty="0"/>
          </a:p>
        </p:txBody>
      </p:sp>
      <p:sp>
        <p:nvSpPr>
          <p:cNvPr id="4" name="Text 2"/>
          <p:cNvSpPr/>
          <p:nvPr/>
        </p:nvSpPr>
        <p:spPr>
          <a:xfrm>
            <a:off x="658368" y="2148840"/>
            <a:ext cx="10972800" cy="548640"/>
          </a:xfrm>
          <a:prstGeom prst="rect">
            <a:avLst/>
          </a:prstGeom>
          <a:noFill/>
          <a:ln/>
        </p:spPr>
        <p:txBody>
          <a:bodyPr wrap="square" lIns="0" tIns="0" rIns="0" bIns="0" rtlCol="0" anchor="ctr"/>
          <a:lstStyle/>
          <a:p>
            <a:pPr indent="0" marL="0">
              <a:buNone/>
            </a:pPr>
            <a:r>
              <a:rPr lang="en-US" sz="2200" dirty="0">
                <a:solidFill>
                  <a:srgbClr val="CDFCE3"/>
                </a:solidFill>
                <a:latin typeface="Space Grotesk" pitchFamily="34" charset="0"/>
                <a:ea typeface="Space Grotesk" pitchFamily="34" charset="-122"/>
                <a:cs typeface="Space Grotesk" pitchFamily="34" charset="-120"/>
              </a:rPr>
              <a:t>Field-calibrated land-cover mapping for Sweden</a:t>
            </a:r>
            <a:endParaRPr lang="en-US" sz="2200" dirty="0"/>
          </a:p>
        </p:txBody>
      </p:sp>
      <p:sp>
        <p:nvSpPr>
          <p:cNvPr id="5" name="Shape 3"/>
          <p:cNvSpPr/>
          <p:nvPr/>
        </p:nvSpPr>
        <p:spPr>
          <a:xfrm>
            <a:off x="640080" y="2971800"/>
            <a:ext cx="10881360" cy="1417320"/>
          </a:xfrm>
          <a:prstGeom prst="roundRect">
            <a:avLst>
              <a:gd name="adj" fmla="val 7742"/>
            </a:avLst>
          </a:prstGeom>
          <a:solidFill>
            <a:srgbClr val="145043"/>
          </a:solidFill>
          <a:ln/>
          <a:effectLst>
            <a:outerShdw sx="100000" sy="100000" kx="0" ky="0" algn="bl" rotWithShape="0" blurRad="127000" dist="38100" dir="5400000">
              <a:srgbClr val="000000">
                <a:alpha val="40000"/>
              </a:srgbClr>
            </a:outerShdw>
          </a:effectLst>
        </p:spPr>
      </p:sp>
      <p:sp>
        <p:nvSpPr>
          <p:cNvPr id="6" name="Text 4"/>
          <p:cNvSpPr/>
          <p:nvPr/>
        </p:nvSpPr>
        <p:spPr>
          <a:xfrm>
            <a:off x="960120" y="3200400"/>
            <a:ext cx="10241280" cy="1005840"/>
          </a:xfrm>
          <a:prstGeom prst="rect">
            <a:avLst/>
          </a:prstGeom>
          <a:noFill/>
          <a:ln/>
        </p:spPr>
        <p:txBody>
          <a:bodyPr wrap="square" lIns="0" tIns="0" rIns="0" bIns="0" rtlCol="0" anchor="ctr"/>
          <a:lstStyle/>
          <a:p>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On 209 held-out field plots the model reaches </a:t>
            </a:r>
            <a:pPr indent="0" marL="0">
              <a:lnSpc>
                <a:spcPct val="105000"/>
              </a:lnSpc>
              <a:buNone/>
            </a:pPr>
            <a:r>
              <a:rPr lang="en-US" sz="2200" b="1" dirty="0">
                <a:solidFill>
                  <a:srgbClr val="FF826C"/>
                </a:solidFill>
                <a:latin typeface="Space Grotesk" pitchFamily="34" charset="0"/>
                <a:ea typeface="Space Grotesk" pitchFamily="34" charset="-122"/>
                <a:cs typeface="Space Grotesk" pitchFamily="34" charset="-120"/>
              </a:rPr>
              <a:t>50.2%</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and its forest-type layer </a:t>
            </a:r>
            <a:pPr indent="0" marL="0">
              <a:lnSpc>
                <a:spcPct val="105000"/>
              </a:lnSpc>
              <a:buNone/>
            </a:pPr>
            <a:r>
              <a:rPr lang="en-US" sz="2200" b="1" dirty="0">
                <a:solidFill>
                  <a:srgbClr val="CDFCE3"/>
                </a:solidFill>
                <a:latin typeface="Space Grotesk" pitchFamily="34" charset="0"/>
                <a:ea typeface="Space Grotesk" pitchFamily="34" charset="-122"/>
                <a:cs typeface="Space Grotesk" pitchFamily="34" charset="-120"/>
              </a:rPr>
              <a:t>57.9%</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 versus </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43.1%</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for the NMD2023 map it was trained on.</a:t>
            </a:r>
            <a:endParaRPr lang="en-US" sz="2200" dirty="0"/>
          </a:p>
        </p:txBody>
      </p:sp>
      <p:sp>
        <p:nvSpPr>
          <p:cNvPr id="7" name="Shape 5"/>
          <p:cNvSpPr/>
          <p:nvPr/>
        </p:nvSpPr>
        <p:spPr>
          <a:xfrm>
            <a:off x="640080"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731520" y="4882896"/>
            <a:ext cx="2468880" cy="708660"/>
          </a:xfrm>
          <a:prstGeom prst="rect">
            <a:avLst/>
          </a:prstGeom>
          <a:noFill/>
          <a:ln/>
        </p:spPr>
        <p:txBody>
          <a:bodyPr wrap="square" lIns="0" tIns="0" rIns="0" bIns="0" rtlCol="0" anchor="ctr"/>
          <a:lstStyle/>
          <a:p>
            <a:pPr algn="ctr" indent="0" marL="0">
              <a:buNone/>
            </a:pPr>
            <a:r>
              <a:rPr lang="en-US" sz="2800" b="1" dirty="0">
                <a:solidFill>
                  <a:srgbClr val="CDFCE3"/>
                </a:solidFill>
                <a:latin typeface="Space Grotesk" pitchFamily="34" charset="0"/>
                <a:ea typeface="Space Grotesk" pitchFamily="34" charset="-122"/>
                <a:cs typeface="Space Grotesk" pitchFamily="34" charset="-120"/>
              </a:rPr>
              <a:t>28</a:t>
            </a:r>
            <a:endParaRPr lang="en-US" sz="2800" dirty="0"/>
          </a:p>
        </p:txBody>
      </p:sp>
      <p:sp>
        <p:nvSpPr>
          <p:cNvPr id="9" name="Text 7"/>
          <p:cNvSpPr/>
          <p:nvPr/>
        </p:nvSpPr>
        <p:spPr>
          <a:xfrm>
            <a:off x="749808"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unified classes</a:t>
            </a:r>
            <a:endParaRPr lang="en-US" sz="1200" dirty="0"/>
          </a:p>
        </p:txBody>
      </p:sp>
      <p:sp>
        <p:nvSpPr>
          <p:cNvPr id="10" name="Shape 8"/>
          <p:cNvSpPr/>
          <p:nvPr/>
        </p:nvSpPr>
        <p:spPr>
          <a:xfrm>
            <a:off x="3401568"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3493008"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7,882</a:t>
            </a:r>
            <a:endParaRPr lang="en-US" sz="2800" dirty="0"/>
          </a:p>
        </p:txBody>
      </p:sp>
      <p:sp>
        <p:nvSpPr>
          <p:cNvPr id="12" name="Text 10"/>
          <p:cNvSpPr/>
          <p:nvPr/>
        </p:nvSpPr>
        <p:spPr>
          <a:xfrm>
            <a:off x="3511296"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Sentinel-2 tiles</a:t>
            </a:r>
            <a:endParaRPr lang="en-US" sz="1200" dirty="0"/>
          </a:p>
        </p:txBody>
      </p:sp>
      <p:sp>
        <p:nvSpPr>
          <p:cNvPr id="13" name="Shape 11"/>
          <p:cNvSpPr/>
          <p:nvPr/>
        </p:nvSpPr>
        <p:spPr>
          <a:xfrm>
            <a:off x="6163056"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254496"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944</a:t>
            </a:r>
            <a:endParaRPr lang="en-US" sz="2800" dirty="0"/>
          </a:p>
        </p:txBody>
      </p:sp>
      <p:sp>
        <p:nvSpPr>
          <p:cNvPr id="15" name="Text 13"/>
          <p:cNvSpPr/>
          <p:nvPr/>
        </p:nvSpPr>
        <p:spPr>
          <a:xfrm>
            <a:off x="6272784"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NFI field plots</a:t>
            </a:r>
            <a:endParaRPr lang="en-US" sz="1200" dirty="0"/>
          </a:p>
        </p:txBody>
      </p:sp>
      <p:sp>
        <p:nvSpPr>
          <p:cNvPr id="16" name="Shape 14"/>
          <p:cNvSpPr/>
          <p:nvPr/>
        </p:nvSpPr>
        <p:spPr>
          <a:xfrm>
            <a:off x="8924544"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7" name="Text 15"/>
          <p:cNvSpPr/>
          <p:nvPr/>
        </p:nvSpPr>
        <p:spPr>
          <a:xfrm>
            <a:off x="9015984"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34,480</a:t>
            </a:r>
            <a:endParaRPr lang="en-US" sz="2800" dirty="0"/>
          </a:p>
        </p:txBody>
      </p:sp>
      <p:sp>
        <p:nvSpPr>
          <p:cNvPr id="18" name="Text 16"/>
          <p:cNvSpPr/>
          <p:nvPr/>
        </p:nvSpPr>
        <p:spPr>
          <a:xfrm>
            <a:off x="9034272"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LUCAS points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The label-ceiling question</a:t>
            </a:r>
            <a:endParaRPr lang="en-US" sz="3200" dirty="0"/>
          </a:p>
        </p:txBody>
      </p:sp>
      <p:sp>
        <p:nvSpPr>
          <p:cNvPr id="4" name="Text 2"/>
          <p:cNvSpPr/>
          <p:nvPr/>
        </p:nvSpPr>
        <p:spPr>
          <a:xfrm>
            <a:off x="731520" y="1234440"/>
            <a:ext cx="10698480" cy="640080"/>
          </a:xfrm>
          <a:prstGeom prst="rect">
            <a:avLst/>
          </a:prstGeom>
          <a:noFill/>
          <a:ln/>
        </p:spPr>
        <p:txBody>
          <a:bodyPr wrap="square" lIns="0" tIns="0" rIns="0" bIns="0" rtlCol="0" anchor="ctr"/>
          <a:lstStyle/>
          <a:p>
            <a:pPr algn="l" indent="0" marL="0">
              <a:lnSpc>
                <a:spcPct val="115000"/>
              </a:lnSpc>
              <a:buNone/>
            </a:pPr>
            <a:r>
              <a:rPr lang="en-US" sz="1600" dirty="0">
                <a:solidFill>
                  <a:srgbClr val="CDFCE3"/>
                </a:solidFill>
                <a:latin typeface="Space Grotesk" pitchFamily="34" charset="0"/>
                <a:ea typeface="Space Grotesk" pitchFamily="34" charset="-122"/>
                <a:cs typeface="Space Grotesk" pitchFamily="34" charset="-120"/>
              </a:rPr>
              <a:t>The national land-cover map (NMD) is Sweden's standard reference — but it is a modelled proxy, not field truth. Can a model trained on it beat it?</a:t>
            </a:r>
            <a:endParaRPr lang="en-US" sz="1600" dirty="0"/>
          </a:p>
        </p:txBody>
      </p:sp>
      <p:sp>
        <p:nvSpPr>
          <p:cNvPr id="5" name="Text 3"/>
          <p:cNvSpPr/>
          <p:nvPr/>
        </p:nvSpPr>
        <p:spPr>
          <a:xfrm>
            <a:off x="731520" y="1965960"/>
            <a:ext cx="6400800" cy="411480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NMD is produced from satellite imagery and modelling — it carries its own class errors.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Distillation can denoise a teacher, but only up to the teacher's own accuracy.</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The open question: is the ceiling the representation (features), or the supervision target (labels)?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To answer it we need supervision and evaluation grounded in the field — not in NMD.</a:t>
            </a:r>
            <a:endParaRPr lang="en-US" sz="1500" dirty="0"/>
          </a:p>
        </p:txBody>
      </p:sp>
      <p:sp>
        <p:nvSpPr>
          <p:cNvPr id="6" name="Shape 4"/>
          <p:cNvSpPr/>
          <p:nvPr/>
        </p:nvSpPr>
        <p:spPr>
          <a:xfrm>
            <a:off x="7498080" y="1965960"/>
            <a:ext cx="3977640" cy="3246120"/>
          </a:xfrm>
          <a:prstGeom prst="roundRect">
            <a:avLst>
              <a:gd name="adj" fmla="val 2817"/>
            </a:avLst>
          </a:prstGeom>
          <a:solidFill>
            <a:srgbClr val="145043"/>
          </a:solidFill>
          <a:ln/>
          <a:effectLst>
            <a:outerShdw sx="100000" sy="100000" kx="0" ky="0" algn="bl" rotWithShape="0" blurRad="101600" dist="38100" dir="5400000">
              <a:srgbClr val="000000">
                <a:alpha val="35000"/>
              </a:srgbClr>
            </a:outerShdw>
          </a:effectLst>
        </p:spPr>
      </p:sp>
      <p:sp>
        <p:nvSpPr>
          <p:cNvPr id="7" name="Text 5"/>
          <p:cNvSpPr/>
          <p:nvPr/>
        </p:nvSpPr>
        <p:spPr>
          <a:xfrm>
            <a:off x="7726680" y="2103120"/>
            <a:ext cx="352044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Why field truth?</a:t>
            </a:r>
            <a:endParaRPr lang="en-US" sz="1800" dirty="0"/>
          </a:p>
        </p:txBody>
      </p:sp>
      <p:sp>
        <p:nvSpPr>
          <p:cNvPr id="8" name="Text 6"/>
          <p:cNvSpPr/>
          <p:nvPr/>
        </p:nvSpPr>
        <p:spPr>
          <a:xfrm>
            <a:off x="7726680" y="2532888"/>
            <a:ext cx="3520440" cy="256032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NMD tells you what another model believed. National Forest Inventory (NFI) plots and LUCAS points are surveyed on the ground. Only independent field truth can tell whether a map is right — and whether a model has out-learned its teacher.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Data and truth sources</a:t>
            </a:r>
            <a:endParaRPr lang="en-US" sz="3200" dirty="0"/>
          </a:p>
        </p:txBody>
      </p:sp>
      <p:sp>
        <p:nvSpPr>
          <p:cNvPr id="4" name="Text 2"/>
          <p:cNvSpPr/>
          <p:nvPr/>
        </p:nvSpPr>
        <p:spPr>
          <a:xfrm>
            <a:off x="731520" y="1188720"/>
            <a:ext cx="5303520" cy="320040"/>
          </a:xfrm>
          <a:prstGeom prst="rect">
            <a:avLst/>
          </a:prstGeom>
          <a:noFill/>
          <a:ln/>
        </p:spPr>
        <p:txBody>
          <a:bodyPr wrap="square" lIns="0" tIns="0" rIns="0" bIns="0" rtlCol="0" anchor="ctr"/>
          <a:lstStyle/>
          <a:p>
            <a:pPr indent="0" marL="0">
              <a:buNone/>
            </a:pPr>
            <a:r>
              <a:rPr lang="en-US" sz="1300" b="1" dirty="0">
                <a:solidFill>
                  <a:srgbClr val="9DBDB0"/>
                </a:solidFill>
                <a:latin typeface="Space Grotesk" pitchFamily="34" charset="0"/>
                <a:ea typeface="Space Grotesk" pitchFamily="34" charset="-122"/>
                <a:cs typeface="Space Grotesk" pitchFamily="34" charset="-120"/>
              </a:rPr>
              <a:t>TRAINING SIGNAL</a:t>
            </a:r>
            <a:endParaRPr lang="en-US" sz="1300" dirty="0"/>
          </a:p>
        </p:txBody>
      </p:sp>
      <p:sp>
        <p:nvSpPr>
          <p:cNvPr id="5" name="Shape 3"/>
          <p:cNvSpPr/>
          <p:nvPr/>
        </p:nvSpPr>
        <p:spPr>
          <a:xfrm>
            <a:off x="731520" y="1554480"/>
            <a:ext cx="525780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960120" y="169164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Sentinel-2 + NMD2023</a:t>
            </a:r>
            <a:endParaRPr lang="en-US" sz="1700" dirty="0"/>
          </a:p>
        </p:txBody>
      </p:sp>
      <p:sp>
        <p:nvSpPr>
          <p:cNvPr id="7" name="Text 5"/>
          <p:cNvSpPr/>
          <p:nvPr/>
        </p:nvSpPr>
        <p:spPr>
          <a:xfrm>
            <a:off x="960120" y="2121408"/>
            <a:ext cx="4800600" cy="105156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7,882 tiles across all of Sweden, 4 temporal frames each. Pixel labels come from the NMD2023 national land-cover map — the proxy we train against.</a:t>
            </a:r>
            <a:endParaRPr lang="en-US" sz="1300" dirty="0"/>
          </a:p>
        </p:txBody>
      </p:sp>
      <p:sp>
        <p:nvSpPr>
          <p:cNvPr id="8" name="Text 6"/>
          <p:cNvSpPr/>
          <p:nvPr/>
        </p:nvSpPr>
        <p:spPr>
          <a:xfrm>
            <a:off x="6263640" y="1188720"/>
            <a:ext cx="5212080" cy="320040"/>
          </a:xfrm>
          <a:prstGeom prst="rect">
            <a:avLst/>
          </a:prstGeom>
          <a:noFill/>
          <a:ln/>
        </p:spPr>
        <p:txBody>
          <a:bodyPr wrap="square" lIns="0" tIns="0" rIns="0" bIns="0" rtlCol="0" anchor="ctr"/>
          <a:lstStyle/>
          <a:p>
            <a:pPr indent="0" marL="0">
              <a:buNone/>
            </a:pPr>
            <a:r>
              <a:rPr lang="en-US" sz="1300" b="1" dirty="0">
                <a:solidFill>
                  <a:srgbClr val="FF826C"/>
                </a:solidFill>
                <a:latin typeface="Space Grotesk" pitchFamily="34" charset="0"/>
                <a:ea typeface="Space Grotesk" pitchFamily="34" charset="-122"/>
                <a:cs typeface="Space Grotesk" pitchFamily="34" charset="-120"/>
              </a:rPr>
              <a:t>INDEPENDENT TRUTH</a:t>
            </a:r>
            <a:endParaRPr lang="en-US" sz="1300" dirty="0"/>
          </a:p>
        </p:txBody>
      </p:sp>
      <p:sp>
        <p:nvSpPr>
          <p:cNvPr id="9" name="Shape 7"/>
          <p:cNvSpPr/>
          <p:nvPr/>
        </p:nvSpPr>
        <p:spPr>
          <a:xfrm>
            <a:off x="6263640" y="15544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0" name="Text 8"/>
          <p:cNvSpPr/>
          <p:nvPr/>
        </p:nvSpPr>
        <p:spPr>
          <a:xfrm>
            <a:off x="6492240" y="169164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NFI  ·  LUCAS  ·  LPIS</a:t>
            </a:r>
            <a:endParaRPr lang="en-US" sz="1700" dirty="0"/>
          </a:p>
        </p:txBody>
      </p:sp>
      <p:sp>
        <p:nvSpPr>
          <p:cNvPr id="11" name="Text 9"/>
          <p:cNvSpPr/>
          <p:nvPr/>
        </p:nvSpPr>
        <p:spPr>
          <a:xfrm>
            <a:off x="6492240" y="2121408"/>
            <a:ext cx="4754880" cy="105156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944 NFI field plots (209 held out for testing), 34,480 Swedish LUCAS points, and year-matched LPIS crop parcels. None of these ever enters training.</a:t>
            </a:r>
            <a:endParaRPr lang="en-US" sz="1300" dirty="0"/>
          </a:p>
        </p:txBody>
      </p:sp>
      <p:sp>
        <p:nvSpPr>
          <p:cNvPr id="12" name="Shape 10"/>
          <p:cNvSpPr/>
          <p:nvPr/>
        </p:nvSpPr>
        <p:spPr>
          <a:xfrm>
            <a:off x="731520"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3" name="Text 11"/>
          <p:cNvSpPr/>
          <p:nvPr/>
        </p:nvSpPr>
        <p:spPr>
          <a:xfrm>
            <a:off x="822960"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7,882</a:t>
            </a:r>
            <a:endParaRPr lang="en-US" sz="2800" dirty="0"/>
          </a:p>
        </p:txBody>
      </p:sp>
      <p:sp>
        <p:nvSpPr>
          <p:cNvPr id="14" name="Text 12"/>
          <p:cNvSpPr/>
          <p:nvPr/>
        </p:nvSpPr>
        <p:spPr>
          <a:xfrm>
            <a:off x="841248"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tiles</a:t>
            </a:r>
            <a:endParaRPr lang="en-US" sz="1200" dirty="0"/>
          </a:p>
        </p:txBody>
      </p:sp>
      <p:sp>
        <p:nvSpPr>
          <p:cNvPr id="15" name="Shape 13"/>
          <p:cNvSpPr/>
          <p:nvPr/>
        </p:nvSpPr>
        <p:spPr>
          <a:xfrm>
            <a:off x="3493008"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6" name="Text 14"/>
          <p:cNvSpPr/>
          <p:nvPr/>
        </p:nvSpPr>
        <p:spPr>
          <a:xfrm>
            <a:off x="3584448"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944 / 209</a:t>
            </a:r>
            <a:endParaRPr lang="en-US" sz="2800" dirty="0"/>
          </a:p>
        </p:txBody>
      </p:sp>
      <p:sp>
        <p:nvSpPr>
          <p:cNvPr id="17" name="Text 15"/>
          <p:cNvSpPr/>
          <p:nvPr/>
        </p:nvSpPr>
        <p:spPr>
          <a:xfrm>
            <a:off x="3602736"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NFI plots / held out</a:t>
            </a:r>
            <a:endParaRPr lang="en-US" sz="1200" dirty="0"/>
          </a:p>
        </p:txBody>
      </p:sp>
      <p:sp>
        <p:nvSpPr>
          <p:cNvPr id="18" name="Shape 16"/>
          <p:cNvSpPr/>
          <p:nvPr/>
        </p:nvSpPr>
        <p:spPr>
          <a:xfrm>
            <a:off x="6254496"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9" name="Text 17"/>
          <p:cNvSpPr/>
          <p:nvPr/>
        </p:nvSpPr>
        <p:spPr>
          <a:xfrm>
            <a:off x="6345936"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34,480</a:t>
            </a:r>
            <a:endParaRPr lang="en-US" sz="2800" dirty="0"/>
          </a:p>
        </p:txBody>
      </p:sp>
      <p:sp>
        <p:nvSpPr>
          <p:cNvPr id="20" name="Text 18"/>
          <p:cNvSpPr/>
          <p:nvPr/>
        </p:nvSpPr>
        <p:spPr>
          <a:xfrm>
            <a:off x="6364224"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LUCAS points</a:t>
            </a:r>
            <a:endParaRPr lang="en-US" sz="1200" dirty="0"/>
          </a:p>
        </p:txBody>
      </p:sp>
      <p:sp>
        <p:nvSpPr>
          <p:cNvPr id="21" name="Shape 19"/>
          <p:cNvSpPr/>
          <p:nvPr/>
        </p:nvSpPr>
        <p:spPr>
          <a:xfrm>
            <a:off x="9015984"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22" name="Text 20"/>
          <p:cNvSpPr/>
          <p:nvPr/>
        </p:nvSpPr>
        <p:spPr>
          <a:xfrm>
            <a:off x="9107424"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28</a:t>
            </a:r>
            <a:endParaRPr lang="en-US" sz="2800" dirty="0"/>
          </a:p>
        </p:txBody>
      </p:sp>
      <p:sp>
        <p:nvSpPr>
          <p:cNvPr id="23" name="Text 21"/>
          <p:cNvSpPr/>
          <p:nvPr/>
        </p:nvSpPr>
        <p:spPr>
          <a:xfrm>
            <a:off x="9125712"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unified classes</a:t>
            </a:r>
            <a:endParaRPr lang="en-US" sz="1200" dirty="0"/>
          </a:p>
        </p:txBody>
      </p:sp>
      <p:sp>
        <p:nvSpPr>
          <p:cNvPr id="24" name="Text 22"/>
          <p:cNvSpPr/>
          <p:nvPr/>
        </p:nvSpPr>
        <p:spPr>
          <a:xfrm>
            <a:off x="731520" y="5212080"/>
            <a:ext cx="10698480" cy="548640"/>
          </a:xfrm>
          <a:prstGeom prst="rect">
            <a:avLst/>
          </a:prstGeom>
          <a:noFill/>
          <a:ln/>
        </p:spPr>
        <p:txBody>
          <a:bodyPr wrap="square" lIns="0" tIns="0" rIns="0" bIns="0" rtlCol="0" anchor="ctr"/>
          <a:lstStyle/>
          <a:p>
            <a:pPr indent="0" marL="0">
              <a:lnSpc>
                <a:spcPct val="110000"/>
              </a:lnSpc>
              <a:buNone/>
            </a:pPr>
            <a:r>
              <a:rPr lang="en-US" sz="1300" i="1" dirty="0">
                <a:solidFill>
                  <a:srgbClr val="9DBDB0"/>
                </a:solidFill>
                <a:latin typeface="Space Grotesk" pitchFamily="34" charset="0"/>
                <a:ea typeface="Space Grotesk" pitchFamily="34" charset="-122"/>
                <a:cs typeface="Space Grotesk" pitchFamily="34" charset="-120"/>
              </a:rPr>
              <a:t>The models see only Sentinel-2 pixels and NMD2023 labels; every accuracy number in this talk is measured against field truth the model never touched.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Methods: architecture</a:t>
            </a:r>
            <a:endParaRPr lang="en-US" sz="3200" dirty="0"/>
          </a:p>
        </p:txBody>
      </p:sp>
      <p:sp>
        <p:nvSpPr>
          <p:cNvPr id="4" name="Shape 2"/>
          <p:cNvSpPr/>
          <p:nvPr/>
        </p:nvSpPr>
        <p:spPr>
          <a:xfrm>
            <a:off x="731520" y="1371600"/>
            <a:ext cx="525780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0876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Prithvi-EO-2.0 600M backbone</a:t>
            </a:r>
            <a:endParaRPr lang="en-US" sz="1700" dirty="0"/>
          </a:p>
        </p:txBody>
      </p:sp>
      <p:sp>
        <p:nvSpPr>
          <p:cNvPr id="6" name="Text 4"/>
          <p:cNvSpPr/>
          <p:nvPr/>
        </p:nvSpPr>
        <p:spPr>
          <a:xfrm>
            <a:off x="960120" y="1938528"/>
            <a:ext cx="480060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Geospatial foundation encoder. Input: 4 temporal frames plus 11 auxiliary channels — forestry height, volume, basal area and diameter, a DEM, and VPP phenology.</a:t>
            </a:r>
            <a:endParaRPr lang="en-US" sz="1350" dirty="0"/>
          </a:p>
        </p:txBody>
      </p:sp>
      <p:sp>
        <p:nvSpPr>
          <p:cNvPr id="7" name="Shape 5"/>
          <p:cNvSpPr/>
          <p:nvPr/>
        </p:nvSpPr>
        <p:spPr>
          <a:xfrm>
            <a:off x="731520" y="3429000"/>
            <a:ext cx="525780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960120" y="356616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Dual output head</a:t>
            </a:r>
            <a:endParaRPr lang="en-US" sz="1700" dirty="0"/>
          </a:p>
        </p:txBody>
      </p:sp>
      <p:sp>
        <p:nvSpPr>
          <p:cNvPr id="9" name="Text 7"/>
          <p:cNvSpPr/>
          <p:nvPr/>
        </p:nvSpPr>
        <p:spPr>
          <a:xfrm>
            <a:off x="960120" y="3995928"/>
            <a:ext cx="480060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Head 1 predicts the 28-class land-cover map. Head 2 predicts a Trädslag forest-type fraction layer — the per-pixel mix of tree species.</a:t>
            </a:r>
            <a:endParaRPr lang="en-US" sz="1350" dirty="0"/>
          </a:p>
        </p:txBody>
      </p:sp>
      <p:sp>
        <p:nvSpPr>
          <p:cNvPr id="10" name="Shape 8"/>
          <p:cNvSpPr/>
          <p:nvPr/>
        </p:nvSpPr>
        <p:spPr>
          <a:xfrm>
            <a:off x="6263640" y="1371600"/>
            <a:ext cx="521208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6492240" y="150876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Tessera (frozen embeddings)</a:t>
            </a:r>
            <a:endParaRPr lang="en-US" sz="1700" dirty="0"/>
          </a:p>
        </p:txBody>
      </p:sp>
      <p:sp>
        <p:nvSpPr>
          <p:cNvPr id="12" name="Text 10"/>
          <p:cNvSpPr/>
          <p:nvPr/>
        </p:nvSpPr>
        <p:spPr>
          <a:xfrm>
            <a:off x="6492240" y="1938528"/>
            <a:ext cx="475488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A second backbone that uses precomputed Tessera embeddings. No 600M encoder forward pass at train or inference time — a deployment-cheap alternative.</a:t>
            </a:r>
            <a:endParaRPr lang="en-US" sz="1350" dirty="0"/>
          </a:p>
        </p:txBody>
      </p:sp>
      <p:sp>
        <p:nvSpPr>
          <p:cNvPr id="13" name="Shape 11"/>
          <p:cNvSpPr/>
          <p:nvPr/>
        </p:nvSpPr>
        <p:spPr>
          <a:xfrm>
            <a:off x="6263640" y="3429000"/>
            <a:ext cx="521208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56616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11 auxiliary channels</a:t>
            </a:r>
            <a:endParaRPr lang="en-US" sz="1700" dirty="0"/>
          </a:p>
        </p:txBody>
      </p:sp>
      <p:sp>
        <p:nvSpPr>
          <p:cNvPr id="15" name="Text 13"/>
          <p:cNvSpPr/>
          <p:nvPr/>
        </p:nvSpPr>
        <p:spPr>
          <a:xfrm>
            <a:off x="6492240" y="3995928"/>
            <a:ext cx="475488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Forestry stand metrics (height, volume, basal area, diameter), terrain (DEM), and Vegetation Phenology &amp; Productivity (VPP) features guide the seasonal signal.</a:t>
            </a:r>
            <a:endParaRPr lang="en-US" sz="1350" dirty="0"/>
          </a:p>
        </p:txBody>
      </p:sp>
      <p:sp>
        <p:nvSpPr>
          <p:cNvPr id="16" name="Text 14"/>
          <p:cNvSpPr/>
          <p:nvPr/>
        </p:nvSpPr>
        <p:spPr>
          <a:xfrm>
            <a:off x="731520" y="5440680"/>
            <a:ext cx="10698480" cy="457200"/>
          </a:xfrm>
          <a:prstGeom prst="rect">
            <a:avLst/>
          </a:prstGeom>
          <a:noFill/>
          <a:ln/>
        </p:spPr>
        <p:txBody>
          <a:bodyPr wrap="square" lIns="0" tIns="0" rIns="0" bIns="0" rtlCol="0" anchor="ctr"/>
          <a:lstStyle/>
          <a:p>
            <a:pPr indent="0" marL="0">
              <a:buNone/>
            </a:pPr>
            <a:r>
              <a:rPr lang="en-US" sz="1300" i="1" dirty="0">
                <a:solidFill>
                  <a:srgbClr val="9DBDB0"/>
                </a:solidFill>
                <a:latin typeface="Space Grotesk" pitchFamily="34" charset="0"/>
                <a:ea typeface="Space Grotesk" pitchFamily="34" charset="-122"/>
                <a:cs typeface="Space Grotesk" pitchFamily="34" charset="-120"/>
              </a:rPr>
              <a:t>Same features, two backbones, two heads — the design lets us separate representation quality from supervision quality.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Methods: honest evaluation</a:t>
            </a:r>
            <a:endParaRPr lang="en-US" sz="3200" dirty="0"/>
          </a:p>
        </p:txBody>
      </p:sp>
      <p:sp>
        <p:nvSpPr>
          <p:cNvPr id="4" name="Shape 2"/>
          <p:cNvSpPr/>
          <p:nvPr/>
        </p:nvSpPr>
        <p:spPr>
          <a:xfrm>
            <a:off x="731520" y="141732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54480"/>
            <a:ext cx="47548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Grouped-tile split</a:t>
            </a:r>
            <a:endParaRPr lang="en-US" sz="1700" dirty="0"/>
          </a:p>
        </p:txBody>
      </p:sp>
      <p:sp>
        <p:nvSpPr>
          <p:cNvPr id="6" name="Text 4"/>
          <p:cNvSpPr/>
          <p:nvPr/>
        </p:nvSpPr>
        <p:spPr>
          <a:xfrm>
            <a:off x="960120" y="198424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735 plots for training, 209 held out. The split is by tile, so no plot near a training tile can leak into the test set.</a:t>
            </a:r>
            <a:endParaRPr lang="en-US" sz="1400" dirty="0"/>
          </a:p>
        </p:txBody>
      </p:sp>
      <p:sp>
        <p:nvSpPr>
          <p:cNvPr id="7" name="Shape 5"/>
          <p:cNvSpPr/>
          <p:nvPr/>
        </p:nvSpPr>
        <p:spPr>
          <a:xfrm>
            <a:off x="6263640" y="141732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55448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Calibration on train only</a:t>
            </a:r>
            <a:endParaRPr lang="en-US" sz="1700" dirty="0"/>
          </a:p>
        </p:txBody>
      </p:sp>
      <p:sp>
        <p:nvSpPr>
          <p:cNvPr id="9" name="Text 7"/>
          <p:cNvSpPr/>
          <p:nvPr/>
        </p:nvSpPr>
        <p:spPr>
          <a:xfrm>
            <a:off x="6492240" y="198424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Thresholds and the collapse rule are fit on the 735 train plots exclusively. The 209 held-out plots stay untouched.</a:t>
            </a:r>
            <a:endParaRPr lang="en-US" sz="1400" dirty="0"/>
          </a:p>
        </p:txBody>
      </p:sp>
      <p:sp>
        <p:nvSpPr>
          <p:cNvPr id="10" name="Shape 8"/>
          <p:cNvSpPr/>
          <p:nvPr/>
        </p:nvSpPr>
        <p:spPr>
          <a:xfrm>
            <a:off x="731520" y="33832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520440"/>
            <a:ext cx="47548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NMD2023 on the same plots</a:t>
            </a:r>
            <a:endParaRPr lang="en-US" sz="1700" dirty="0"/>
          </a:p>
        </p:txBody>
      </p:sp>
      <p:sp>
        <p:nvSpPr>
          <p:cNvPr id="12" name="Text 10"/>
          <p:cNvSpPr/>
          <p:nvPr/>
        </p:nvSpPr>
        <p:spPr>
          <a:xfrm>
            <a:off x="960120" y="395020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The baseline map is scored on the exact same 209 plots — a like-for-like comparison, not a favourable subset.</a:t>
            </a:r>
            <a:endParaRPr lang="en-US" sz="1400" dirty="0"/>
          </a:p>
        </p:txBody>
      </p:sp>
      <p:sp>
        <p:nvSpPr>
          <p:cNvPr id="13" name="Shape 11"/>
          <p:cNvSpPr/>
          <p:nvPr/>
        </p:nvSpPr>
        <p:spPr>
          <a:xfrm>
            <a:off x="6263640" y="33832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52044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Three independent truths</a:t>
            </a:r>
            <a:endParaRPr lang="en-US" sz="1700" dirty="0"/>
          </a:p>
        </p:txBody>
      </p:sp>
      <p:sp>
        <p:nvSpPr>
          <p:cNvPr id="15" name="Text 13"/>
          <p:cNvSpPr/>
          <p:nvPr/>
        </p:nvSpPr>
        <p:spPr>
          <a:xfrm>
            <a:off x="6492240" y="395020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NFI, LUCAS and LPIS cross-check the result from three directions, none of them in the training loop.</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Result: the label ceiling</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NFI overall accuracy (944 plots) across the experiment series</a:t>
            </a:r>
            <a:endParaRPr lang="en-US" sz="1400" dirty="0"/>
          </a:p>
        </p:txBody>
      </p:sp>
      <p:graphicFrame>
        <p:nvGraphicFramePr>
          <p:cNvPr id="5" name="Chart 0" descr=""/>
          <p:cNvGraphicFramePr/>
          <p:nvPr/>
        </p:nvGraphicFramePr>
        <p:xfrm>
          <a:off x="502920" y="169164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543800" y="1691640"/>
            <a:ext cx="3931920" cy="2011680"/>
          </a:xfrm>
          <a:prstGeom prst="roundRect">
            <a:avLst>
              <a:gd name="adj" fmla="val 4545"/>
            </a:avLst>
          </a:prstGeom>
          <a:solidFill>
            <a:srgbClr val="145043"/>
          </a:solidFill>
          <a:ln/>
          <a:effectLst>
            <a:outerShdw sx="100000" sy="100000" kx="0" ky="0" algn="bl" rotWithShape="0" blurRad="101600" dist="38100" dir="5400000">
              <a:srgbClr val="000000">
                <a:alpha val="35000"/>
              </a:srgbClr>
            </a:outerShdw>
          </a:effectLst>
        </p:spPr>
      </p:sp>
      <p:sp>
        <p:nvSpPr>
          <p:cNvPr id="7" name="Text 4"/>
          <p:cNvSpPr/>
          <p:nvPr/>
        </p:nvSpPr>
        <p:spPr>
          <a:xfrm>
            <a:off x="7772400" y="1828800"/>
            <a:ext cx="347472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Hard labels cap ~46%</a:t>
            </a:r>
            <a:endParaRPr lang="en-US" sz="1700" dirty="0"/>
          </a:p>
        </p:txBody>
      </p:sp>
      <p:sp>
        <p:nvSpPr>
          <p:cNvPr id="8" name="Text 5"/>
          <p:cNvSpPr/>
          <p:nvPr/>
        </p:nvSpPr>
        <p:spPr>
          <a:xfrm>
            <a:off x="7772400" y="2258568"/>
            <a:ext cx="3474720" cy="132588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Trained against NMD classes of any generation, accuracy sticks near 46%. NMD2023 is too clean to beat by imitation.</a:t>
            </a:r>
            <a:endParaRPr lang="en-US" sz="1350" dirty="0"/>
          </a:p>
        </p:txBody>
      </p:sp>
      <p:sp>
        <p:nvSpPr>
          <p:cNvPr id="9" name="Shape 6"/>
          <p:cNvSpPr/>
          <p:nvPr/>
        </p:nvSpPr>
        <p:spPr>
          <a:xfrm>
            <a:off x="7543800" y="3886200"/>
            <a:ext cx="3931920" cy="2286000"/>
          </a:xfrm>
          <a:prstGeom prst="roundRect">
            <a:avLst>
              <a:gd name="adj" fmla="val 4000"/>
            </a:avLst>
          </a:prstGeom>
          <a:solidFill>
            <a:srgbClr val="145043"/>
          </a:solidFill>
          <a:ln/>
          <a:effectLst>
            <a:outerShdw sx="100000" sy="100000" kx="0" ky="0" algn="bl" rotWithShape="0" blurRad="101600" dist="38100" dir="5400000">
              <a:srgbClr val="000000">
                <a:alpha val="35000"/>
              </a:srgbClr>
            </a:outerShdw>
          </a:effectLst>
        </p:spPr>
      </p:sp>
      <p:sp>
        <p:nvSpPr>
          <p:cNvPr id="10" name="Text 7"/>
          <p:cNvSpPr/>
          <p:nvPr/>
        </p:nvSpPr>
        <p:spPr>
          <a:xfrm>
            <a:off x="7772400" y="4023360"/>
            <a:ext cx="347472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Field target breaks it</a:t>
            </a:r>
            <a:endParaRPr lang="en-US" sz="1700" dirty="0"/>
          </a:p>
        </p:txBody>
      </p:sp>
      <p:sp>
        <p:nvSpPr>
          <p:cNvPr id="11" name="Text 8"/>
          <p:cNvSpPr/>
          <p:nvPr/>
        </p:nvSpPr>
        <p:spPr>
          <a:xfrm>
            <a:off x="7772400" y="4453128"/>
            <a:ext cx="3474720" cy="16002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SAME features with NFI supervision reach 63.7% (leak-free out-of-fold). The supervision TARGET was the ceiling — not the representation.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Result: held-out benchmark</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209 NFI plots, grouped-tile split, calibration on train-735 only</a:t>
            </a:r>
            <a:endParaRPr lang="en-US" sz="1400" dirty="0"/>
          </a:p>
        </p:txBody>
      </p:sp>
      <p:graphicFrame>
        <p:nvGraphicFramePr>
          <p:cNvPr id="5" name="Chart 0" descr=""/>
          <p:cNvGraphicFramePr/>
          <p:nvPr/>
        </p:nvGraphicFramePr>
        <p:xfrm>
          <a:off x="502920" y="169164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1783080"/>
            <a:ext cx="4023360" cy="457200"/>
          </a:xfrm>
          <a:prstGeom prst="rect">
            <a:avLst/>
          </a:prstGeom>
          <a:noFill/>
          <a:ln/>
        </p:spPr>
        <p:txBody>
          <a:bodyPr wrap="square" lIns="0" tIns="0" rIns="0" bIns="0" rtlCol="0" anchor="ctr"/>
          <a:lstStyle/>
          <a:p>
            <a:pPr indent="0" marL="0">
              <a:buNone/>
            </a:pPr>
            <a:r>
              <a:rPr lang="en-US" sz="2000" b="1" dirty="0">
                <a:solidFill>
                  <a:srgbClr val="CDFCE3"/>
                </a:solidFill>
                <a:latin typeface="Space Grotesk" pitchFamily="34" charset="0"/>
                <a:ea typeface="Space Grotesk" pitchFamily="34" charset="-122"/>
                <a:cs typeface="Space Grotesk" pitchFamily="34" charset="-120"/>
              </a:rPr>
              <a:t>Honest evaluation</a:t>
            </a:r>
            <a:endParaRPr lang="en-US" sz="2000" dirty="0"/>
          </a:p>
        </p:txBody>
      </p:sp>
      <p:sp>
        <p:nvSpPr>
          <p:cNvPr id="7" name="Shape 4"/>
          <p:cNvSpPr/>
          <p:nvPr/>
        </p:nvSpPr>
        <p:spPr>
          <a:xfrm>
            <a:off x="7498080" y="2487168"/>
            <a:ext cx="137160" cy="137160"/>
          </a:xfrm>
          <a:prstGeom prst="ellipse">
            <a:avLst/>
          </a:prstGeom>
          <a:solidFill>
            <a:srgbClr val="FF826C"/>
          </a:solidFill>
          <a:ln/>
        </p:spPr>
      </p:sp>
      <p:sp>
        <p:nvSpPr>
          <p:cNvPr id="8" name="Text 5"/>
          <p:cNvSpPr/>
          <p:nvPr/>
        </p:nvSpPr>
        <p:spPr>
          <a:xfrm>
            <a:off x="7772400" y="237744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Thresholds and head trained ONLY on the 735 train plots — the 209 are untouched.</a:t>
            </a:r>
            <a:endParaRPr lang="en-US" sz="1350" dirty="0"/>
          </a:p>
        </p:txBody>
      </p:sp>
      <p:sp>
        <p:nvSpPr>
          <p:cNvPr id="9" name="Shape 6"/>
          <p:cNvSpPr/>
          <p:nvPr/>
        </p:nvSpPr>
        <p:spPr>
          <a:xfrm>
            <a:off x="7498080" y="3721608"/>
            <a:ext cx="137160" cy="137160"/>
          </a:xfrm>
          <a:prstGeom prst="ellipse">
            <a:avLst/>
          </a:prstGeom>
          <a:solidFill>
            <a:srgbClr val="FF826C"/>
          </a:solidFill>
          <a:ln/>
        </p:spPr>
      </p:sp>
      <p:sp>
        <p:nvSpPr>
          <p:cNvPr id="10" name="Text 7"/>
          <p:cNvSpPr/>
          <p:nvPr/>
        </p:nvSpPr>
        <p:spPr>
          <a:xfrm>
            <a:off x="7772400" y="361188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Distilled model = full 28-class product; every class is functional (+7.2 pp over NMD2023).</a:t>
            </a:r>
            <a:endParaRPr lang="en-US" sz="1350" dirty="0"/>
          </a:p>
        </p:txBody>
      </p:sp>
      <p:sp>
        <p:nvSpPr>
          <p:cNvPr id="11" name="Shape 8"/>
          <p:cNvSpPr/>
          <p:nvPr/>
        </p:nvSpPr>
        <p:spPr>
          <a:xfrm>
            <a:off x="7498080" y="4956048"/>
            <a:ext cx="137160" cy="137160"/>
          </a:xfrm>
          <a:prstGeom prst="ellipse">
            <a:avLst/>
          </a:prstGeom>
          <a:solidFill>
            <a:srgbClr val="FF826C"/>
          </a:solidFill>
          <a:ln/>
        </p:spPr>
      </p:sp>
      <p:sp>
        <p:nvSpPr>
          <p:cNvPr id="12" name="Text 9"/>
          <p:cNvSpPr/>
          <p:nvPr/>
        </p:nvSpPr>
        <p:spPr>
          <a:xfrm>
            <a:off x="7772400" y="484632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fraction layer reaches 57.9% on forest type — pine F1 0.74. Cohen's kappa rises 0.298 → 0.420.</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Four generations, same landscape</a:t>
            </a:r>
            <a:endParaRPr lang="en-US" sz="3200" dirty="0"/>
          </a:p>
        </p:txBody>
      </p:sp>
      <p:sp>
        <p:nvSpPr>
          <p:cNvPr id="4" name="Text 2"/>
          <p:cNvSpPr/>
          <p:nvPr/>
        </p:nvSpPr>
        <p:spPr>
          <a:xfrm>
            <a:off x="822960" y="1115568"/>
            <a:ext cx="10515600" cy="365760"/>
          </a:xfrm>
          <a:prstGeom prst="rect">
            <a:avLst/>
          </a:prstGeom>
          <a:noFill/>
          <a:ln/>
        </p:spPr>
        <p:txBody>
          <a:bodyPr wrap="square" lIns="0" tIns="0" rIns="0" bIns="0" rtlCol="0" anchor="ctr"/>
          <a:lstStyle/>
          <a:p>
            <a:pPr algn="ctr" indent="0" marL="0">
              <a:buNone/>
            </a:pPr>
            <a:r>
              <a:rPr lang="en-US" sz="1250" dirty="0">
                <a:solidFill>
                  <a:srgbClr val="9DBDB0"/>
                </a:solidFill>
                <a:latin typeface="Space Grotesk" pitchFamily="34" charset="0"/>
                <a:ea typeface="Space Grotesk" pitchFamily="34" charset="-122"/>
                <a:cs typeface="Space Grotesk" pitchFamily="34" charset="-120"/>
              </a:rPr>
              <a:t>One 5×5 km tile, identical extent and unified palette (tile_331280_6541280): the 2018/2023 label sources and the models trained against each target.</a:t>
            </a:r>
            <a:endParaRPr lang="en-US" sz="1250" dirty="0"/>
          </a:p>
        </p:txBody>
      </p:sp>
      <p:pic>
        <p:nvPicPr>
          <p:cNvPr id="5" name="Image 0" descr="preencoded.png">    </p:cNvPr>
          <p:cNvPicPr>
            <a:picLocks noChangeAspect="1"/>
          </p:cNvPicPr>
          <p:nvPr/>
        </p:nvPicPr>
        <p:blipFill>
          <a:blip r:embed="rId1"/>
          <a:stretch>
            <a:fillRect/>
          </a:stretch>
        </p:blipFill>
        <p:spPr>
          <a:xfrm>
            <a:off x="585216" y="1737360"/>
            <a:ext cx="2651760" cy="2651760"/>
          </a:xfrm>
          <a:prstGeom prst="rect">
            <a:avLst/>
          </a:prstGeom>
        </p:spPr>
      </p:pic>
      <p:sp>
        <p:nvSpPr>
          <p:cNvPr id="6" name="Text 3"/>
          <p:cNvSpPr/>
          <p:nvPr/>
        </p:nvSpPr>
        <p:spPr>
          <a:xfrm>
            <a:off x="539496" y="4434840"/>
            <a:ext cx="2743200" cy="320040"/>
          </a:xfrm>
          <a:prstGeom prst="rect">
            <a:avLst/>
          </a:prstGeom>
          <a:noFill/>
          <a:ln/>
        </p:spPr>
        <p:txBody>
          <a:bodyPr wrap="square" lIns="0" tIns="0" rIns="0" bIns="0" rtlCol="0" anchor="ctr"/>
          <a:lstStyle/>
          <a:p>
            <a:pPr algn="ctr" indent="0" marL="0">
              <a:buNone/>
            </a:pPr>
            <a:r>
              <a:rPr lang="en-US" sz="1250" b="1" dirty="0">
                <a:solidFill>
                  <a:srgbClr val="9DBDB0"/>
                </a:solidFill>
                <a:latin typeface="Space Grotesk" pitchFamily="34" charset="0"/>
                <a:ea typeface="Space Grotesk" pitchFamily="34" charset="-122"/>
                <a:cs typeface="Space Grotesk" pitchFamily="34" charset="-120"/>
              </a:rPr>
              <a:t>NMD2018 label</a:t>
            </a:r>
            <a:endParaRPr lang="en-US" sz="1250" dirty="0"/>
          </a:p>
        </p:txBody>
      </p:sp>
      <p:pic>
        <p:nvPicPr>
          <p:cNvPr id="7" name="Image 1" descr="preencoded.png">    </p:cNvPr>
          <p:cNvPicPr>
            <a:picLocks noChangeAspect="1"/>
          </p:cNvPicPr>
          <p:nvPr/>
        </p:nvPicPr>
        <p:blipFill>
          <a:blip r:embed="rId2"/>
          <a:stretch>
            <a:fillRect/>
          </a:stretch>
        </p:blipFill>
        <p:spPr>
          <a:xfrm>
            <a:off x="3374136" y="1737360"/>
            <a:ext cx="2651760" cy="2651760"/>
          </a:xfrm>
          <a:prstGeom prst="rect">
            <a:avLst/>
          </a:prstGeom>
        </p:spPr>
      </p:pic>
      <p:sp>
        <p:nvSpPr>
          <p:cNvPr id="8" name="Text 4"/>
          <p:cNvSpPr/>
          <p:nvPr/>
        </p:nvSpPr>
        <p:spPr>
          <a:xfrm>
            <a:off x="3328416" y="4434840"/>
            <a:ext cx="2743200" cy="320040"/>
          </a:xfrm>
          <a:prstGeom prst="rect">
            <a:avLst/>
          </a:prstGeom>
          <a:noFill/>
          <a:ln/>
        </p:spPr>
        <p:txBody>
          <a:bodyPr wrap="square" lIns="0" tIns="0" rIns="0" bIns="0" rtlCol="0" anchor="ctr"/>
          <a:lstStyle/>
          <a:p>
            <a:pPr algn="ctr" indent="0" marL="0">
              <a:buNone/>
            </a:pPr>
            <a:r>
              <a:rPr lang="en-US" sz="1250" b="1" dirty="0">
                <a:solidFill>
                  <a:srgbClr val="FFFFFF"/>
                </a:solidFill>
                <a:latin typeface="Space Grotesk" pitchFamily="34" charset="0"/>
                <a:ea typeface="Space Grotesk" pitchFamily="34" charset="-122"/>
                <a:cs typeface="Space Grotesk" pitchFamily="34" charset="-120"/>
              </a:rPr>
              <a:t>v8b (trained on 2018)</a:t>
            </a:r>
            <a:endParaRPr lang="en-US" sz="1250" dirty="0"/>
          </a:p>
        </p:txBody>
      </p:sp>
      <p:pic>
        <p:nvPicPr>
          <p:cNvPr id="9" name="Image 2" descr="preencoded.png">    </p:cNvPr>
          <p:cNvPicPr>
            <a:picLocks noChangeAspect="1"/>
          </p:cNvPicPr>
          <p:nvPr/>
        </p:nvPicPr>
        <p:blipFill>
          <a:blip r:embed="rId3"/>
          <a:stretch>
            <a:fillRect/>
          </a:stretch>
        </p:blipFill>
        <p:spPr>
          <a:xfrm>
            <a:off x="6163056" y="1737360"/>
            <a:ext cx="2651760" cy="2651760"/>
          </a:xfrm>
          <a:prstGeom prst="rect">
            <a:avLst/>
          </a:prstGeom>
        </p:spPr>
      </p:pic>
      <p:sp>
        <p:nvSpPr>
          <p:cNvPr id="10" name="Text 5"/>
          <p:cNvSpPr/>
          <p:nvPr/>
        </p:nvSpPr>
        <p:spPr>
          <a:xfrm>
            <a:off x="6117336" y="4434840"/>
            <a:ext cx="2743200" cy="320040"/>
          </a:xfrm>
          <a:prstGeom prst="rect">
            <a:avLst/>
          </a:prstGeom>
          <a:noFill/>
          <a:ln/>
        </p:spPr>
        <p:txBody>
          <a:bodyPr wrap="square" lIns="0" tIns="0" rIns="0" bIns="0" rtlCol="0" anchor="ctr"/>
          <a:lstStyle/>
          <a:p>
            <a:pPr algn="ctr" indent="0" marL="0">
              <a:buNone/>
            </a:pPr>
            <a:r>
              <a:rPr lang="en-US" sz="1250" b="1" dirty="0">
                <a:solidFill>
                  <a:srgbClr val="CDFCE3"/>
                </a:solidFill>
                <a:latin typeface="Space Grotesk" pitchFamily="34" charset="0"/>
                <a:ea typeface="Space Grotesk" pitchFamily="34" charset="-122"/>
                <a:cs typeface="Space Grotesk" pitchFamily="34" charset="-120"/>
              </a:rPr>
              <a:t>NMD2023 label</a:t>
            </a:r>
            <a:endParaRPr lang="en-US" sz="1250" dirty="0"/>
          </a:p>
        </p:txBody>
      </p:sp>
      <p:pic>
        <p:nvPicPr>
          <p:cNvPr id="11" name="Image 3" descr="preencoded.png">    </p:cNvPr>
          <p:cNvPicPr>
            <a:picLocks noChangeAspect="1"/>
          </p:cNvPicPr>
          <p:nvPr/>
        </p:nvPicPr>
        <p:blipFill>
          <a:blip r:embed="rId4"/>
          <a:stretch>
            <a:fillRect/>
          </a:stretch>
        </p:blipFill>
        <p:spPr>
          <a:xfrm>
            <a:off x="8951976" y="1737360"/>
            <a:ext cx="2651760" cy="2651760"/>
          </a:xfrm>
          <a:prstGeom prst="rect">
            <a:avLst/>
          </a:prstGeom>
        </p:spPr>
      </p:pic>
      <p:sp>
        <p:nvSpPr>
          <p:cNvPr id="12" name="Text 6"/>
          <p:cNvSpPr/>
          <p:nvPr/>
        </p:nvSpPr>
        <p:spPr>
          <a:xfrm>
            <a:off x="8906256" y="4434840"/>
            <a:ext cx="2743200" cy="320040"/>
          </a:xfrm>
          <a:prstGeom prst="rect">
            <a:avLst/>
          </a:prstGeom>
          <a:noFill/>
          <a:ln/>
        </p:spPr>
        <p:txBody>
          <a:bodyPr wrap="square" lIns="0" tIns="0" rIns="0" bIns="0" rtlCol="0" anchor="ctr"/>
          <a:lstStyle/>
          <a:p>
            <a:pPr algn="ctr" indent="0" marL="0">
              <a:buNone/>
            </a:pPr>
            <a:r>
              <a:rPr lang="en-US" sz="1250" b="1" dirty="0">
                <a:solidFill>
                  <a:srgbClr val="FF826C"/>
                </a:solidFill>
                <a:latin typeface="Space Grotesk" pitchFamily="34" charset="0"/>
                <a:ea typeface="Space Grotesk" pitchFamily="34" charset="-122"/>
                <a:cs typeface="Space Grotesk" pitchFamily="34" charset="-120"/>
              </a:rPr>
              <a:t>v8b-NFI (distilled)</a:t>
            </a:r>
            <a:endParaRPr lang="en-US" sz="1250" dirty="0"/>
          </a:p>
        </p:txBody>
      </p:sp>
      <p:sp>
        <p:nvSpPr>
          <p:cNvPr id="13" name="Shape 7"/>
          <p:cNvSpPr/>
          <p:nvPr/>
        </p:nvSpPr>
        <p:spPr>
          <a:xfrm>
            <a:off x="822960" y="5093208"/>
            <a:ext cx="182880" cy="182880"/>
          </a:xfrm>
          <a:prstGeom prst="rect">
            <a:avLst/>
          </a:prstGeom>
          <a:solidFill>
            <a:srgbClr val="006400"/>
          </a:solidFill>
          <a:ln/>
        </p:spPr>
      </p:sp>
      <p:sp>
        <p:nvSpPr>
          <p:cNvPr id="14" name="Text 8"/>
          <p:cNvSpPr/>
          <p:nvPr/>
        </p:nvSpPr>
        <p:spPr>
          <a:xfrm>
            <a:off x="10972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Pine</a:t>
            </a:r>
            <a:endParaRPr lang="en-US" sz="1150" dirty="0"/>
          </a:p>
        </p:txBody>
      </p:sp>
      <p:sp>
        <p:nvSpPr>
          <p:cNvPr id="15" name="Shape 9"/>
          <p:cNvSpPr/>
          <p:nvPr/>
        </p:nvSpPr>
        <p:spPr>
          <a:xfrm>
            <a:off x="3566160" y="5093208"/>
            <a:ext cx="182880" cy="182880"/>
          </a:xfrm>
          <a:prstGeom prst="rect">
            <a:avLst/>
          </a:prstGeom>
          <a:solidFill>
            <a:srgbClr val="228B22"/>
          </a:solidFill>
          <a:ln/>
        </p:spPr>
      </p:sp>
      <p:sp>
        <p:nvSpPr>
          <p:cNvPr id="16" name="Text 10"/>
          <p:cNvSpPr/>
          <p:nvPr/>
        </p:nvSpPr>
        <p:spPr>
          <a:xfrm>
            <a:off x="38404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Spruce</a:t>
            </a:r>
            <a:endParaRPr lang="en-US" sz="1150" dirty="0"/>
          </a:p>
        </p:txBody>
      </p:sp>
      <p:sp>
        <p:nvSpPr>
          <p:cNvPr id="17" name="Shape 11"/>
          <p:cNvSpPr/>
          <p:nvPr/>
        </p:nvSpPr>
        <p:spPr>
          <a:xfrm>
            <a:off x="6309360" y="5093208"/>
            <a:ext cx="182880" cy="182880"/>
          </a:xfrm>
          <a:prstGeom prst="rect">
            <a:avLst/>
          </a:prstGeom>
          <a:solidFill>
            <a:srgbClr val="32CD32"/>
          </a:solidFill>
          <a:ln/>
        </p:spPr>
      </p:sp>
      <p:sp>
        <p:nvSpPr>
          <p:cNvPr id="18" name="Text 12"/>
          <p:cNvSpPr/>
          <p:nvPr/>
        </p:nvSpPr>
        <p:spPr>
          <a:xfrm>
            <a:off x="65836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Deciduous</a:t>
            </a:r>
            <a:endParaRPr lang="en-US" sz="1150" dirty="0"/>
          </a:p>
        </p:txBody>
      </p:sp>
      <p:sp>
        <p:nvSpPr>
          <p:cNvPr id="19" name="Shape 13"/>
          <p:cNvSpPr/>
          <p:nvPr/>
        </p:nvSpPr>
        <p:spPr>
          <a:xfrm>
            <a:off x="9052560" y="5093208"/>
            <a:ext cx="182880" cy="182880"/>
          </a:xfrm>
          <a:prstGeom prst="rect">
            <a:avLst/>
          </a:prstGeom>
          <a:solidFill>
            <a:srgbClr val="3CB371"/>
          </a:solidFill>
          <a:ln/>
        </p:spPr>
      </p:sp>
      <p:sp>
        <p:nvSpPr>
          <p:cNvPr id="20" name="Text 14"/>
          <p:cNvSpPr/>
          <p:nvPr/>
        </p:nvSpPr>
        <p:spPr>
          <a:xfrm>
            <a:off x="93268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Mixed</a:t>
            </a:r>
            <a:endParaRPr lang="en-US" sz="1150" dirty="0"/>
          </a:p>
        </p:txBody>
      </p:sp>
      <p:sp>
        <p:nvSpPr>
          <p:cNvPr id="21" name="Shape 15"/>
          <p:cNvSpPr/>
          <p:nvPr/>
        </p:nvSpPr>
        <p:spPr>
          <a:xfrm>
            <a:off x="822960" y="5404104"/>
            <a:ext cx="182880" cy="182880"/>
          </a:xfrm>
          <a:prstGeom prst="rect">
            <a:avLst/>
          </a:prstGeom>
          <a:solidFill>
            <a:srgbClr val="2E4F2E"/>
          </a:solidFill>
          <a:ln/>
        </p:spPr>
      </p:sp>
      <p:sp>
        <p:nvSpPr>
          <p:cNvPr id="22" name="Text 16"/>
          <p:cNvSpPr/>
          <p:nvPr/>
        </p:nvSpPr>
        <p:spPr>
          <a:xfrm>
            <a:off x="10972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Swamp forest</a:t>
            </a:r>
            <a:endParaRPr lang="en-US" sz="1150" dirty="0"/>
          </a:p>
        </p:txBody>
      </p:sp>
      <p:sp>
        <p:nvSpPr>
          <p:cNvPr id="23" name="Shape 17"/>
          <p:cNvSpPr/>
          <p:nvPr/>
        </p:nvSpPr>
        <p:spPr>
          <a:xfrm>
            <a:off x="3566160" y="5404104"/>
            <a:ext cx="182880" cy="182880"/>
          </a:xfrm>
          <a:prstGeom prst="rect">
            <a:avLst/>
          </a:prstGeom>
          <a:solidFill>
            <a:srgbClr val="00CED1"/>
          </a:solidFill>
          <a:ln/>
        </p:spPr>
      </p:sp>
      <p:sp>
        <p:nvSpPr>
          <p:cNvPr id="24" name="Text 18"/>
          <p:cNvSpPr/>
          <p:nvPr/>
        </p:nvSpPr>
        <p:spPr>
          <a:xfrm>
            <a:off x="38404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Clear-cut</a:t>
            </a:r>
            <a:endParaRPr lang="en-US" sz="1150" dirty="0"/>
          </a:p>
        </p:txBody>
      </p:sp>
      <p:sp>
        <p:nvSpPr>
          <p:cNvPr id="25" name="Shape 19"/>
          <p:cNvSpPr/>
          <p:nvPr/>
        </p:nvSpPr>
        <p:spPr>
          <a:xfrm>
            <a:off x="6309360" y="5404104"/>
            <a:ext cx="182880" cy="182880"/>
          </a:xfrm>
          <a:prstGeom prst="rect">
            <a:avLst/>
          </a:prstGeom>
          <a:solidFill>
            <a:srgbClr val="D2B48C"/>
          </a:solidFill>
          <a:ln/>
        </p:spPr>
      </p:sp>
      <p:sp>
        <p:nvSpPr>
          <p:cNvPr id="26" name="Text 20"/>
          <p:cNvSpPr/>
          <p:nvPr/>
        </p:nvSpPr>
        <p:spPr>
          <a:xfrm>
            <a:off x="65836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Open land</a:t>
            </a:r>
            <a:endParaRPr lang="en-US" sz="1150" dirty="0"/>
          </a:p>
        </p:txBody>
      </p:sp>
      <p:sp>
        <p:nvSpPr>
          <p:cNvPr id="27" name="Shape 21"/>
          <p:cNvSpPr/>
          <p:nvPr/>
        </p:nvSpPr>
        <p:spPr>
          <a:xfrm>
            <a:off x="9052560" y="5404104"/>
            <a:ext cx="182880" cy="182880"/>
          </a:xfrm>
          <a:prstGeom prst="rect">
            <a:avLst/>
          </a:prstGeom>
          <a:solidFill>
            <a:srgbClr val="0000FF"/>
          </a:solidFill>
          <a:ln/>
        </p:spPr>
      </p:sp>
      <p:sp>
        <p:nvSpPr>
          <p:cNvPr id="28" name="Text 22"/>
          <p:cNvSpPr/>
          <p:nvPr/>
        </p:nvSpPr>
        <p:spPr>
          <a:xfrm>
            <a:off x="93268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Water</a:t>
            </a:r>
            <a:endParaRPr lang="en-US" sz="1150" dirty="0"/>
          </a:p>
        </p:txBody>
      </p:sp>
      <p:sp>
        <p:nvSpPr>
          <p:cNvPr id="29" name="Shape 23"/>
          <p:cNvSpPr/>
          <p:nvPr/>
        </p:nvSpPr>
        <p:spPr>
          <a:xfrm>
            <a:off x="822960" y="5715000"/>
            <a:ext cx="182880" cy="182880"/>
          </a:xfrm>
          <a:prstGeom prst="rect">
            <a:avLst/>
          </a:prstGeom>
          <a:solidFill>
            <a:srgbClr val="FF0000"/>
          </a:solidFill>
          <a:ln/>
        </p:spPr>
      </p:sp>
      <p:sp>
        <p:nvSpPr>
          <p:cNvPr id="30" name="Text 24"/>
          <p:cNvSpPr/>
          <p:nvPr/>
        </p:nvSpPr>
        <p:spPr>
          <a:xfrm>
            <a:off x="10972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Built-up</a:t>
            </a:r>
            <a:endParaRPr lang="en-US" sz="1150" dirty="0"/>
          </a:p>
        </p:txBody>
      </p:sp>
      <p:sp>
        <p:nvSpPr>
          <p:cNvPr id="31" name="Shape 25"/>
          <p:cNvSpPr/>
          <p:nvPr/>
        </p:nvSpPr>
        <p:spPr>
          <a:xfrm>
            <a:off x="3566160" y="5715000"/>
            <a:ext cx="182880" cy="182880"/>
          </a:xfrm>
          <a:prstGeom prst="rect">
            <a:avLst/>
          </a:prstGeom>
          <a:solidFill>
            <a:srgbClr val="FFD27E"/>
          </a:solidFill>
          <a:ln/>
        </p:spPr>
      </p:sp>
      <p:sp>
        <p:nvSpPr>
          <p:cNvPr id="32" name="Text 26"/>
          <p:cNvSpPr/>
          <p:nvPr/>
        </p:nvSpPr>
        <p:spPr>
          <a:xfrm>
            <a:off x="38404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Grass-dom.</a:t>
            </a:r>
            <a:endParaRPr lang="en-US" sz="1150" dirty="0"/>
          </a:p>
        </p:txBody>
      </p:sp>
      <p:sp>
        <p:nvSpPr>
          <p:cNvPr id="33" name="Shape 27"/>
          <p:cNvSpPr/>
          <p:nvPr/>
        </p:nvSpPr>
        <p:spPr>
          <a:xfrm>
            <a:off x="6309360" y="5715000"/>
            <a:ext cx="182880" cy="182880"/>
          </a:xfrm>
          <a:prstGeom prst="rect">
            <a:avLst/>
          </a:prstGeom>
          <a:solidFill>
            <a:srgbClr val="CDAA66"/>
          </a:solidFill>
          <a:ln/>
        </p:spPr>
      </p:sp>
      <p:sp>
        <p:nvSpPr>
          <p:cNvPr id="34" name="Text 28"/>
          <p:cNvSpPr/>
          <p:nvPr/>
        </p:nvSpPr>
        <p:spPr>
          <a:xfrm>
            <a:off x="65836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Dwarf-shrub</a:t>
            </a:r>
            <a:endParaRPr lang="en-US" sz="1150" dirty="0"/>
          </a:p>
        </p:txBody>
      </p:sp>
      <p:sp>
        <p:nvSpPr>
          <p:cNvPr id="35" name="Shape 29"/>
          <p:cNvSpPr/>
          <p:nvPr/>
        </p:nvSpPr>
        <p:spPr>
          <a:xfrm>
            <a:off x="9052560" y="5715000"/>
            <a:ext cx="182880" cy="182880"/>
          </a:xfrm>
          <a:prstGeom prst="rect">
            <a:avLst/>
          </a:prstGeom>
          <a:solidFill>
            <a:srgbClr val="ABC8A6"/>
          </a:solidFill>
          <a:ln/>
        </p:spPr>
      </p:sp>
      <p:sp>
        <p:nvSpPr>
          <p:cNvPr id="36" name="Text 30"/>
          <p:cNvSpPr/>
          <p:nvPr/>
        </p:nvSpPr>
        <p:spPr>
          <a:xfrm>
            <a:off x="93268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Shrub-dom.</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Per-class F1 on the held-out plots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Three sources on the exact same 209 field plots</a:t>
            </a:r>
            <a:endParaRPr lang="en-US" sz="1400" dirty="0"/>
          </a:p>
        </p:txBody>
      </p:sp>
      <p:sp>
        <p:nvSpPr>
          <p:cNvPr id="5" name="Shape 3"/>
          <p:cNvSpPr/>
          <p:nvPr/>
        </p:nvSpPr>
        <p:spPr>
          <a:xfrm>
            <a:off x="731520" y="1737360"/>
            <a:ext cx="5349240" cy="914400"/>
          </a:xfrm>
          <a:prstGeom prst="roundRect">
            <a:avLst>
              <a:gd name="adj" fmla="val 8000"/>
            </a:avLst>
          </a:prstGeom>
          <a:solidFill>
            <a:srgbClr val="145043"/>
          </a:solidFill>
          <a:ln/>
        </p:spPr>
      </p:sp>
      <p:sp>
        <p:nvSpPr>
          <p:cNvPr id="6" name="Text 4"/>
          <p:cNvSpPr/>
          <p:nvPr/>
        </p:nvSpPr>
        <p:spPr>
          <a:xfrm>
            <a:off x="960120" y="1810512"/>
            <a:ext cx="4937760" cy="320040"/>
          </a:xfrm>
          <a:prstGeom prst="rect">
            <a:avLst/>
          </a:prstGeom>
          <a:noFill/>
          <a:ln/>
        </p:spPr>
        <p:txBody>
          <a:bodyPr wrap="square" lIns="0" tIns="0" rIns="0" bIns="0" rtlCol="0" anchor="ctr"/>
          <a:lstStyle/>
          <a:p>
            <a:pPr indent="0" marL="0">
              <a:buNone/>
            </a:pPr>
            <a:r>
              <a:rPr lang="en-US" sz="1300" b="1" dirty="0">
                <a:solidFill>
                  <a:srgbClr val="CDFCE3"/>
                </a:solidFill>
                <a:latin typeface="Space Grotesk" pitchFamily="34" charset="0"/>
                <a:ea typeface="Space Grotesk" pitchFamily="34" charset="-122"/>
                <a:cs typeface="Space Grotesk" pitchFamily="34" charset="-120"/>
              </a:rPr>
              <a:t>Overall accuracy</a:t>
            </a:r>
            <a:endParaRPr lang="en-US" sz="1300" dirty="0"/>
          </a:p>
        </p:txBody>
      </p:sp>
      <p:sp>
        <p:nvSpPr>
          <p:cNvPr id="7" name="Text 5"/>
          <p:cNvSpPr/>
          <p:nvPr/>
        </p:nvSpPr>
        <p:spPr>
          <a:xfrm>
            <a:off x="960120" y="2130552"/>
            <a:ext cx="5029200" cy="457200"/>
          </a:xfrm>
          <a:prstGeom prst="rect">
            <a:avLst/>
          </a:prstGeom>
          <a:noFill/>
          <a:ln/>
        </p:spPr>
        <p:txBody>
          <a:bodyPr wrap="square" lIns="0" tIns="0" rIns="0" bIns="0" rtlCol="0" anchor="ctr"/>
          <a:lstStyle/>
          <a:p>
            <a:pPr indent="0" marL="0">
              <a:buNone/>
            </a:pPr>
            <a:r>
              <a:rPr lang="en-US" sz="1200" dirty="0">
                <a:solidFill>
                  <a:srgbClr val="9DBDB0"/>
                </a:solidFill>
                <a:latin typeface="Space Grotesk" pitchFamily="34" charset="0"/>
                <a:ea typeface="Space Grotesk" pitchFamily="34" charset="-122"/>
                <a:cs typeface="Space Grotesk" pitchFamily="34" charset="-120"/>
              </a:rPr>
              <a:t>NMD2023 </a:t>
            </a:r>
            <a:pPr indent="0" marL="0">
              <a:buNone/>
            </a:pPr>
            <a:r>
              <a:rPr lang="en-US" sz="1800" b="1" dirty="0">
                <a:solidFill>
                  <a:srgbClr val="FFFFFF"/>
                </a:solidFill>
                <a:latin typeface="Space Grotesk" pitchFamily="34" charset="0"/>
                <a:ea typeface="Space Grotesk" pitchFamily="34" charset="-122"/>
                <a:cs typeface="Space Grotesk" pitchFamily="34" charset="-120"/>
              </a:rPr>
              <a:t>43.1%</a:t>
            </a:r>
            <a:pPr indent="0" marL="0">
              <a:buNone/>
            </a:pPr>
            <a:r>
              <a:rPr lang="en-US" sz="1200" dirty="0">
                <a:solidFill>
                  <a:srgbClr val="9DBDB0"/>
                </a:solidFill>
                <a:latin typeface="Space Grotesk" pitchFamily="34" charset="0"/>
                <a:ea typeface="Space Grotesk" pitchFamily="34" charset="-122"/>
                <a:cs typeface="Space Grotesk" pitchFamily="34" charset="-120"/>
              </a:rPr>
              <a:t>   Distilled </a:t>
            </a:r>
            <a:pPr indent="0" marL="0">
              <a:buNone/>
            </a:pPr>
            <a:r>
              <a:rPr lang="en-US" sz="1800" b="1" dirty="0">
                <a:solidFill>
                  <a:srgbClr val="FF826C"/>
                </a:solidFill>
                <a:latin typeface="Space Grotesk" pitchFamily="34" charset="0"/>
                <a:ea typeface="Space Grotesk" pitchFamily="34" charset="-122"/>
                <a:cs typeface="Space Grotesk" pitchFamily="34" charset="-120"/>
              </a:rPr>
              <a:t>50.2%</a:t>
            </a:r>
            <a:pPr indent="0" marL="0">
              <a:buNone/>
            </a:pPr>
            <a:r>
              <a:rPr lang="en-US" sz="1200" dirty="0">
                <a:solidFill>
                  <a:srgbClr val="9DBDB0"/>
                </a:solidFill>
                <a:latin typeface="Space Grotesk" pitchFamily="34" charset="0"/>
                <a:ea typeface="Space Grotesk" pitchFamily="34" charset="-122"/>
                <a:cs typeface="Space Grotesk" pitchFamily="34" charset="-120"/>
              </a:rPr>
              <a:t>   Fractions </a:t>
            </a:r>
            <a:pPr indent="0" marL="0">
              <a:buNone/>
            </a:pPr>
            <a:r>
              <a:rPr lang="en-US" sz="1800" b="1" dirty="0">
                <a:solidFill>
                  <a:srgbClr val="CDFCE3"/>
                </a:solidFill>
                <a:latin typeface="Space Grotesk" pitchFamily="34" charset="0"/>
                <a:ea typeface="Space Grotesk" pitchFamily="34" charset="-122"/>
                <a:cs typeface="Space Grotesk" pitchFamily="34" charset="-120"/>
              </a:rPr>
              <a:t>57.9%</a:t>
            </a:r>
            <a:endParaRPr lang="en-US" sz="1200" dirty="0"/>
          </a:p>
        </p:txBody>
      </p:sp>
      <p:sp>
        <p:nvSpPr>
          <p:cNvPr id="8" name="Shape 6"/>
          <p:cNvSpPr/>
          <p:nvPr/>
        </p:nvSpPr>
        <p:spPr>
          <a:xfrm>
            <a:off x="6263640" y="1737360"/>
            <a:ext cx="5349240" cy="914400"/>
          </a:xfrm>
          <a:prstGeom prst="roundRect">
            <a:avLst>
              <a:gd name="adj" fmla="val 8000"/>
            </a:avLst>
          </a:prstGeom>
          <a:solidFill>
            <a:srgbClr val="145043"/>
          </a:solidFill>
          <a:ln/>
        </p:spPr>
      </p:sp>
      <p:sp>
        <p:nvSpPr>
          <p:cNvPr id="9" name="Text 7"/>
          <p:cNvSpPr/>
          <p:nvPr/>
        </p:nvSpPr>
        <p:spPr>
          <a:xfrm>
            <a:off x="6492240" y="1810512"/>
            <a:ext cx="4937760" cy="320040"/>
          </a:xfrm>
          <a:prstGeom prst="rect">
            <a:avLst/>
          </a:prstGeom>
          <a:noFill/>
          <a:ln/>
        </p:spPr>
        <p:txBody>
          <a:bodyPr wrap="square" lIns="0" tIns="0" rIns="0" bIns="0" rtlCol="0" anchor="ctr"/>
          <a:lstStyle/>
          <a:p>
            <a:pPr indent="0" marL="0">
              <a:buNone/>
            </a:pPr>
            <a:r>
              <a:rPr lang="en-US" sz="1300" b="1" dirty="0">
                <a:solidFill>
                  <a:srgbClr val="CDFCE3"/>
                </a:solidFill>
                <a:latin typeface="Space Grotesk" pitchFamily="34" charset="0"/>
                <a:ea typeface="Space Grotesk" pitchFamily="34" charset="-122"/>
                <a:cs typeface="Space Grotesk" pitchFamily="34" charset="-120"/>
              </a:rPr>
              <a:t>Cohen's kappa</a:t>
            </a:r>
            <a:endParaRPr lang="en-US" sz="1300" dirty="0"/>
          </a:p>
        </p:txBody>
      </p:sp>
      <p:sp>
        <p:nvSpPr>
          <p:cNvPr id="10" name="Text 8"/>
          <p:cNvSpPr/>
          <p:nvPr/>
        </p:nvSpPr>
        <p:spPr>
          <a:xfrm>
            <a:off x="6492240" y="2130552"/>
            <a:ext cx="5029200" cy="457200"/>
          </a:xfrm>
          <a:prstGeom prst="rect">
            <a:avLst/>
          </a:prstGeom>
          <a:noFill/>
          <a:ln/>
        </p:spPr>
        <p:txBody>
          <a:bodyPr wrap="square" lIns="0" tIns="0" rIns="0" bIns="0" rtlCol="0" anchor="ctr"/>
          <a:lstStyle/>
          <a:p>
            <a:pPr indent="0" marL="0">
              <a:buNone/>
            </a:pPr>
            <a:r>
              <a:rPr lang="en-US" sz="1200" dirty="0">
                <a:solidFill>
                  <a:srgbClr val="9DBDB0"/>
                </a:solidFill>
                <a:latin typeface="Space Grotesk" pitchFamily="34" charset="0"/>
                <a:ea typeface="Space Grotesk" pitchFamily="34" charset="-122"/>
                <a:cs typeface="Space Grotesk" pitchFamily="34" charset="-120"/>
              </a:rPr>
              <a:t>NMD2023 </a:t>
            </a:r>
            <a:pPr indent="0" marL="0">
              <a:buNone/>
            </a:pPr>
            <a:r>
              <a:rPr lang="en-US" sz="1800" b="1" dirty="0">
                <a:solidFill>
                  <a:srgbClr val="FFFFFF"/>
                </a:solidFill>
                <a:latin typeface="Space Grotesk" pitchFamily="34" charset="0"/>
                <a:ea typeface="Space Grotesk" pitchFamily="34" charset="-122"/>
                <a:cs typeface="Space Grotesk" pitchFamily="34" charset="-120"/>
              </a:rPr>
              <a:t>0.298</a:t>
            </a:r>
            <a:pPr indent="0" marL="0">
              <a:buNone/>
            </a:pPr>
            <a:r>
              <a:rPr lang="en-US" sz="1200" dirty="0">
                <a:solidFill>
                  <a:srgbClr val="9DBDB0"/>
                </a:solidFill>
                <a:latin typeface="Space Grotesk" pitchFamily="34" charset="0"/>
                <a:ea typeface="Space Grotesk" pitchFamily="34" charset="-122"/>
                <a:cs typeface="Space Grotesk" pitchFamily="34" charset="-120"/>
              </a:rPr>
              <a:t>   Distilled </a:t>
            </a:r>
            <a:pPr indent="0" marL="0">
              <a:buNone/>
            </a:pPr>
            <a:r>
              <a:rPr lang="en-US" sz="1800" b="1" dirty="0">
                <a:solidFill>
                  <a:srgbClr val="FF826C"/>
                </a:solidFill>
                <a:latin typeface="Space Grotesk" pitchFamily="34" charset="0"/>
                <a:ea typeface="Space Grotesk" pitchFamily="34" charset="-122"/>
                <a:cs typeface="Space Grotesk" pitchFamily="34" charset="-120"/>
              </a:rPr>
              <a:t>0.371</a:t>
            </a:r>
            <a:pPr indent="0" marL="0">
              <a:buNone/>
            </a:pPr>
            <a:r>
              <a:rPr lang="en-US" sz="1200" dirty="0">
                <a:solidFill>
                  <a:srgbClr val="9DBDB0"/>
                </a:solidFill>
                <a:latin typeface="Space Grotesk" pitchFamily="34" charset="0"/>
                <a:ea typeface="Space Grotesk" pitchFamily="34" charset="-122"/>
                <a:cs typeface="Space Grotesk" pitchFamily="34" charset="-120"/>
              </a:rPr>
              <a:t>   Fractions </a:t>
            </a:r>
            <a:pPr indent="0" marL="0">
              <a:buNone/>
            </a:pPr>
            <a:r>
              <a:rPr lang="en-US" sz="1800" b="1" dirty="0">
                <a:solidFill>
                  <a:srgbClr val="CDFCE3"/>
                </a:solidFill>
                <a:latin typeface="Space Grotesk" pitchFamily="34" charset="0"/>
                <a:ea typeface="Space Grotesk" pitchFamily="34" charset="-122"/>
                <a:cs typeface="Space Grotesk" pitchFamily="34" charset="-120"/>
              </a:rPr>
              <a:t>0.420</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31520" y="2880360"/>
          <a:ext cx="10744200" cy="914400"/>
        </p:xfrm>
        <a:graphic>
          <a:graphicData uri="http://schemas.openxmlformats.org/drawingml/2006/table">
            <a:tbl>
              <a:tblPr/>
              <a:tblGrid>
                <a:gridCol w="2651760"/>
                <a:gridCol w="2697480"/>
                <a:gridCol w="2697480"/>
                <a:gridCol w="2697480"/>
              </a:tblGrid>
              <a:tr h="512064">
                <a:tc>
                  <a:txBody>
                    <a:bodyPr/>
                    <a:lstStyle/>
                    <a:p>
                      <a:pPr algn="l" indent="0" marL="0">
                        <a:buNone/>
                      </a:pPr>
                      <a:r>
                        <a:rPr lang="en-US" sz="1300" b="1" dirty="0">
                          <a:solidFill>
                            <a:srgbClr val="FFFFFF"/>
                          </a:solidFill>
                          <a:latin typeface="Space Grotesk" pitchFamily="34" charset="0"/>
                          <a:ea typeface="Space Grotesk" pitchFamily="34" charset="-122"/>
                          <a:cs typeface="Space Grotesk" pitchFamily="34" charset="-120"/>
                        </a:rPr>
                        <a:t>Class</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NMD2023</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FF826C"/>
                          </a:solidFill>
                          <a:latin typeface="Space Grotesk" pitchFamily="34" charset="0"/>
                          <a:ea typeface="Space Grotesk" pitchFamily="34" charset="-122"/>
                          <a:cs typeface="Space Grotesk" pitchFamily="34" charset="-120"/>
                        </a:rPr>
                        <a:t>Distilled</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CDFCE3"/>
                          </a:solidFill>
                          <a:latin typeface="Space Grotesk" pitchFamily="34" charset="0"/>
                          <a:ea typeface="Space Grotesk" pitchFamily="34" charset="-122"/>
                          <a:cs typeface="Space Grotesk" pitchFamily="34" charset="-120"/>
                        </a:rPr>
                        <a:t>Fractions</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Pine</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0.61</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0.74</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Spruce</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0.56</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0.63</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0.55</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Deciduous</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0.30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0.43</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0.59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Mixed</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0.28</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0.30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Non-forest</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0.24</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0.32</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0.00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r>
            </a:tbl>
          </a:graphicData>
        </a:graphic>
      </p:graphicFrame>
      <p:sp>
        <p:nvSpPr>
          <p:cNvPr id="12" name="Text 9"/>
          <p:cNvSpPr/>
          <p:nvPr/>
        </p:nvSpPr>
        <p:spPr>
          <a:xfrm>
            <a:off x="731520" y="6080760"/>
            <a:ext cx="10744200" cy="548640"/>
          </a:xfrm>
          <a:prstGeom prst="rect">
            <a:avLst/>
          </a:prstGeom>
          <a:noFill/>
          <a:ln/>
        </p:spPr>
        <p:txBody>
          <a:bodyPr wrap="square" lIns="0" tIns="0" rIns="0" bIns="0" rtlCol="0" anchor="ctr"/>
          <a:lstStyle/>
          <a:p>
            <a:pPr indent="0" marL="0">
              <a:lnSpc>
                <a:spcPct val="110000"/>
              </a:lnSpc>
              <a:buNone/>
            </a:pPr>
            <a:r>
              <a:rPr lang="en-US" sz="1200" i="1" dirty="0">
                <a:solidFill>
                  <a:srgbClr val="9DBDB0"/>
                </a:solidFill>
                <a:latin typeface="Space Grotesk" pitchFamily="34" charset="0"/>
                <a:ea typeface="Space Grotesk" pitchFamily="34" charset="-122"/>
                <a:cs typeface="Space Grotesk" pitchFamily="34" charset="-120"/>
              </a:rPr>
              <a:t>Green = best F1 per row. Distilled wins spruce and non-forest; the fraction layer wins pine and deciduous. The fraction path cannot predict non-forest (0.00) — in production a hard mask decides forest/non-forest, fractions decide type.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Does combining models help?</a:t>
            </a:r>
            <a:endParaRPr lang="en-US" sz="3200" dirty="0"/>
          </a:p>
        </p:txBody>
      </p:sp>
      <p:sp>
        <p:nvSpPr>
          <p:cNvPr id="4" name="Text 2"/>
          <p:cNvSpPr/>
          <p:nvPr/>
        </p:nvSpPr>
        <p:spPr>
          <a:xfrm>
            <a:off x="822960" y="1170432"/>
            <a:ext cx="10515600" cy="365760"/>
          </a:xfrm>
          <a:prstGeom prst="rect">
            <a:avLst/>
          </a:prstGeom>
          <a:noFill/>
          <a:ln/>
        </p:spPr>
        <p:txBody>
          <a:bodyPr wrap="square" lIns="0" tIns="0" rIns="0" bIns="0" rtlCol="0" anchor="ctr"/>
          <a:lstStyle/>
          <a:p>
            <a:pPr algn="ctr" indent="0" marL="0">
              <a:buNone/>
            </a:pPr>
            <a:r>
              <a:rPr lang="en-US" sz="1400" dirty="0">
                <a:solidFill>
                  <a:srgbClr val="CDFCE3"/>
                </a:solidFill>
                <a:latin typeface="Space Grotesk" pitchFamily="34" charset="0"/>
                <a:ea typeface="Space Grotesk" pitchFamily="34" charset="-122"/>
                <a:cs typeface="Space Grotesk" pitchFamily="34" charset="-120"/>
              </a:rPr>
              <a:t>Ensemble of 6 members, evaluated on the 209 held-out plots</a:t>
            </a:r>
            <a:endParaRPr lang="en-US" sz="1400" dirty="0"/>
          </a:p>
        </p:txBody>
      </p:sp>
      <p:sp>
        <p:nvSpPr>
          <p:cNvPr id="5" name="Shape 3"/>
          <p:cNvSpPr/>
          <p:nvPr/>
        </p:nvSpPr>
        <p:spPr>
          <a:xfrm>
            <a:off x="731520"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822960" y="1828800"/>
            <a:ext cx="2468880"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Space Grotesk" pitchFamily="34" charset="0"/>
                <a:ea typeface="Space Grotesk" pitchFamily="34" charset="-122"/>
                <a:cs typeface="Space Grotesk" pitchFamily="34" charset="-120"/>
              </a:rPr>
              <a:t>0.579</a:t>
            </a:r>
            <a:endParaRPr lang="en-US" sz="2600" dirty="0"/>
          </a:p>
        </p:txBody>
      </p:sp>
      <p:sp>
        <p:nvSpPr>
          <p:cNvPr id="7" name="Text 5"/>
          <p:cNvSpPr/>
          <p:nvPr/>
        </p:nvSpPr>
        <p:spPr>
          <a:xfrm>
            <a:off x="841248"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Single best member</a:t>
            </a:r>
            <a:endParaRPr lang="en-US" sz="1300" dirty="0"/>
          </a:p>
        </p:txBody>
      </p:sp>
      <p:sp>
        <p:nvSpPr>
          <p:cNvPr id="8" name="Text 6"/>
          <p:cNvSpPr/>
          <p:nvPr/>
        </p:nvSpPr>
        <p:spPr>
          <a:xfrm>
            <a:off x="841248"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(gate)</a:t>
            </a:r>
            <a:endParaRPr lang="en-US" sz="1150" dirty="0"/>
          </a:p>
        </p:txBody>
      </p:sp>
      <p:sp>
        <p:nvSpPr>
          <p:cNvPr id="9" name="Shape 7"/>
          <p:cNvSpPr/>
          <p:nvPr/>
        </p:nvSpPr>
        <p:spPr>
          <a:xfrm>
            <a:off x="3493008"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0" name="Text 8"/>
          <p:cNvSpPr/>
          <p:nvPr/>
        </p:nvSpPr>
        <p:spPr>
          <a:xfrm>
            <a:off x="3584448" y="1828800"/>
            <a:ext cx="2468880" cy="548640"/>
          </a:xfrm>
          <a:prstGeom prst="rect">
            <a:avLst/>
          </a:prstGeom>
          <a:noFill/>
          <a:ln/>
        </p:spPr>
        <p:txBody>
          <a:bodyPr wrap="square" lIns="0" tIns="0" rIns="0" bIns="0" rtlCol="0" anchor="ctr"/>
          <a:lstStyle/>
          <a:p>
            <a:pPr algn="ctr" indent="0" marL="0">
              <a:buNone/>
            </a:pPr>
            <a:r>
              <a:rPr lang="en-US" sz="2600" b="1" dirty="0">
                <a:solidFill>
                  <a:srgbClr val="CDFCE3"/>
                </a:solidFill>
                <a:latin typeface="Space Grotesk" pitchFamily="34" charset="0"/>
                <a:ea typeface="Space Grotesk" pitchFamily="34" charset="-122"/>
                <a:cs typeface="Space Grotesk" pitchFamily="34" charset="-120"/>
              </a:rPr>
              <a:t>0.617</a:t>
            </a:r>
            <a:endParaRPr lang="en-US" sz="2600" dirty="0"/>
          </a:p>
        </p:txBody>
      </p:sp>
      <p:sp>
        <p:nvSpPr>
          <p:cNvPr id="11" name="Text 9"/>
          <p:cNvSpPr/>
          <p:nvPr/>
        </p:nvSpPr>
        <p:spPr>
          <a:xfrm>
            <a:off x="3602736"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Best stacked combiner</a:t>
            </a:r>
            <a:endParaRPr lang="en-US" sz="1300" dirty="0"/>
          </a:p>
        </p:txBody>
      </p:sp>
      <p:sp>
        <p:nvSpPr>
          <p:cNvPr id="12" name="Text 10"/>
          <p:cNvSpPr/>
          <p:nvPr/>
        </p:nvSpPr>
        <p:spPr>
          <a:xfrm>
            <a:off x="3602736"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OOF-locked</a:t>
            </a:r>
            <a:endParaRPr lang="en-US" sz="1150" dirty="0"/>
          </a:p>
        </p:txBody>
      </p:sp>
      <p:sp>
        <p:nvSpPr>
          <p:cNvPr id="13" name="Shape 11"/>
          <p:cNvSpPr/>
          <p:nvPr/>
        </p:nvSpPr>
        <p:spPr>
          <a:xfrm>
            <a:off x="6254496"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345936" y="1828800"/>
            <a:ext cx="2468880" cy="548640"/>
          </a:xfrm>
          <a:prstGeom prst="rect">
            <a:avLst/>
          </a:prstGeom>
          <a:noFill/>
          <a:ln/>
        </p:spPr>
        <p:txBody>
          <a:bodyPr wrap="square" lIns="0" tIns="0" rIns="0" bIns="0" rtlCol="0" anchor="ctr"/>
          <a:lstStyle/>
          <a:p>
            <a:pPr algn="ctr" indent="0" marL="0">
              <a:buNone/>
            </a:pPr>
            <a:r>
              <a:rPr lang="en-US" sz="2600" b="1" dirty="0">
                <a:solidFill>
                  <a:srgbClr val="FF826C"/>
                </a:solidFill>
                <a:latin typeface="Space Grotesk" pitchFamily="34" charset="0"/>
                <a:ea typeface="Space Grotesk" pitchFamily="34" charset="-122"/>
                <a:cs typeface="Space Grotesk" pitchFamily="34" charset="-120"/>
              </a:rPr>
              <a:t>p = 0.37</a:t>
            </a:r>
            <a:endParaRPr lang="en-US" sz="2600" dirty="0"/>
          </a:p>
        </p:txBody>
      </p:sp>
      <p:sp>
        <p:nvSpPr>
          <p:cNvPr id="15" name="Text 13"/>
          <p:cNvSpPr/>
          <p:nvPr/>
        </p:nvSpPr>
        <p:spPr>
          <a:xfrm>
            <a:off x="6364224"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McNemar on Δ</a:t>
            </a:r>
            <a:endParaRPr lang="en-US" sz="1300" dirty="0"/>
          </a:p>
        </p:txBody>
      </p:sp>
      <p:sp>
        <p:nvSpPr>
          <p:cNvPr id="16" name="Text 14"/>
          <p:cNvSpPr/>
          <p:nvPr/>
        </p:nvSpPr>
        <p:spPr>
          <a:xfrm>
            <a:off x="6364224"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not significant</a:t>
            </a:r>
            <a:endParaRPr lang="en-US" sz="1150" dirty="0"/>
          </a:p>
        </p:txBody>
      </p:sp>
      <p:sp>
        <p:nvSpPr>
          <p:cNvPr id="17" name="Shape 15"/>
          <p:cNvSpPr/>
          <p:nvPr/>
        </p:nvSpPr>
        <p:spPr>
          <a:xfrm>
            <a:off x="9015984"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8" name="Text 16"/>
          <p:cNvSpPr/>
          <p:nvPr/>
        </p:nvSpPr>
        <p:spPr>
          <a:xfrm>
            <a:off x="9107424" y="1828800"/>
            <a:ext cx="2468880" cy="548640"/>
          </a:xfrm>
          <a:prstGeom prst="rect">
            <a:avLst/>
          </a:prstGeom>
          <a:noFill/>
          <a:ln/>
        </p:spPr>
        <p:txBody>
          <a:bodyPr wrap="square" lIns="0" tIns="0" rIns="0" bIns="0" rtlCol="0" anchor="ctr"/>
          <a:lstStyle/>
          <a:p>
            <a:pPr algn="ctr" indent="0" marL="0">
              <a:buNone/>
            </a:pPr>
            <a:r>
              <a:rPr lang="en-US" sz="2600" b="1" dirty="0">
                <a:solidFill>
                  <a:srgbClr val="FF826C"/>
                </a:solidFill>
                <a:latin typeface="Space Grotesk" pitchFamily="34" charset="0"/>
                <a:ea typeface="Space Grotesk" pitchFamily="34" charset="-122"/>
                <a:cs typeface="Space Grotesk" pitchFamily="34" charset="-120"/>
              </a:rPr>
              <a:t>&lt; 0.03</a:t>
            </a:r>
            <a:endParaRPr lang="en-US" sz="2600" dirty="0"/>
          </a:p>
        </p:txBody>
      </p:sp>
      <p:sp>
        <p:nvSpPr>
          <p:cNvPr id="19" name="Text 17"/>
          <p:cNvSpPr/>
          <p:nvPr/>
        </p:nvSpPr>
        <p:spPr>
          <a:xfrm>
            <a:off x="9125712"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Tessera adds (G2)</a:t>
            </a:r>
            <a:endParaRPr lang="en-US" sz="1300" dirty="0"/>
          </a:p>
        </p:txBody>
      </p:sp>
      <p:sp>
        <p:nvSpPr>
          <p:cNvPr id="20" name="Text 18"/>
          <p:cNvSpPr/>
          <p:nvPr/>
        </p:nvSpPr>
        <p:spPr>
          <a:xfrm>
            <a:off x="9125712"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encoder diversity</a:t>
            </a:r>
            <a:endParaRPr lang="en-US" sz="1150" dirty="0"/>
          </a:p>
        </p:txBody>
      </p:sp>
      <p:sp>
        <p:nvSpPr>
          <p:cNvPr id="21" name="Shape 19"/>
          <p:cNvSpPr/>
          <p:nvPr/>
        </p:nvSpPr>
        <p:spPr>
          <a:xfrm>
            <a:off x="731520" y="3657600"/>
            <a:ext cx="10744200" cy="2148840"/>
          </a:xfrm>
          <a:prstGeom prst="roundRect">
            <a:avLst>
              <a:gd name="adj" fmla="val 4255"/>
            </a:avLst>
          </a:prstGeom>
          <a:solidFill>
            <a:srgbClr val="145043"/>
          </a:solidFill>
          <a:ln/>
          <a:effectLst>
            <a:outerShdw sx="100000" sy="100000" kx="0" ky="0" algn="bl" rotWithShape="0" blurRad="101600" dist="38100" dir="5400000">
              <a:srgbClr val="000000">
                <a:alpha val="35000"/>
              </a:srgbClr>
            </a:outerShdw>
          </a:effectLst>
        </p:spPr>
      </p:sp>
      <p:sp>
        <p:nvSpPr>
          <p:cNvPr id="22" name="Text 20"/>
          <p:cNvSpPr/>
          <p:nvPr/>
        </p:nvSpPr>
        <p:spPr>
          <a:xfrm>
            <a:off x="960120" y="3794760"/>
            <a:ext cx="10287000" cy="457200"/>
          </a:xfrm>
          <a:prstGeom prst="rect">
            <a:avLst/>
          </a:prstGeom>
          <a:noFill/>
          <a:ln/>
        </p:spPr>
        <p:txBody>
          <a:bodyPr wrap="square" lIns="0" tIns="0" rIns="0" bIns="0" rtlCol="0" anchor="t"/>
          <a:lstStyle/>
          <a:p>
            <a:pPr indent="0" marL="0">
              <a:buNone/>
            </a:pPr>
            <a:r>
              <a:rPr lang="en-US" sz="1900" b="1" dirty="0">
                <a:solidFill>
                  <a:srgbClr val="FF826C"/>
                </a:solidFill>
                <a:latin typeface="Space Grotesk" pitchFamily="34" charset="0"/>
                <a:ea typeface="Space Grotesk" pitchFamily="34" charset="-122"/>
                <a:cs typeface="Space Grotesk" pitchFamily="34" charset="-120"/>
              </a:rPr>
              <a:t>Honest verdict: within noise</a:t>
            </a:r>
            <a:endParaRPr lang="en-US" sz="1900" dirty="0"/>
          </a:p>
        </p:txBody>
      </p:sp>
      <p:sp>
        <p:nvSpPr>
          <p:cNvPr id="23" name="Text 21"/>
          <p:cNvSpPr/>
          <p:nvPr/>
        </p:nvSpPr>
        <p:spPr>
          <a:xfrm>
            <a:off x="960120" y="4224528"/>
            <a:ext cx="10287000" cy="14630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The best stacked combiner (0.617) edges the single best member (0.579), but McNemar gives p = 0.37 and the bootstrap 95% CI on the difference is [−0.038, +0.11] — it spans zero. Encoder-diversity ablation G2 (adding the Tessera member) moved the combiner by less than 0.03. Conclusion: the ensemble does not significantly beat the single best member, and encoder diversity did not pay off.</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The model race: Tessera ≈ Prithvi-600M</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Best single backbone (209 held-out, forest type, same calibrated collapse)</a:t>
            </a:r>
            <a:endParaRPr lang="en-US" sz="1400" dirty="0"/>
          </a:p>
        </p:txBody>
      </p:sp>
      <p:graphicFrame>
        <p:nvGraphicFramePr>
          <p:cNvPr id="5" name="Chart 0" descr=""/>
          <p:cNvGraphicFramePr/>
          <p:nvPr/>
        </p:nvGraphicFramePr>
        <p:xfrm>
          <a:off x="502920" y="1737360"/>
          <a:ext cx="6675120" cy="4206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498080" y="1737360"/>
            <a:ext cx="4023360" cy="1554480"/>
          </a:xfrm>
          <a:prstGeom prst="roundRect">
            <a:avLst>
              <a:gd name="adj" fmla="val 5882"/>
            </a:avLst>
          </a:prstGeom>
          <a:solidFill>
            <a:srgbClr val="145043"/>
          </a:solidFill>
          <a:ln/>
          <a:effectLst>
            <a:outerShdw sx="100000" sy="100000" kx="0" ky="0" algn="bl" rotWithShape="0" blurRad="101600" dist="38100" dir="5400000">
              <a:srgbClr val="000000">
                <a:alpha val="35000"/>
              </a:srgbClr>
            </a:outerShdw>
          </a:effectLst>
        </p:spPr>
      </p:sp>
      <p:sp>
        <p:nvSpPr>
          <p:cNvPr id="7" name="Text 4"/>
          <p:cNvSpPr/>
          <p:nvPr/>
        </p:nvSpPr>
        <p:spPr>
          <a:xfrm>
            <a:off x="7726680" y="1874520"/>
            <a:ext cx="356616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A statistical tie</a:t>
            </a:r>
            <a:endParaRPr lang="en-US" sz="1800" dirty="0"/>
          </a:p>
        </p:txBody>
      </p:sp>
      <p:sp>
        <p:nvSpPr>
          <p:cNvPr id="8" name="Text 5"/>
          <p:cNvSpPr/>
          <p:nvPr/>
        </p:nvSpPr>
        <p:spPr>
          <a:xfrm>
            <a:off x="7726680" y="2304288"/>
            <a:ext cx="3566160" cy="86868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Δ = +0.010, McNemar p = 0.88. Tessera and the 600M Prithvi are indistinguishable on forest type.</a:t>
            </a:r>
            <a:endParaRPr lang="en-US" sz="1400" dirty="0"/>
          </a:p>
        </p:txBody>
      </p:sp>
      <p:sp>
        <p:nvSpPr>
          <p:cNvPr id="9" name="Shape 6"/>
          <p:cNvSpPr/>
          <p:nvPr/>
        </p:nvSpPr>
        <p:spPr>
          <a:xfrm>
            <a:off x="7498080" y="3429000"/>
            <a:ext cx="4023360" cy="2514600"/>
          </a:xfrm>
          <a:prstGeom prst="roundRect">
            <a:avLst>
              <a:gd name="adj" fmla="val 3636"/>
            </a:avLst>
          </a:prstGeom>
          <a:solidFill>
            <a:srgbClr val="145043"/>
          </a:solidFill>
          <a:ln/>
          <a:effectLst>
            <a:outerShdw sx="100000" sy="100000" kx="0" ky="0" algn="bl" rotWithShape="0" blurRad="101600" dist="38100" dir="5400000">
              <a:srgbClr val="000000">
                <a:alpha val="35000"/>
              </a:srgbClr>
            </a:outerShdw>
          </a:effectLst>
        </p:spPr>
      </p:sp>
      <p:sp>
        <p:nvSpPr>
          <p:cNvPr id="10" name="Text 7"/>
          <p:cNvSpPr/>
          <p:nvPr/>
        </p:nvSpPr>
        <p:spPr>
          <a:xfrm>
            <a:off x="7726680" y="3566160"/>
            <a:ext cx="356616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...at a fraction of the compute</a:t>
            </a:r>
            <a:endParaRPr lang="en-US" sz="1800" dirty="0"/>
          </a:p>
        </p:txBody>
      </p:sp>
      <p:sp>
        <p:nvSpPr>
          <p:cNvPr id="11" name="Text 8"/>
          <p:cNvSpPr/>
          <p:nvPr/>
        </p:nvSpPr>
        <p:spPr>
          <a:xfrm>
            <a:off x="7726680" y="3995928"/>
            <a:ext cx="3566160" cy="182880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Tessera uses precomputed embeddings — NO 600M encoder forward pass at train or inference time. It MATCHES the best Prithvi while being far cheaper to run. That makes it the deployment winner.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Independent validation: LUCAS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10,108 year-matched field points, never trained on</a:t>
            </a:r>
            <a:endParaRPr lang="en-US" sz="1400" dirty="0"/>
          </a:p>
        </p:txBody>
      </p:sp>
      <p:sp>
        <p:nvSpPr>
          <p:cNvPr id="5" name="Text 3"/>
          <p:cNvSpPr/>
          <p:nvPr/>
        </p:nvSpPr>
        <p:spPr>
          <a:xfrm>
            <a:off x="731520" y="1691640"/>
            <a:ext cx="5120640" cy="32004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L2b — 28-class overall</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2057400"/>
          <a:ext cx="5120640" cy="914400"/>
        </p:xfrm>
        <a:graphic>
          <a:graphicData uri="http://schemas.openxmlformats.org/drawingml/2006/table">
            <a:tbl>
              <a:tblPr/>
              <a:tblGrid>
                <a:gridCol w="3474720"/>
                <a:gridCol w="1645920"/>
              </a:tblGrid>
              <a:tr h="475488">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Backbone</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200" b="1" dirty="0">
                          <a:solidFill>
                            <a:srgbClr val="FFFFFF"/>
                          </a:solidFill>
                          <a:latin typeface="Space Grotesk" pitchFamily="34" charset="0"/>
                          <a:ea typeface="Space Grotesk" pitchFamily="34" charset="-122"/>
                          <a:cs typeface="Space Grotesk" pitchFamily="34" charset="-120"/>
                        </a:rPr>
                        <a:t>Overall</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r>
              <a:tr h="475488">
                <a:tc>
                  <a:txBody>
                    <a:bodyPr/>
                    <a:lstStyle/>
                    <a:p>
                      <a:pPr algn="l" indent="0" marL="0">
                        <a:buNone/>
                      </a:pPr>
                      <a:r>
                        <a:rPr lang="en-US" sz="1300" b="1" dirty="0">
                          <a:solidFill>
                            <a:srgbClr val="CDFCE3"/>
                          </a:solidFill>
                          <a:latin typeface="Space Grotesk" pitchFamily="34" charset="0"/>
                          <a:ea typeface="Space Grotesk" pitchFamily="34" charset="-122"/>
                          <a:cs typeface="Space Grotesk" pitchFamily="34" charset="-120"/>
                        </a:rPr>
                        <a:t>Tessera</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300" b="1" dirty="0">
                          <a:solidFill>
                            <a:srgbClr val="CDFCE3"/>
                          </a:solidFill>
                          <a:latin typeface="Space Grotesk" pitchFamily="34" charset="0"/>
                          <a:ea typeface="Space Grotesk" pitchFamily="34" charset="-122"/>
                          <a:cs typeface="Space Grotesk" pitchFamily="34" charset="-120"/>
                        </a:rPr>
                        <a:t>0.499</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475488">
                <a:tc>
                  <a:txBody>
                    <a:bodyPr/>
                    <a:lstStyle/>
                    <a:p>
                      <a:pPr algn="l" indent="0" marL="0">
                        <a:buNone/>
                      </a:pPr>
                      <a:r>
                        <a:rPr lang="en-US" sz="1300" dirty="0">
                          <a:solidFill>
                            <a:srgbClr val="FFFFFF"/>
                          </a:solidFill>
                          <a:latin typeface="Space Grotesk" pitchFamily="34" charset="0"/>
                          <a:ea typeface="Space Grotesk" pitchFamily="34" charset="-122"/>
                          <a:cs typeface="Space Grotesk" pitchFamily="34" charset="-120"/>
                        </a:rPr>
                        <a:t>Distilled</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300" dirty="0">
                          <a:solidFill>
                            <a:srgbClr val="FFFFFF"/>
                          </a:solidFill>
                          <a:latin typeface="Space Grotesk" pitchFamily="34" charset="0"/>
                          <a:ea typeface="Space Grotesk" pitchFamily="34" charset="-122"/>
                          <a:cs typeface="Space Grotesk" pitchFamily="34" charset="-120"/>
                        </a:rPr>
                        <a:t>0.484</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r>
              <a:tr h="475488">
                <a:tc>
                  <a:txBody>
                    <a:bodyPr/>
                    <a:lstStyle/>
                    <a:p>
                      <a:pPr algn="l" indent="0" marL="0">
                        <a:buNone/>
                      </a:pPr>
                      <a:r>
                        <a:rPr lang="en-US" sz="1300" dirty="0">
                          <a:solidFill>
                            <a:srgbClr val="FFFFFF"/>
                          </a:solidFill>
                          <a:latin typeface="Space Grotesk" pitchFamily="34" charset="0"/>
                          <a:ea typeface="Space Grotesk" pitchFamily="34" charset="-122"/>
                          <a:cs typeface="Space Grotesk" pitchFamily="34" charset="-120"/>
                        </a:rPr>
                        <a:t>Prithvi-600M / tradslag</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300" dirty="0">
                          <a:solidFill>
                            <a:srgbClr val="FFFFFF"/>
                          </a:solidFill>
                          <a:latin typeface="Space Grotesk" pitchFamily="34" charset="0"/>
                          <a:ea typeface="Space Grotesk" pitchFamily="34" charset="-122"/>
                          <a:cs typeface="Space Grotesk" pitchFamily="34" charset="-120"/>
                        </a:rPr>
                        <a:t>0.477</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bl>
          </a:graphicData>
        </a:graphic>
      </p:graphicFrame>
      <p:sp>
        <p:nvSpPr>
          <p:cNvPr id="7" name="Text 4"/>
          <p:cNvSpPr/>
          <p:nvPr/>
        </p:nvSpPr>
        <p:spPr>
          <a:xfrm>
            <a:off x="6172200" y="1691640"/>
            <a:ext cx="5303520" cy="320040"/>
          </a:xfrm>
          <a:prstGeom prst="rect">
            <a:avLst/>
          </a:prstGeom>
          <a:noFill/>
          <a:ln/>
        </p:spPr>
        <p:txBody>
          <a:bodyPr wrap="square" lIns="0" tIns="0" rIns="0" bIns="0" rtlCol="0" anchor="ctr"/>
          <a:lstStyle/>
          <a:p>
            <a:pPr indent="0" marL="0">
              <a:buNone/>
            </a:pPr>
            <a:r>
              <a:rPr lang="en-US" sz="1400" b="1" dirty="0">
                <a:solidFill>
                  <a:srgbClr val="FF826C"/>
                </a:solidFill>
                <a:latin typeface="Space Grotesk" pitchFamily="34" charset="0"/>
                <a:ea typeface="Space Grotesk" pitchFamily="34" charset="-122"/>
                <a:cs typeface="Space Grotesk" pitchFamily="34" charset="-120"/>
              </a:rPr>
              <a:t>L2a — forest fraction (dominant-species agreement)</a:t>
            </a:r>
            <a:endParaRPr lang="en-US" sz="1400" dirty="0"/>
          </a:p>
        </p:txBody>
      </p:sp>
      <p:graphicFrame>
        <p:nvGraphicFramePr>
          <p:cNvPr id="8" name="Chart 0" descr=""/>
          <p:cNvGraphicFramePr/>
          <p:nvPr/>
        </p:nvGraphicFramePr>
        <p:xfrm>
          <a:off x="5989320" y="2057400"/>
          <a:ext cx="5486400" cy="19659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31520" y="4251960"/>
            <a:ext cx="534924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0" name="Text 6"/>
          <p:cNvSpPr/>
          <p:nvPr/>
        </p:nvSpPr>
        <p:spPr>
          <a:xfrm>
            <a:off x="960120" y="4389120"/>
            <a:ext cx="4892040" cy="457200"/>
          </a:xfrm>
          <a:prstGeom prst="rect">
            <a:avLst/>
          </a:prstGeom>
          <a:noFill/>
          <a:ln/>
        </p:spPr>
        <p:txBody>
          <a:bodyPr wrap="square" lIns="0" tIns="0" rIns="0" bIns="0" rtlCol="0" anchor="t"/>
          <a:lstStyle/>
          <a:p>
            <a:pPr indent="0" marL="0">
              <a:buNone/>
            </a:pPr>
            <a:r>
              <a:rPr lang="en-US" sz="1600" b="1" dirty="0">
                <a:solidFill>
                  <a:srgbClr val="CDFCE3"/>
                </a:solidFill>
                <a:latin typeface="Space Grotesk" pitchFamily="34" charset="0"/>
                <a:ea typeface="Space Grotesk" pitchFamily="34" charset="-122"/>
                <a:cs typeface="Space Grotesk" pitchFamily="34" charset="-120"/>
              </a:rPr>
              <a:t>Spruce is the hard axis — for both</a:t>
            </a:r>
            <a:endParaRPr lang="en-US" sz="1600" dirty="0"/>
          </a:p>
        </p:txBody>
      </p:sp>
      <p:sp>
        <p:nvSpPr>
          <p:cNvPr id="11" name="Text 7"/>
          <p:cNvSpPr/>
          <p:nvPr/>
        </p:nvSpPr>
        <p:spPr>
          <a:xfrm>
            <a:off x="960120" y="4818888"/>
            <a:ext cx="4892040" cy="100584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Per species: pine 0.83/0.81, deciduous 0.95/0.92, but spruce only 0.55/0.53. The spruce weakness is shared across backbones — a task/data limit, not a model-specific failure.</a:t>
            </a:r>
            <a:endParaRPr lang="en-US" sz="1300" dirty="0"/>
          </a:p>
        </p:txBody>
      </p:sp>
      <p:sp>
        <p:nvSpPr>
          <p:cNvPr id="12" name="Shape 8"/>
          <p:cNvSpPr/>
          <p:nvPr/>
        </p:nvSpPr>
        <p:spPr>
          <a:xfrm>
            <a:off x="6172200" y="4251960"/>
            <a:ext cx="530352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3" name="Text 9"/>
          <p:cNvSpPr/>
          <p:nvPr/>
        </p:nvSpPr>
        <p:spPr>
          <a:xfrm>
            <a:off x="6400800" y="4389120"/>
            <a:ext cx="4846320" cy="457200"/>
          </a:xfrm>
          <a:prstGeom prst="rect">
            <a:avLst/>
          </a:prstGeom>
          <a:noFill/>
          <a:ln/>
        </p:spPr>
        <p:txBody>
          <a:bodyPr wrap="square" lIns="0" tIns="0" rIns="0" bIns="0" rtlCol="0" anchor="t"/>
          <a:lstStyle/>
          <a:p>
            <a:pPr indent="0" marL="0">
              <a:buNone/>
            </a:pPr>
            <a:r>
              <a:rPr lang="en-US" sz="1600" b="1" dirty="0">
                <a:solidFill>
                  <a:srgbClr val="FF826C"/>
                </a:solidFill>
                <a:latin typeface="Space Grotesk" pitchFamily="34" charset="0"/>
                <a:ea typeface="Space Grotesk" pitchFamily="34" charset="-122"/>
                <a:cs typeface="Space Grotesk" pitchFamily="34" charset="-120"/>
              </a:rPr>
              <a:t>Breadth: strong vs weak (LUCAS F1)</a:t>
            </a:r>
            <a:endParaRPr lang="en-US" sz="1600" dirty="0"/>
          </a:p>
        </p:txBody>
      </p:sp>
      <p:sp>
        <p:nvSpPr>
          <p:cNvPr id="14" name="Text 10"/>
          <p:cNvSpPr/>
          <p:nvPr/>
        </p:nvSpPr>
        <p:spPr>
          <a:xfrm>
            <a:off x="6400800" y="4818888"/>
            <a:ext cx="4846320" cy="100584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Strong: water 0.96, maize 0.94, sugar-beet 0.93, wheat 0.78. Weak: open land 0.02, shrub 0.07, mixed forest 0.21. Both corroborate NFI: Tessera ≥ best Prithvi on independent truth.</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Label cross-check: LUCAS × LPIS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Year-matched crop truth, no model in the loop</a:t>
            </a:r>
            <a:endParaRPr lang="en-US" sz="1400" dirty="0"/>
          </a:p>
        </p:txBody>
      </p:sp>
      <p:sp>
        <p:nvSpPr>
          <p:cNvPr id="5" name="Shape 3"/>
          <p:cNvSpPr/>
          <p:nvPr/>
        </p:nvSpPr>
        <p:spPr>
          <a:xfrm>
            <a:off x="731520"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822960" y="1810512"/>
            <a:ext cx="3310128"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79.8%</a:t>
            </a:r>
            <a:endParaRPr lang="en-US" sz="2800" dirty="0"/>
          </a:p>
        </p:txBody>
      </p:sp>
      <p:sp>
        <p:nvSpPr>
          <p:cNvPr id="7" name="Text 5"/>
          <p:cNvSpPr/>
          <p:nvPr/>
        </p:nvSpPr>
        <p:spPr>
          <a:xfrm>
            <a:off x="841248"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LUCAS crop points on a</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year-matched LPIS parcel</a:t>
            </a:r>
            <a:endParaRPr lang="en-US" sz="1250" dirty="0"/>
          </a:p>
        </p:txBody>
      </p:sp>
      <p:sp>
        <p:nvSpPr>
          <p:cNvPr id="8" name="Shape 6"/>
          <p:cNvSpPr/>
          <p:nvPr/>
        </p:nvSpPr>
        <p:spPr>
          <a:xfrm>
            <a:off x="4361688"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9" name="Text 7"/>
          <p:cNvSpPr/>
          <p:nvPr/>
        </p:nvSpPr>
        <p:spPr>
          <a:xfrm>
            <a:off x="4453128" y="1810512"/>
            <a:ext cx="3310128" cy="548640"/>
          </a:xfrm>
          <a:prstGeom prst="rect">
            <a:avLst/>
          </a:prstGeom>
          <a:noFill/>
          <a:ln/>
        </p:spPr>
        <p:txBody>
          <a:bodyPr wrap="square" lIns="0" tIns="0" rIns="0" bIns="0" rtlCol="0" anchor="ctr"/>
          <a:lstStyle/>
          <a:p>
            <a:pPr algn="ctr" indent="0" marL="0">
              <a:buNone/>
            </a:pPr>
            <a:r>
              <a:rPr lang="en-US" sz="2800" b="1" dirty="0">
                <a:solidFill>
                  <a:srgbClr val="CDFCE3"/>
                </a:solidFill>
                <a:latin typeface="Space Grotesk" pitchFamily="34" charset="0"/>
                <a:ea typeface="Space Grotesk" pitchFamily="34" charset="-122"/>
                <a:cs typeface="Space Grotesk" pitchFamily="34" charset="-120"/>
              </a:rPr>
              <a:t>0.81</a:t>
            </a:r>
            <a:endParaRPr lang="en-US" sz="2800" dirty="0"/>
          </a:p>
        </p:txBody>
      </p:sp>
      <p:sp>
        <p:nvSpPr>
          <p:cNvPr id="10" name="Text 8"/>
          <p:cNvSpPr/>
          <p:nvPr/>
        </p:nvSpPr>
        <p:spPr>
          <a:xfrm>
            <a:off x="4471416"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agreement excluding</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pasture</a:t>
            </a:r>
            <a:endParaRPr lang="en-US" sz="1250" dirty="0"/>
          </a:p>
        </p:txBody>
      </p:sp>
      <p:sp>
        <p:nvSpPr>
          <p:cNvPr id="11" name="Shape 9"/>
          <p:cNvSpPr/>
          <p:nvPr/>
        </p:nvSpPr>
        <p:spPr>
          <a:xfrm>
            <a:off x="7991856"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12" name="Text 10"/>
          <p:cNvSpPr/>
          <p:nvPr/>
        </p:nvSpPr>
        <p:spPr>
          <a:xfrm>
            <a:off x="8083296" y="1810512"/>
            <a:ext cx="3310128" cy="548640"/>
          </a:xfrm>
          <a:prstGeom prst="rect">
            <a:avLst/>
          </a:prstGeom>
          <a:noFill/>
          <a:ln/>
        </p:spPr>
        <p:txBody>
          <a:bodyPr wrap="square" lIns="0" tIns="0" rIns="0" bIns="0" rtlCol="0" anchor="ctr"/>
          <a:lstStyle/>
          <a:p>
            <a:pPr algn="ctr" indent="0" marL="0">
              <a:buNone/>
            </a:pPr>
            <a:r>
              <a:rPr lang="en-US" sz="2800" b="1" dirty="0">
                <a:solidFill>
                  <a:srgbClr val="FF826C"/>
                </a:solidFill>
                <a:latin typeface="Space Grotesk" pitchFamily="34" charset="0"/>
                <a:ea typeface="Space Grotesk" pitchFamily="34" charset="-122"/>
                <a:cs typeface="Space Grotesk" pitchFamily="34" charset="-120"/>
              </a:rPr>
              <a:t>0.25</a:t>
            </a:r>
            <a:endParaRPr lang="en-US" sz="2800" dirty="0"/>
          </a:p>
        </p:txBody>
      </p:sp>
      <p:sp>
        <p:nvSpPr>
          <p:cNvPr id="13" name="Text 11"/>
          <p:cNvSpPr/>
          <p:nvPr/>
        </p:nvSpPr>
        <p:spPr>
          <a:xfrm>
            <a:off x="8101584"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pasture agreement, but</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87% still LPIS grass</a:t>
            </a:r>
            <a:endParaRPr lang="en-US" sz="1250" dirty="0"/>
          </a:p>
        </p:txBody>
      </p:sp>
      <p:sp>
        <p:nvSpPr>
          <p:cNvPr id="14" name="Text 12"/>
          <p:cNvSpPr/>
          <p:nvPr/>
        </p:nvSpPr>
        <p:spPr>
          <a:xfrm>
            <a:off x="731520" y="3429000"/>
            <a:ext cx="548640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Crop agreement (cereals &amp; roots)</a:t>
            </a:r>
            <a:endParaRPr lang="en-US" sz="1400" dirty="0"/>
          </a:p>
        </p:txBody>
      </p:sp>
      <p:graphicFrame>
        <p:nvGraphicFramePr>
          <p:cNvPr id="15" name="Chart 0" descr=""/>
          <p:cNvGraphicFramePr/>
          <p:nvPr/>
        </p:nvGraphicFramePr>
        <p:xfrm>
          <a:off x="502920" y="3794760"/>
          <a:ext cx="5760720" cy="233172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6492240" y="3794760"/>
            <a:ext cx="4983480" cy="2331720"/>
          </a:xfrm>
          <a:prstGeom prst="roundRect">
            <a:avLst>
              <a:gd name="adj" fmla="val 3922"/>
            </a:avLst>
          </a:prstGeom>
          <a:solidFill>
            <a:srgbClr val="145043"/>
          </a:solidFill>
          <a:ln/>
          <a:effectLst>
            <a:outerShdw sx="100000" sy="100000" kx="0" ky="0" algn="bl" rotWithShape="0" blurRad="101600" dist="38100" dir="5400000">
              <a:srgbClr val="000000">
                <a:alpha val="35000"/>
              </a:srgbClr>
            </a:outerShdw>
          </a:effectLst>
        </p:spPr>
      </p:sp>
      <p:sp>
        <p:nvSpPr>
          <p:cNvPr id="17" name="Text 14"/>
          <p:cNvSpPr/>
          <p:nvPr/>
        </p:nvSpPr>
        <p:spPr>
          <a:xfrm>
            <a:off x="6720840" y="3931920"/>
            <a:ext cx="45262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Labels are well-founded</a:t>
            </a:r>
            <a:endParaRPr lang="en-US" sz="1700" dirty="0"/>
          </a:p>
        </p:txBody>
      </p:sp>
      <p:sp>
        <p:nvSpPr>
          <p:cNvPr id="18" name="Text 15"/>
          <p:cNvSpPr/>
          <p:nvPr/>
        </p:nvSpPr>
        <p:spPr>
          <a:xfrm>
            <a:off x="6720840" y="4361688"/>
            <a:ext cx="4526280" cy="164592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3,496 of 4,382 LUCAS crop points fall on a year-matched LPIS parcel. Cereals and roots agree 0.69–0.91. The pasture split is a ley-vs-pasture boundary the two surveys draw differently — not an error. Year-matching is essential: crops rotate annually.</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Discussion: four takeaways</a:t>
            </a:r>
            <a:endParaRPr lang="en-US" sz="3200" dirty="0"/>
          </a:p>
        </p:txBody>
      </p:sp>
      <p:sp>
        <p:nvSpPr>
          <p:cNvPr id="4" name="Shape 2"/>
          <p:cNvSpPr/>
          <p:nvPr/>
        </p:nvSpPr>
        <p:spPr>
          <a:xfrm>
            <a:off x="731520" y="146304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60020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The TARGET was the ceiling</a:t>
            </a:r>
            <a:endParaRPr lang="en-US" sz="1800" dirty="0"/>
          </a:p>
        </p:txBody>
      </p:sp>
      <p:sp>
        <p:nvSpPr>
          <p:cNvPr id="6" name="Text 4"/>
          <p:cNvSpPr/>
          <p:nvPr/>
        </p:nvSpPr>
        <p:spPr>
          <a:xfrm>
            <a:off x="960120" y="202996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Not the representation. Hard NMD labels cap accuracy near 46%; NFI supervision on the same features reaches 63.7%.</a:t>
            </a:r>
            <a:endParaRPr lang="en-US" sz="1500" dirty="0"/>
          </a:p>
        </p:txBody>
      </p:sp>
      <p:sp>
        <p:nvSpPr>
          <p:cNvPr id="7" name="Shape 5"/>
          <p:cNvSpPr/>
          <p:nvPr/>
        </p:nvSpPr>
        <p:spPr>
          <a:xfrm>
            <a:off x="6263640" y="146304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60020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Representation is cheap</a:t>
            </a:r>
            <a:endParaRPr lang="en-US" sz="1800" dirty="0"/>
          </a:p>
        </p:txBody>
      </p:sp>
      <p:sp>
        <p:nvSpPr>
          <p:cNvPr id="9" name="Text 7"/>
          <p:cNvSpPr/>
          <p:nvPr/>
        </p:nvSpPr>
        <p:spPr>
          <a:xfrm>
            <a:off x="6492240" y="202996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Tessera's frozen embeddings tie the 600M Prithvi (p = 0.88). A large encoder buys no accuracy here.</a:t>
            </a:r>
            <a:endParaRPr lang="en-US" sz="1500" dirty="0"/>
          </a:p>
        </p:txBody>
      </p:sp>
      <p:sp>
        <p:nvSpPr>
          <p:cNvPr id="10" name="Shape 8"/>
          <p:cNvSpPr/>
          <p:nvPr/>
        </p:nvSpPr>
        <p:spPr>
          <a:xfrm>
            <a:off x="731520" y="365760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79476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Ensembling doesn't pay</a:t>
            </a:r>
            <a:endParaRPr lang="en-US" sz="1800" dirty="0"/>
          </a:p>
        </p:txBody>
      </p:sp>
      <p:sp>
        <p:nvSpPr>
          <p:cNvPr id="12" name="Text 10"/>
          <p:cNvSpPr/>
          <p:nvPr/>
        </p:nvSpPr>
        <p:spPr>
          <a:xfrm>
            <a:off x="960120" y="422452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Members are correlated: the stacked combiner is within noise (p = 0.37), and encoder diversity added &lt; 0.03.</a:t>
            </a:r>
            <a:endParaRPr lang="en-US" sz="1500" dirty="0"/>
          </a:p>
        </p:txBody>
      </p:sp>
      <p:sp>
        <p:nvSpPr>
          <p:cNvPr id="13" name="Shape 11"/>
          <p:cNvSpPr/>
          <p:nvPr/>
        </p:nvSpPr>
        <p:spPr>
          <a:xfrm>
            <a:off x="6263640" y="365760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79476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Hard classes are shared</a:t>
            </a:r>
            <a:endParaRPr lang="en-US" sz="1800" dirty="0"/>
          </a:p>
        </p:txBody>
      </p:sp>
      <p:sp>
        <p:nvSpPr>
          <p:cNvPr id="15" name="Text 13"/>
          <p:cNvSpPr/>
          <p:nvPr/>
        </p:nvSpPr>
        <p:spPr>
          <a:xfrm>
            <a:off x="6492240" y="422452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Spruce and open/shrub are weak across every backbone and every truth source — a data limit, not a model flaw.</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Limitations</a:t>
            </a:r>
            <a:endParaRPr lang="en-US" sz="3200" dirty="0"/>
          </a:p>
        </p:txBody>
      </p:sp>
      <p:sp>
        <p:nvSpPr>
          <p:cNvPr id="4" name="Text 2"/>
          <p:cNvSpPr/>
          <p:nvPr/>
        </p:nvSpPr>
        <p:spPr>
          <a:xfrm>
            <a:off x="731520" y="1417320"/>
            <a:ext cx="6492240" cy="411480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Thin held-out set: 209 plots limits statistical power — several head-to-head gaps sit within noise.</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Spruce accuracy (~0.53–0.55) is the persistent weak axis across both backbones and both truth sources.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Crop classes are year-sensitive: labels and spectra must be matched to the same year, since crops rotate.</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Ley-vs-pasture grass classes are not cleanly separable across truth sources — a boundary, not an error.</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LUCAS coverage: only ~29% of crop points fall on a year-matched LPIS parcel, bounding that cross-check.</a:t>
            </a:r>
            <a:endParaRPr lang="en-US" sz="1500" dirty="0"/>
          </a:p>
        </p:txBody>
      </p:sp>
      <p:sp>
        <p:nvSpPr>
          <p:cNvPr id="5" name="Shape 3"/>
          <p:cNvSpPr/>
          <p:nvPr/>
        </p:nvSpPr>
        <p:spPr>
          <a:xfrm>
            <a:off x="7498080" y="1417320"/>
            <a:ext cx="3977640" cy="4434840"/>
          </a:xfrm>
          <a:prstGeom prst="roundRect">
            <a:avLst>
              <a:gd name="adj" fmla="val 2299"/>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7726680" y="1554480"/>
            <a:ext cx="352044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What would move the needle</a:t>
            </a:r>
            <a:endParaRPr lang="en-US" sz="1800" dirty="0"/>
          </a:p>
        </p:txBody>
      </p:sp>
      <p:sp>
        <p:nvSpPr>
          <p:cNvPr id="7" name="Text 5"/>
          <p:cNvSpPr/>
          <p:nvPr/>
        </p:nvSpPr>
        <p:spPr>
          <a:xfrm>
            <a:off x="7726680" y="1984248"/>
            <a:ext cx="3520440" cy="374904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More field plots — especially spruce-dominated stands — would tighten every confidence interval and is the single highest-leverage next step.</a:t>
            </a:r>
            <a:endParaRPr lang="en-US" sz="1350" dirty="0"/>
          </a:p>
          <a:p>
            <a:pPr indent="0" marL="0">
              <a:lnSpc>
                <a:spcPct val="110000"/>
              </a:lnSpc>
              <a:buNone/>
            </a:pPr>
            <a:endParaRPr lang="en-US" sz="1350" dirty="0"/>
          </a:p>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Strict year-matching of spectra to crop labels is already enforced and must stay enforced.</a:t>
            </a:r>
            <a:endParaRPr lang="en-US" sz="1350" dirty="0"/>
          </a:p>
          <a:p>
            <a:pPr indent="0" marL="0">
              <a:lnSpc>
                <a:spcPct val="110000"/>
              </a:lnSpc>
              <a:buNone/>
            </a:pPr>
            <a:endParaRPr lang="en-US" sz="1350" dirty="0"/>
          </a:p>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grass ambiguity is a survey-definition issue, best resolved upstream in the truth sources rather than in the model.</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Conclusions</a:t>
            </a:r>
            <a:endParaRPr lang="en-US" sz="3200" dirty="0"/>
          </a:p>
        </p:txBody>
      </p:sp>
      <p:sp>
        <p:nvSpPr>
          <p:cNvPr id="4" name="Shape 2"/>
          <p:cNvSpPr/>
          <p:nvPr/>
        </p:nvSpPr>
        <p:spPr>
          <a:xfrm>
            <a:off x="731520" y="137160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0876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Field calibration wins</a:t>
            </a:r>
            <a:endParaRPr lang="en-US" sz="1800" dirty="0"/>
          </a:p>
        </p:txBody>
      </p:sp>
      <p:sp>
        <p:nvSpPr>
          <p:cNvPr id="6" name="Text 4"/>
          <p:cNvSpPr/>
          <p:nvPr/>
        </p:nvSpPr>
        <p:spPr>
          <a:xfrm>
            <a:off x="960120" y="193852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On independent field truth the field-calibrated model beats NMD2023 — 43.1% → 50.2%, and 57.9% on forest type.</a:t>
            </a:r>
            <a:endParaRPr lang="en-US" sz="1450" dirty="0"/>
          </a:p>
        </p:txBody>
      </p:sp>
      <p:sp>
        <p:nvSpPr>
          <p:cNvPr id="7" name="Shape 5"/>
          <p:cNvSpPr/>
          <p:nvPr/>
        </p:nvSpPr>
        <p:spPr>
          <a:xfrm>
            <a:off x="6263640" y="137160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50876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Deploy the pair</a:t>
            </a:r>
            <a:endParaRPr lang="en-US" sz="1800" dirty="0"/>
          </a:p>
        </p:txBody>
      </p:sp>
      <p:sp>
        <p:nvSpPr>
          <p:cNvPr id="9" name="Text 7"/>
          <p:cNvSpPr/>
          <p:nvPr/>
        </p:nvSpPr>
        <p:spPr>
          <a:xfrm>
            <a:off x="6492240" y="193852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Ship the distilled 28-class base plus the forest-type fraction layer: hard mask decides forest, fractions decide species.</a:t>
            </a:r>
            <a:endParaRPr lang="en-US" sz="1450" dirty="0"/>
          </a:p>
        </p:txBody>
      </p:sp>
      <p:sp>
        <p:nvSpPr>
          <p:cNvPr id="10" name="Shape 8"/>
          <p:cNvSpPr/>
          <p:nvPr/>
        </p:nvSpPr>
        <p:spPr>
          <a:xfrm>
            <a:off x="731520" y="324612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38328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Tessera for cost</a:t>
            </a:r>
            <a:endParaRPr lang="en-US" sz="1800" dirty="0"/>
          </a:p>
        </p:txBody>
      </p:sp>
      <p:sp>
        <p:nvSpPr>
          <p:cNvPr id="12" name="Text 10"/>
          <p:cNvSpPr/>
          <p:nvPr/>
        </p:nvSpPr>
        <p:spPr>
          <a:xfrm>
            <a:off x="960120" y="381304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Use Tessera's precomputed embeddings for deployment — it ties the 600M model at a fraction of the compute.</a:t>
            </a:r>
            <a:endParaRPr lang="en-US" sz="1450" dirty="0"/>
          </a:p>
        </p:txBody>
      </p:sp>
      <p:sp>
        <p:nvSpPr>
          <p:cNvPr id="13" name="Shape 11"/>
          <p:cNvSpPr/>
          <p:nvPr/>
        </p:nvSpPr>
        <p:spPr>
          <a:xfrm>
            <a:off x="6263640" y="324612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38328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Skip the ensemble</a:t>
            </a:r>
            <a:endParaRPr lang="en-US" sz="1800" dirty="0"/>
          </a:p>
        </p:txBody>
      </p:sp>
      <p:sp>
        <p:nvSpPr>
          <p:cNvPr id="15" name="Text 13"/>
          <p:cNvSpPr/>
          <p:nvPr/>
        </p:nvSpPr>
        <p:spPr>
          <a:xfrm>
            <a:off x="6492240" y="381304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Combining models is not worth it: the gain is within noise and adds serving complexity for nothing.</a:t>
            </a:r>
            <a:endParaRPr lang="en-US" sz="1450" dirty="0"/>
          </a:p>
        </p:txBody>
      </p:sp>
      <p:sp>
        <p:nvSpPr>
          <p:cNvPr id="16" name="Text 14"/>
          <p:cNvSpPr/>
          <p:nvPr/>
        </p:nvSpPr>
        <p:spPr>
          <a:xfrm>
            <a:off x="731520" y="5257800"/>
            <a:ext cx="10744200" cy="548640"/>
          </a:xfrm>
          <a:prstGeom prst="rect">
            <a:avLst/>
          </a:prstGeom>
          <a:noFill/>
          <a:ln/>
        </p:spPr>
        <p:txBody>
          <a:bodyPr wrap="square" lIns="0" tIns="0" rIns="0" bIns="0" rtlCol="0" anchor="ctr"/>
          <a:lstStyle/>
          <a:p>
            <a:pPr indent="0" marL="0">
              <a:lnSpc>
                <a:spcPct val="110000"/>
              </a:lnSpc>
              <a:buNone/>
            </a:pPr>
            <a:r>
              <a:rPr lang="en-US" sz="1200" i="1" dirty="0">
                <a:solidFill>
                  <a:srgbClr val="9DBDB0"/>
                </a:solidFill>
                <a:latin typeface="Space Grotesk" pitchFamily="34" charset="0"/>
                <a:ea typeface="Space Grotesk" pitchFamily="34" charset="-122"/>
                <a:cs typeface="Space Grotesk" pitchFamily="34" charset="-120"/>
              </a:rPr>
              <a:t>Provenance: docs/data/{distill,tradslag_fraction,hybrid_nfi_head}_finding.md — all held-out figures use 209 plots, grouped-tile split, calibration on the train side only.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2026-08-12T09:47:56Z</dcterms:created>
  <dcterms:modified xsi:type="dcterms:W3CDTF">2026-08-12T09:47:56Z</dcterms:modified>
</cp:coreProperties>
</file>