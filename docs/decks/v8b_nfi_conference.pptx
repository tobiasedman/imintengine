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6.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7.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8.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NFI plots</c:v>
                </c:pt>
              </c:strCache>
            </c:strRef>
          </c:tx>
          <c:spPr>
            <a:solidFill>
              <a:srgbClr val="CDFCE3"/>
            </a:solidFill>
            <a:effectLst/>
          </c:spPr>
          <c:invertIfNegative val="0"/>
          <c:dLbls>
            <c:numFmt formatCode="0" sourceLinked="0"/>
            <c:txPr>
              <a:bodyPr/>
              <a:lstStyle/>
              <a:p>
                <a:pPr>
                  <a:defRPr b="0" i="0" strike="noStrike" sz="1200" u="none">
                    <a:solidFill>
                      <a:srgbClr val="FFFFFF"/>
                    </a:solidFill>
                    <a:latin typeface="Space Grotesk"/>
                  </a:defRPr>
                </a:pPr>
              </a:p>
            </c:txPr>
            <c:showLegendKey val="0"/>
            <c:showVal val="1"/>
            <c:showCatName val="0"/>
            <c:showSerName val="0"/>
            <c:showPercent val="0"/>
            <c:showBubbleSize val="0"/>
            <c:showLeaderLines val="0"/>
          </c:dLbls>
          <c:dPt>
            <c:idx val="0"/>
            <c:invertIfNegative val="0"/>
            <c:bubble3D val="0"/>
            <c:spPr>
              <a:solidFill>
                <a:srgbClr val="CDFCE3"/>
              </a:solidFill>
              <a:effectLst/>
            </c:spPr>
          </c:dPt>
          <c:dPt>
            <c:idx val="1"/>
            <c:invertIfNegative val="0"/>
            <c:bubble3D val="0"/>
            <c:spPr>
              <a:solidFill>
                <a:srgbClr val="3E7D68"/>
              </a:solidFill>
              <a:effectLst/>
            </c:spPr>
          </c:dPt>
          <c:dPt>
            <c:idx val="2"/>
            <c:invertIfNegative val="0"/>
            <c:bubble3D val="0"/>
            <c:spPr>
              <a:solidFill>
                <a:srgbClr val="FF826C"/>
              </a:solidFill>
              <a:effectLst/>
            </c:spPr>
          </c:dPt>
          <c:dPt>
            <c:idx val="3"/>
            <c:invertIfNegative val="0"/>
            <c:bubble3D val="0"/>
            <c:spPr>
              <a:solidFill>
                <a:srgbClr val="C98A5B"/>
              </a:solidFill>
              <a:effectLst/>
            </c:spPr>
          </c:dPt>
          <c:dPt>
            <c:idx val="4"/>
            <c:invertIfNegative val="0"/>
            <c:bubble3D val="0"/>
            <c:spPr>
              <a:solidFill>
                <a:srgbClr val="5E8478"/>
              </a:solidFill>
              <a:effectLst/>
            </c:spPr>
          </c:dPt>
          <c:cat>
            <c:multiLvlStrRef>
              <c:f>Sheet1!$A$2:$A$6</c:f>
              <c:multiLvlStrCache>
                <c:ptCount val="5"/>
                <c:lvl>
                  <c:pt idx="0">
                    <c:v>Pine</c:v>
                  </c:pt>
                  <c:pt idx="1">
                    <c:v>Spruce</c:v>
                  </c:pt>
                  <c:pt idx="2">
                    <c:v>Deciduous</c:v>
                  </c:pt>
                  <c:pt idx="3">
                    <c:v>Mixed</c:v>
                  </c:pt>
                  <c:pt idx="4">
                    <c:v>Non-forest</c:v>
                  </c:pt>
                </c:lvl>
              </c:multiLvlStrCache>
            </c:multiLvlStrRef>
          </c:cat>
          <c:val>
            <c:numRef>
              <c:f>Sheet1!$B$2:$B$6</c:f>
              <c:numCache>
                <c:formatCode>General</c:formatCode>
                <c:ptCount val="5"/>
                <c:pt idx="0">
                  <c:v>372</c:v>
                </c:pt>
                <c:pt idx="1">
                  <c:v>247</c:v>
                </c:pt>
                <c:pt idx="2">
                  <c:v>133</c:v>
                </c:pt>
                <c:pt idx="3">
                  <c:v>132</c:v>
                </c:pt>
                <c:pt idx="4">
                  <c:v>60</c:v>
                </c:pt>
              </c:numCache>
            </c:numRef>
          </c:val>
        </c:ser>
        <c:dLbls>
          <c:numFmt formatCode="0" sourceLinked="0"/>
          <c:txPr>
            <a:bodyPr/>
            <a:lstStyle/>
            <a:p>
              <a:pPr>
                <a:defRPr b="0" i="0" strike="noStrike" sz="1200" u="none">
                  <a:solidFill>
                    <a:srgbClr val="FFFFFF"/>
                  </a:solidFill>
                  <a:latin typeface="Space Grotesk"/>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FFFFFF"/>
                </a:solidFill>
                <a:latin typeface="Space Grotesk"/>
              </a:defRPr>
            </a:pPr>
            <a:endParaRPr lang="en-US"/>
          </a:p>
        </c:txPr>
        <c:crossAx val="2094734552"/>
        <c:crosses val="autoZero"/>
        <c:auto val="1"/>
        <c:lblAlgn val="ctr"/>
        <c:noMultiLvlLbl val="1"/>
      </c:catAx>
      <c:valAx>
        <c:axId val="2094734552"/>
        <c:scaling>
          <c:orientation val="minMax"/>
          <c:max val="400"/>
          <c:min val="0"/>
        </c:scaling>
        <c:delete val="0"/>
        <c:axPos val="l"/>
        <c:majorGridlines>
          <c:spPr>
            <a:ln w="12700" cap="flat">
              <a:solidFill>
                <a:srgbClr val="1C524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DBDB0"/>
                </a:solidFill>
                <a:latin typeface="Space Grotesk"/>
              </a:defRPr>
            </a:pPr>
            <a:endParaRPr lang="en-US"/>
          </a:p>
        </c:txPr>
        <c:crossAx val="2094734554"/>
        <c:crosses val="autoZero"/>
        <c:crossBetween val="between"/>
        <c:majorUnit val="1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NFI overall</c:v>
                </c:pt>
              </c:strCache>
            </c:strRef>
          </c:tx>
          <c:spPr>
            <a:solidFill>
              <a:srgbClr val="5E8478"/>
            </a:solidFill>
            <a:effectLst/>
          </c:spPr>
          <c:invertIfNegative val="0"/>
          <c:dLbls>
            <c:numFmt formatCode="0.0&quot;%&quot;" sourceLinked="0"/>
            <c:txPr>
              <a:bodyPr/>
              <a:lstStyle/>
              <a:p>
                <a:pPr>
                  <a:defRPr b="0" i="0" strike="noStrike" sz="1300" u="none">
                    <a:solidFill>
                      <a:srgbClr val="FFFFFF"/>
                    </a:solidFill>
                    <a:latin typeface="Space Grotesk"/>
                  </a:defRPr>
                </a:pPr>
              </a:p>
            </c:txPr>
            <c:showLegendKey val="0"/>
            <c:showVal val="1"/>
            <c:showCatName val="0"/>
            <c:showSerName val="0"/>
            <c:showPercent val="0"/>
            <c:showBubbleSize val="0"/>
            <c:showLeaderLines val="0"/>
          </c:dLbls>
          <c:dPt>
            <c:idx val="0"/>
            <c:invertIfNegative val="0"/>
            <c:bubble3D val="0"/>
            <c:spPr>
              <a:solidFill>
                <a:srgbClr val="5E8478"/>
              </a:solidFill>
              <a:effectLst/>
            </c:spPr>
          </c:dPt>
          <c:dPt>
            <c:idx val="1"/>
            <c:invertIfNegative val="0"/>
            <c:bubble3D val="0"/>
            <c:spPr>
              <a:solidFill>
                <a:srgbClr val="5E8478"/>
              </a:solidFill>
              <a:effectLst/>
            </c:spPr>
          </c:dPt>
          <c:dPt>
            <c:idx val="2"/>
            <c:invertIfNegative val="0"/>
            <c:bubble3D val="0"/>
            <c:spPr>
              <a:solidFill>
                <a:srgbClr val="FFFFFF"/>
              </a:solidFill>
              <a:effectLst/>
            </c:spPr>
          </c:dPt>
          <c:dPt>
            <c:idx val="3"/>
            <c:invertIfNegative val="0"/>
            <c:bubble3D val="0"/>
            <c:spPr>
              <a:solidFill>
                <a:srgbClr val="FF826C"/>
              </a:solidFill>
              <a:effectLst/>
            </c:spPr>
          </c:dPt>
          <c:dPt>
            <c:idx val="4"/>
            <c:invertIfNegative val="0"/>
            <c:bubble3D val="0"/>
            <c:spPr>
              <a:solidFill>
                <a:srgbClr val="CDFCE3"/>
              </a:solidFill>
              <a:effectLst/>
            </c:spPr>
          </c:dPt>
          <c:cat>
            <c:multiLvlStrRef>
              <c:f>Sheet1!$A$2:$A$6</c:f>
              <c:multiLvlStrCache>
                <c:ptCount val="5"/>
                <c:lvl>
                  <c:pt idx="0">
                    <c:v>v8b (NMD2018)</c:v>
                  </c:pt>
                  <c:pt idx="1">
                    <c:v>NMD2023 labels</c:v>
                  </c:pt>
                  <c:pt idx="2">
                    <c:v>NMD2023 itself</c:v>
                  </c:pt>
                  <c:pt idx="3">
                    <c:v>Distilled</c:v>
                  </c:pt>
                  <c:pt idx="4">
                    <c:v>NFI head (OOF)</c:v>
                  </c:pt>
                </c:lvl>
              </c:multiLvlStrCache>
            </c:multiLvlStrRef>
          </c:cat>
          <c:val>
            <c:numRef>
              <c:f>Sheet1!$B$2:$B$6</c:f>
              <c:numCache>
                <c:formatCode>General</c:formatCode>
                <c:ptCount val="5"/>
                <c:pt idx="0">
                  <c:v>46.5</c:v>
                </c:pt>
                <c:pt idx="1">
                  <c:v>46</c:v>
                </c:pt>
                <c:pt idx="2">
                  <c:v>49.3</c:v>
                </c:pt>
                <c:pt idx="3">
                  <c:v>52.7</c:v>
                </c:pt>
                <c:pt idx="4">
                  <c:v>63.7</c:v>
                </c:pt>
              </c:numCache>
            </c:numRef>
          </c:val>
        </c:ser>
        <c:dLbls>
          <c:numFmt formatCode="0.0&quot;%&quot;" sourceLinked="0"/>
          <c:txPr>
            <a:bodyPr/>
            <a:lstStyle/>
            <a:p>
              <a:pPr>
                <a:defRPr b="0" i="0" strike="noStrike" sz="1300" u="none">
                  <a:solidFill>
                    <a:srgbClr val="FFFFFF"/>
                  </a:solidFill>
                  <a:latin typeface="Space Grotesk"/>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FFFFFF"/>
                </a:solidFill>
                <a:latin typeface="Space Grotesk"/>
              </a:defRPr>
            </a:pPr>
            <a:endParaRPr lang="en-US"/>
          </a:p>
        </c:txPr>
        <c:crossAx val="2094734552"/>
        <c:crosses val="autoZero"/>
        <c:auto val="1"/>
        <c:lblAlgn val="ctr"/>
        <c:noMultiLvlLbl val="1"/>
      </c:catAx>
      <c:valAx>
        <c:axId val="2094734552"/>
        <c:scaling>
          <c:orientation val="minMax"/>
          <c:max val="68"/>
          <c:min val="40"/>
        </c:scaling>
        <c:delete val="0"/>
        <c:axPos val="l"/>
        <c:majorGridlines>
          <c:spPr>
            <a:ln w="12700" cap="flat">
              <a:solidFill>
                <a:srgbClr val="1C524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DBDB0"/>
                </a:solidFill>
                <a:latin typeface="Space Grotesk"/>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overall</c:v>
                </c:pt>
              </c:strCache>
            </c:strRef>
          </c:tx>
          <c:spPr>
            <a:solidFill>
              <a:srgbClr val="5E8478"/>
            </a:solidFill>
            <a:effectLst/>
          </c:spPr>
          <c:invertIfNegative val="0"/>
          <c:dLbls>
            <c:numFmt formatCode="0.0&quot;%&quot;" sourceLinked="0"/>
            <c:txPr>
              <a:bodyPr/>
              <a:lstStyle/>
              <a:p>
                <a:pPr>
                  <a:defRPr b="0" i="0" strike="noStrike" sz="1500" u="none">
                    <a:solidFill>
                      <a:srgbClr val="FFFFFF"/>
                    </a:solidFill>
                    <a:latin typeface="Space Grotesk"/>
                  </a:defRPr>
                </a:pPr>
              </a:p>
            </c:txPr>
            <c:showLegendKey val="0"/>
            <c:showVal val="1"/>
            <c:showCatName val="0"/>
            <c:showSerName val="0"/>
            <c:showPercent val="0"/>
            <c:showBubbleSize val="0"/>
            <c:showLeaderLines val="0"/>
          </c:dLbls>
          <c:dPt>
            <c:idx val="0"/>
            <c:invertIfNegative val="0"/>
            <c:bubble3D val="0"/>
            <c:spPr>
              <a:solidFill>
                <a:srgbClr val="5E8478"/>
              </a:solidFill>
              <a:effectLst/>
            </c:spPr>
          </c:dPt>
          <c:dPt>
            <c:idx val="1"/>
            <c:invertIfNegative val="0"/>
            <c:bubble3D val="0"/>
            <c:spPr>
              <a:solidFill>
                <a:srgbClr val="FF826C"/>
              </a:solidFill>
              <a:effectLst/>
            </c:spPr>
          </c:dPt>
          <c:dPt>
            <c:idx val="2"/>
            <c:invertIfNegative val="0"/>
            <c:bubble3D val="0"/>
            <c:spPr>
              <a:solidFill>
                <a:srgbClr val="CDFCE3"/>
              </a:solidFill>
              <a:effectLst/>
            </c:spPr>
          </c:dPt>
          <c:cat>
            <c:multiLvlStrRef>
              <c:f>Sheet1!$A$2:$A$4</c:f>
              <c:multiLvlStrCache>
                <c:ptCount val="3"/>
                <c:lvl>
                  <c:pt idx="0">
                    <c:v>NMD2023</c:v>
                  </c:pt>
                  <c:pt idx="1">
                    <c:v>Distilled (28-class)</c:v>
                  </c:pt>
                  <c:pt idx="2">
                    <c:v>Forest-type fractions</c:v>
                  </c:pt>
                </c:lvl>
              </c:multiLvlStrCache>
            </c:multiLvlStrRef>
          </c:cat>
          <c:val>
            <c:numRef>
              <c:f>Sheet1!$B$2:$B$4</c:f>
              <c:numCache>
                <c:formatCode>General</c:formatCode>
                <c:ptCount val="3"/>
                <c:pt idx="0">
                  <c:v>43.1</c:v>
                </c:pt>
                <c:pt idx="1">
                  <c:v>50.2</c:v>
                </c:pt>
                <c:pt idx="2">
                  <c:v>57.9</c:v>
                </c:pt>
              </c:numCache>
            </c:numRef>
          </c:val>
        </c:ser>
        <c:dLbls>
          <c:numFmt formatCode="0.0&quot;%&quot;" sourceLinked="0"/>
          <c:txPr>
            <a:bodyPr/>
            <a:lstStyle/>
            <a:p>
              <a:pPr>
                <a:defRPr b="0" i="0" strike="noStrike" sz="1500" u="none">
                  <a:solidFill>
                    <a:srgbClr val="FFFFFF"/>
                  </a:solidFill>
                  <a:latin typeface="Space Grotesk"/>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FFFFF"/>
                </a:solidFill>
                <a:latin typeface="Space Grotesk"/>
              </a:defRPr>
            </a:pPr>
            <a:endParaRPr lang="en-US"/>
          </a:p>
        </c:txPr>
        <c:crossAx val="2094734552"/>
        <c:crosses val="autoZero"/>
        <c:auto val="1"/>
        <c:lblAlgn val="ctr"/>
        <c:noMultiLvlLbl val="1"/>
      </c:catAx>
      <c:valAx>
        <c:axId val="2094734552"/>
        <c:scaling>
          <c:orientation val="minMax"/>
          <c:max val="62"/>
          <c:min val="35"/>
        </c:scaling>
        <c:delete val="0"/>
        <c:axPos val="l"/>
        <c:majorGridlines>
          <c:spPr>
            <a:ln w="12700" cap="flat">
              <a:solidFill>
                <a:srgbClr val="1C524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9DBDB0"/>
                </a:solidFill>
                <a:latin typeface="Space Grotesk"/>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NFI held-out</c:v>
                </c:pt>
              </c:strCache>
            </c:strRef>
          </c:tx>
          <c:spPr>
            <a:solidFill>
              <a:srgbClr val="5E8478"/>
            </a:solidFill>
            <a:effectLst/>
          </c:spPr>
          <c:invertIfNegative val="0"/>
          <c:dLbls>
            <c:numFmt formatCode="0.0&quot;%&quot;" sourceLinked="0"/>
            <c:txPr>
              <a:bodyPr/>
              <a:lstStyle/>
              <a:p>
                <a:pPr>
                  <a:defRPr b="0" i="0" strike="noStrike" sz="1500" u="none">
                    <a:solidFill>
                      <a:srgbClr val="FFFFFF"/>
                    </a:solidFill>
                    <a:latin typeface="Space Grotesk"/>
                  </a:defRPr>
                </a:pPr>
              </a:p>
            </c:txPr>
            <c:showLegendKey val="0"/>
            <c:showVal val="1"/>
            <c:showCatName val="0"/>
            <c:showSerName val="0"/>
            <c:showPercent val="0"/>
            <c:showBubbleSize val="0"/>
            <c:showLeaderLines val="0"/>
          </c:dLbls>
          <c:dPt>
            <c:idx val="0"/>
            <c:invertIfNegative val="0"/>
            <c:bubble3D val="0"/>
            <c:spPr>
              <a:solidFill>
                <a:srgbClr val="5E8478"/>
              </a:solidFill>
              <a:effectLst/>
            </c:spPr>
          </c:dPt>
          <c:dPt>
            <c:idx val="1"/>
            <c:invertIfNegative val="0"/>
            <c:bubble3D val="0"/>
            <c:spPr>
              <a:solidFill>
                <a:srgbClr val="FF826C"/>
              </a:solidFill>
              <a:effectLst/>
            </c:spPr>
          </c:dPt>
          <c:dPt>
            <c:idx val="2"/>
            <c:invertIfNegative val="0"/>
            <c:bubble3D val="0"/>
            <c:spPr>
              <a:solidFill>
                <a:srgbClr val="CDFCE3"/>
              </a:solidFill>
              <a:effectLst/>
            </c:spPr>
          </c:dPt>
          <c:cat>
            <c:multiLvlStrRef>
              <c:f>Sheet1!$A$2:$A$4</c:f>
              <c:multiLvlStrCache>
                <c:ptCount val="3"/>
                <c:lvl>
                  <c:pt idx="0">
                    <c:v>NMD2023
teacher</c:v>
                  </c:pt>
                  <c:pt idx="1">
                    <c:v>Student
28-class</c:v>
                  </c:pt>
                  <c:pt idx="2">
                    <c:v>Student
forest-type</c:v>
                  </c:pt>
                </c:lvl>
              </c:multiLvlStrCache>
            </c:multiLvlStrRef>
          </c:cat>
          <c:val>
            <c:numRef>
              <c:f>Sheet1!$B$2:$B$4</c:f>
              <c:numCache>
                <c:formatCode>General</c:formatCode>
                <c:ptCount val="3"/>
                <c:pt idx="0">
                  <c:v>43.1</c:v>
                </c:pt>
                <c:pt idx="1">
                  <c:v>50.2</c:v>
                </c:pt>
                <c:pt idx="2">
                  <c:v>57.9</c:v>
                </c:pt>
              </c:numCache>
            </c:numRef>
          </c:val>
        </c:ser>
        <c:dLbls>
          <c:numFmt formatCode="0.0&quot;%&quot;" sourceLinked="0"/>
          <c:txPr>
            <a:bodyPr/>
            <a:lstStyle/>
            <a:p>
              <a:pPr>
                <a:defRPr b="0" i="0" strike="noStrike" sz="1500" u="none">
                  <a:solidFill>
                    <a:srgbClr val="FFFFFF"/>
                  </a:solidFill>
                  <a:latin typeface="Space Grotesk"/>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FFFFFF"/>
                </a:solidFill>
                <a:latin typeface="Space Grotesk"/>
              </a:defRPr>
            </a:pPr>
            <a:endParaRPr lang="en-US"/>
          </a:p>
        </c:txPr>
        <c:crossAx val="2094734552"/>
        <c:crosses val="autoZero"/>
        <c:auto val="1"/>
        <c:lblAlgn val="ctr"/>
        <c:noMultiLvlLbl val="1"/>
      </c:catAx>
      <c:valAx>
        <c:axId val="2094734552"/>
        <c:scaling>
          <c:orientation val="minMax"/>
          <c:max val="62"/>
          <c:min val="40"/>
        </c:scaling>
        <c:delete val="0"/>
        <c:axPos val="l"/>
        <c:majorGridlines>
          <c:spPr>
            <a:ln w="12700" cap="flat">
              <a:solidFill>
                <a:srgbClr val="1C524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9DBDB0"/>
                </a:solidFill>
                <a:latin typeface="Space Grotesk"/>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Prithvi-600M</c:v>
                </c:pt>
              </c:strCache>
            </c:strRef>
          </c:tx>
          <c:spPr>
            <a:solidFill>
              <a:srgbClr val="5E8478"/>
            </a:solidFill>
            <a:effectLst/>
          </c:spPr>
          <c:invertIfNegative val="0"/>
          <c:dLbls>
            <c:numFmt formatCode="0.000" sourceLinked="0"/>
            <c:txPr>
              <a:bodyPr/>
              <a:lstStyle/>
              <a:p>
                <a:pPr>
                  <a:defRPr b="0" i="0" strike="noStrike" sz="1050" u="none">
                    <a:solidFill>
                      <a:srgbClr val="FFFFFF"/>
                    </a:solidFill>
                    <a:latin typeface="Space Grotesk"/>
                  </a:defRPr>
                </a:pPr>
              </a:p>
            </c:txPr>
            <c:showLegendKey val="0"/>
            <c:showVal val="1"/>
            <c:showCatName val="0"/>
            <c:showSerName val="0"/>
            <c:showPercent val="0"/>
            <c:showBubbleSize val="0"/>
            <c:showLeaderLines val="0"/>
          </c:dLbls>
          <c:cat>
            <c:multiLvlStrRef>
              <c:f>Sheet1!$A$2:$A$4</c:f>
              <c:multiLvlStrCache>
                <c:ptCount val="3"/>
                <c:lvl>
                  <c:pt idx="0">
                    <c:v>NFI-209</c:v>
                  </c:pt>
                  <c:pt idx="1">
                    <c:v>LUCAS-28</c:v>
                  </c:pt>
                  <c:pt idx="2">
                    <c:v>LUCAS-frac</c:v>
                  </c:pt>
                </c:lvl>
              </c:multiLvlStrCache>
            </c:multiLvlStrRef>
          </c:cat>
          <c:val>
            <c:numRef>
              <c:f>Sheet1!$B$2:$B$4</c:f>
              <c:numCache>
                <c:formatCode>General</c:formatCode>
                <c:ptCount val="3"/>
                <c:pt idx="0">
                  <c:v>0.579</c:v>
                </c:pt>
                <c:pt idx="1">
                  <c:v>0.477</c:v>
                </c:pt>
                <c:pt idx="2">
                  <c:v>0.784</c:v>
                </c:pt>
              </c:numCache>
            </c:numRef>
          </c:val>
        </c:ser>
        <c:ser>
          <c:idx val="1"/>
          <c:order val="1"/>
          <c:tx>
            <c:strRef>
              <c:f>Sheet1!$C$1</c:f>
              <c:strCache>
                <c:ptCount val="1"/>
                <c:pt idx="0">
                  <c:v>Tessera</c:v>
                </c:pt>
              </c:strCache>
            </c:strRef>
          </c:tx>
          <c:spPr>
            <a:solidFill>
              <a:srgbClr val="CDFCE3"/>
            </a:solidFill>
            <a:effectLst/>
          </c:spPr>
          <c:invertIfNegative val="0"/>
          <c:dLbls>
            <c:numFmt formatCode="0.000" sourceLinked="0"/>
            <c:txPr>
              <a:bodyPr/>
              <a:lstStyle/>
              <a:p>
                <a:pPr>
                  <a:defRPr b="0" i="0" strike="noStrike" sz="1050" u="none">
                    <a:solidFill>
                      <a:srgbClr val="FFFFFF"/>
                    </a:solidFill>
                    <a:latin typeface="Space Grotesk"/>
                  </a:defRPr>
                </a:pPr>
              </a:p>
            </c:txPr>
            <c:showLegendKey val="0"/>
            <c:showVal val="1"/>
            <c:showCatName val="0"/>
            <c:showSerName val="0"/>
            <c:showPercent val="0"/>
            <c:showBubbleSize val="0"/>
            <c:showLeaderLines val="0"/>
          </c:dLbls>
          <c:cat>
            <c:multiLvlStrRef>
              <c:f>Sheet1!$A$2:$A$4</c:f>
              <c:multiLvlStrCache>
                <c:ptCount val="3"/>
                <c:lvl>
                  <c:pt idx="0">
                    <c:v>NFI-209</c:v>
                  </c:pt>
                  <c:pt idx="1">
                    <c:v>LUCAS-28</c:v>
                  </c:pt>
                  <c:pt idx="2">
                    <c:v>LUCAS-frac</c:v>
                  </c:pt>
                </c:lvl>
              </c:multiLvlStrCache>
            </c:multiLvlStrRef>
          </c:cat>
          <c:val>
            <c:numRef>
              <c:f>Sheet1!$C$2:$C$4</c:f>
              <c:numCache>
                <c:formatCode>General</c:formatCode>
                <c:ptCount val="3"/>
                <c:pt idx="0">
                  <c:v>0.589</c:v>
                </c:pt>
                <c:pt idx="1">
                  <c:v>0.499</c:v>
                </c:pt>
                <c:pt idx="2">
                  <c:v>0.809</c:v>
                </c:pt>
              </c:numCache>
            </c:numRef>
          </c:val>
        </c:ser>
        <c:dLbls>
          <c:numFmt formatCode="0.000" sourceLinked="0"/>
          <c:txPr>
            <a:bodyPr/>
            <a:lstStyle/>
            <a:p>
              <a:pPr>
                <a:defRPr b="0" i="0" strike="noStrike" sz="1050" u="none">
                  <a:solidFill>
                    <a:srgbClr val="FFFFFF"/>
                  </a:solidFill>
                  <a:latin typeface="Space Grotesk"/>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FFFFF"/>
                </a:solidFill>
                <a:latin typeface="Space Grotesk"/>
              </a:defRPr>
            </a:pPr>
            <a:endParaRPr lang="en-US"/>
          </a:p>
        </c:txPr>
        <c:crossAx val="2094734552"/>
        <c:crosses val="autoZero"/>
        <c:auto val="1"/>
        <c:lblAlgn val="ctr"/>
        <c:noMultiLvlLbl val="1"/>
      </c:catAx>
      <c:valAx>
        <c:axId val="2094734552"/>
        <c:scaling>
          <c:orientation val="minMax"/>
          <c:max val="0.85"/>
          <c:min val="0.4"/>
        </c:scaling>
        <c:delete val="0"/>
        <c:axPos val="l"/>
        <c:majorGridlines>
          <c:spPr>
            <a:ln w="12700" cap="flat">
              <a:solidFill>
                <a:srgbClr val="1C5248"/>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DBDB0"/>
                </a:solidFill>
                <a:latin typeface="Space Grotesk"/>
              </a:defRPr>
            </a:pPr>
            <a:endParaRPr lang="en-US"/>
          </a:p>
        </c:txPr>
        <c:crossAx val="2094734554"/>
        <c:crosses val="autoZero"/>
        <c:crossBetween val="between"/>
        <c:majorUnit val="0.1"/>
      </c:valAx>
      <c:spPr>
        <a:noFill/>
        <a:ln>
          <a:noFill/>
        </a:ln>
        <a:effectLst/>
      </c:spPr>
    </c:plotArea>
    <c:legend>
      <c:legendPos val="b"/>
      <c:overlay val="0"/>
      <c:txPr>
        <a:bodyPr/>
        <a:lstStyle/>
        <a:p>
          <a:pPr>
            <a:defRPr sz="1200">
              <a:solidFill>
                <a:srgbClr val="FFFFFF"/>
              </a:solidFill>
              <a:latin typeface="Space Grotesk"/>
              <a:cs typeface="Space Grotesk"/>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NFI held-out forest-type OA</c:v>
                </c:pt>
              </c:strCache>
            </c:strRef>
          </c:tx>
          <c:spPr>
            <a:solidFill>
              <a:srgbClr val="CDFCE3"/>
            </a:solidFill>
            <a:effectLst/>
          </c:spPr>
          <c:invertIfNegative val="0"/>
          <c:dLbls>
            <c:numFmt formatCode="0.000" sourceLinked="0"/>
            <c:txPr>
              <a:bodyPr/>
              <a:lstStyle/>
              <a:p>
                <a:pPr>
                  <a:defRPr b="0" i="0" strike="noStrike" sz="1200" u="none">
                    <a:solidFill>
                      <a:srgbClr val="FFFFFF"/>
                    </a:solidFill>
                    <a:latin typeface="Space Grotesk"/>
                  </a:defRPr>
                </a:pPr>
              </a:p>
            </c:txPr>
            <c:showLegendKey val="0"/>
            <c:showVal val="1"/>
            <c:showCatName val="0"/>
            <c:showSerName val="0"/>
            <c:showPercent val="0"/>
            <c:showBubbleSize val="0"/>
            <c:showLeaderLines val="0"/>
          </c:dLbls>
          <c:dPt>
            <c:idx val="0"/>
            <c:invertIfNegative val="0"/>
            <c:bubble3D val="0"/>
            <c:spPr>
              <a:solidFill>
                <a:srgbClr val="CDFCE3"/>
              </a:solidFill>
              <a:effectLst/>
            </c:spPr>
          </c:dPt>
          <c:dPt>
            <c:idx val="1"/>
            <c:invertIfNegative val="0"/>
            <c:bubble3D val="0"/>
            <c:spPr>
              <a:solidFill>
                <a:srgbClr val="FF826C"/>
              </a:solidFill>
              <a:effectLst/>
            </c:spPr>
          </c:dPt>
          <c:dPt>
            <c:idx val="2"/>
            <c:invertIfNegative val="0"/>
            <c:bubble3D val="0"/>
            <c:spPr>
              <a:solidFill>
                <a:srgbClr val="5E8478"/>
              </a:solidFill>
              <a:effectLst/>
            </c:spPr>
          </c:dPt>
          <c:dPt>
            <c:idx val="3"/>
            <c:invertIfNegative val="0"/>
            <c:bubble3D val="0"/>
            <c:spPr>
              <a:solidFill>
                <a:srgbClr val="5E8478"/>
              </a:solidFill>
              <a:effectLst/>
            </c:spPr>
          </c:dPt>
          <c:cat>
            <c:multiLvlStrRef>
              <c:f>Sheet1!$A$2:$A$5</c:f>
              <c:multiLvlStrCache>
                <c:ptCount val="4"/>
                <c:lvl>
                  <c:pt idx="0">
                    <c:v>Tessera  p1</c:v>
                  </c:pt>
                  <c:pt idx="1">
                    <c:v>Clay  p8</c:v>
                  </c:pt>
                  <c:pt idx="2">
                    <c:v>Prithvi-600M  p14</c:v>
                  </c:pt>
                  <c:pt idx="3">
                    <c:v>Prithvi-300M  p16</c:v>
                  </c:pt>
                </c:lvl>
              </c:multiLvlStrCache>
            </c:multiLvlStrRef>
          </c:cat>
          <c:val>
            <c:numRef>
              <c:f>Sheet1!$B$2:$B$5</c:f>
              <c:numCache>
                <c:formatCode>General</c:formatCode>
                <c:ptCount val="4"/>
                <c:pt idx="0">
                  <c:v>0.589</c:v>
                </c:pt>
                <c:pt idx="1">
                  <c:v>0.435</c:v>
                </c:pt>
                <c:pt idx="2">
                  <c:v>0.579</c:v>
                </c:pt>
                <c:pt idx="3">
                  <c:v>0.545</c:v>
                </c:pt>
              </c:numCache>
            </c:numRef>
          </c:val>
        </c:ser>
        <c:dLbls>
          <c:numFmt formatCode="0.000" sourceLinked="0"/>
          <c:txPr>
            <a:bodyPr/>
            <a:lstStyle/>
            <a:p>
              <a:pPr>
                <a:defRPr b="0" i="0" strike="noStrike" sz="1200" u="none">
                  <a:solidFill>
                    <a:srgbClr val="FFFFFF"/>
                  </a:solidFill>
                  <a:latin typeface="Space Grotesk"/>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FFFFFF"/>
                </a:solidFill>
                <a:latin typeface="Space Grotesk"/>
              </a:defRPr>
            </a:pPr>
            <a:endParaRPr lang="en-US"/>
          </a:p>
        </c:txPr>
        <c:crossAx val="2094734552"/>
        <c:crosses val="autoZero"/>
        <c:auto val="1"/>
        <c:lblAlgn val="ctr"/>
        <c:noMultiLvlLbl val="1"/>
      </c:catAx>
      <c:valAx>
        <c:axId val="2094734552"/>
        <c:scaling>
          <c:orientation val="minMax"/>
          <c:max val="0.62"/>
          <c:min val="0.4"/>
        </c:scaling>
        <c:delete val="0"/>
        <c:axPos val="l"/>
        <c:majorGridlines>
          <c:spPr>
            <a:ln w="12700" cap="flat">
              <a:solidFill>
                <a:srgbClr val="1C5248"/>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DBDB0"/>
                </a:solidFill>
                <a:latin typeface="Space Grotesk"/>
              </a:defRPr>
            </a:pPr>
            <a:endParaRPr lang="en-US"/>
          </a:p>
        </c:txPr>
        <c:crossAx val="2094734554"/>
        <c:crosses val="autoZero"/>
        <c:crossBetween val="between"/>
        <c:majorUnit val="0.05"/>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L2a agreement</c:v>
                </c:pt>
              </c:strCache>
            </c:strRef>
          </c:tx>
          <c:spPr>
            <a:solidFill>
              <a:srgbClr val="CDFCE3"/>
            </a:solidFill>
            <a:effectLst/>
          </c:spPr>
          <c:invertIfNegative val="0"/>
          <c:dLbls>
            <c:numFmt formatCode="0.000" sourceLinked="0"/>
            <c:txPr>
              <a:bodyPr/>
              <a:lstStyle/>
              <a:p>
                <a:pPr>
                  <a:defRPr b="0" i="0" strike="noStrike" sz="1400" u="none">
                    <a:solidFill>
                      <a:srgbClr val="FFFFFF"/>
                    </a:solidFill>
                    <a:latin typeface="Space Grotesk"/>
                  </a:defRPr>
                </a:pPr>
              </a:p>
            </c:txPr>
            <c:showLegendKey val="0"/>
            <c:showVal val="1"/>
            <c:showCatName val="0"/>
            <c:showSerName val="0"/>
            <c:showPercent val="0"/>
            <c:showBubbleSize val="0"/>
            <c:showLeaderLines val="0"/>
          </c:dLbls>
          <c:dPt>
            <c:idx val="0"/>
            <c:invertIfNegative val="0"/>
            <c:bubble3D val="0"/>
            <c:spPr>
              <a:solidFill>
                <a:srgbClr val="CDFCE3"/>
              </a:solidFill>
              <a:effectLst/>
            </c:spPr>
          </c:dPt>
          <c:dPt>
            <c:idx val="1"/>
            <c:invertIfNegative val="0"/>
            <c:bubble3D val="0"/>
            <c:spPr>
              <a:solidFill>
                <a:srgbClr val="5E8478"/>
              </a:solidFill>
              <a:effectLst/>
            </c:spPr>
          </c:dPt>
          <c:cat>
            <c:multiLvlStrRef>
              <c:f>Sheet1!$A$2:$A$3</c:f>
              <c:multiLvlStrCache>
                <c:ptCount val="2"/>
                <c:lvl>
                  <c:pt idx="0">
                    <c:v>Tessera</c:v>
                  </c:pt>
                  <c:pt idx="1">
                    <c:v>Prithvi-600M</c:v>
                  </c:pt>
                </c:lvl>
              </c:multiLvlStrCache>
            </c:multiLvlStrRef>
          </c:cat>
          <c:val>
            <c:numRef>
              <c:f>Sheet1!$B$2:$B$3</c:f>
              <c:numCache>
                <c:formatCode>General</c:formatCode>
                <c:ptCount val="2"/>
                <c:pt idx="0">
                  <c:v>0.809</c:v>
                </c:pt>
                <c:pt idx="1">
                  <c:v>0.784</c:v>
                </c:pt>
              </c:numCache>
            </c:numRef>
          </c:val>
        </c:ser>
        <c:dLbls>
          <c:numFmt formatCode="0.000" sourceLinked="0"/>
          <c:txPr>
            <a:bodyPr/>
            <a:lstStyle/>
            <a:p>
              <a:pPr>
                <a:defRPr b="0" i="0" strike="noStrike" sz="1400" u="none">
                  <a:solidFill>
                    <a:srgbClr val="FFFFFF"/>
                  </a:solidFill>
                  <a:latin typeface="Space Grotesk"/>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FFFFFF"/>
                </a:solidFill>
                <a:latin typeface="Space Grotesk"/>
              </a:defRPr>
            </a:pPr>
            <a:endParaRPr lang="en-US"/>
          </a:p>
        </c:txPr>
        <c:crossAx val="2094734552"/>
        <c:crosses val="autoZero"/>
        <c:auto val="1"/>
        <c:lblAlgn val="ctr"/>
        <c:noMultiLvlLbl val="1"/>
      </c:catAx>
      <c:valAx>
        <c:axId val="2094734552"/>
        <c:scaling>
          <c:orientation val="minMax"/>
          <c:max val="0.84"/>
          <c:min val="0.7"/>
        </c:scaling>
        <c:delete val="0"/>
        <c:axPos val="b"/>
        <c:majorGridlines>
          <c:spPr>
            <a:ln w="12700" cap="flat">
              <a:solidFill>
                <a:srgbClr val="1C5248"/>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9DBDB0"/>
                </a:solidFill>
                <a:latin typeface="Space Grotesk"/>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agreement</c:v>
                </c:pt>
              </c:strCache>
            </c:strRef>
          </c:tx>
          <c:spPr>
            <a:solidFill>
              <a:srgbClr val="CDFCE3"/>
            </a:solidFill>
            <a:effectLst/>
          </c:spPr>
          <c:invertIfNegative val="0"/>
          <c:dLbls>
            <c:numFmt formatCode="0.00" sourceLinked="0"/>
            <c:txPr>
              <a:bodyPr/>
              <a:lstStyle/>
              <a:p>
                <a:pPr>
                  <a:defRPr b="0" i="0" strike="noStrike" sz="1300" u="none">
                    <a:solidFill>
                      <a:srgbClr val="FFFFFF"/>
                    </a:solidFill>
                    <a:latin typeface="Space Grotesk"/>
                  </a:defRPr>
                </a:pPr>
              </a:p>
            </c:txPr>
            <c:showLegendKey val="0"/>
            <c:showVal val="1"/>
            <c:showCatName val="0"/>
            <c:showSerName val="0"/>
            <c:showPercent val="0"/>
            <c:showBubbleSize val="0"/>
            <c:showLeaderLines val="0"/>
          </c:dLbls>
          <c:cat>
            <c:multiLvlStrRef>
              <c:f>Sheet1!$A$2:$A$5</c:f>
              <c:multiLvlStrCache>
                <c:ptCount val="4"/>
                <c:lvl>
                  <c:pt idx="0">
                    <c:v>Sugar-beet</c:v>
                  </c:pt>
                  <c:pt idx="1">
                    <c:v>Potato</c:v>
                  </c:pt>
                  <c:pt idx="2">
                    <c:v>Barley</c:v>
                  </c:pt>
                  <c:pt idx="3">
                    <c:v>Wheat</c:v>
                  </c:pt>
                </c:lvl>
              </c:multiLvlStrCache>
            </c:multiLvlStrRef>
          </c:cat>
          <c:val>
            <c:numRef>
              <c:f>Sheet1!$B$2:$B$5</c:f>
              <c:numCache>
                <c:formatCode>General</c:formatCode>
                <c:ptCount val="4"/>
                <c:pt idx="0">
                  <c:v>0.91</c:v>
                </c:pt>
                <c:pt idx="1">
                  <c:v>0.9</c:v>
                </c:pt>
                <c:pt idx="2">
                  <c:v>0.85</c:v>
                </c:pt>
                <c:pt idx="3">
                  <c:v>0.78</c:v>
                </c:pt>
              </c:numCache>
            </c:numRef>
          </c:val>
        </c:ser>
        <c:dLbls>
          <c:numFmt formatCode="0.00" sourceLinked="0"/>
          <c:txPr>
            <a:bodyPr/>
            <a:lstStyle/>
            <a:p>
              <a:pPr>
                <a:defRPr b="0" i="0" strike="noStrike" sz="1300" u="none">
                  <a:solidFill>
                    <a:srgbClr val="FFFFFF"/>
                  </a:solidFill>
                  <a:latin typeface="Space Grotesk"/>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FFFFFF"/>
                </a:solidFill>
                <a:latin typeface="Space Grotesk"/>
              </a:defRPr>
            </a:pPr>
            <a:endParaRPr lang="en-US"/>
          </a:p>
        </c:txPr>
        <c:crossAx val="2094734552"/>
        <c:crosses val="autoZero"/>
        <c:auto val="1"/>
        <c:lblAlgn val="ctr"/>
        <c:noMultiLvlLbl val="1"/>
      </c:catAx>
      <c:valAx>
        <c:axId val="2094734552"/>
        <c:scaling>
          <c:orientation val="minMax"/>
          <c:max val="0.95"/>
          <c:min val="0.7"/>
        </c:scaling>
        <c:delete val="0"/>
        <c:axPos val="b"/>
        <c:majorGridlines>
          <c:spPr>
            <a:ln w="12700" cap="flat">
              <a:solidFill>
                <a:srgbClr val="1C5248"/>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9DBDB0"/>
                </a:solidFill>
                <a:latin typeface="Space Grotesk"/>
              </a:defRPr>
            </a:pPr>
            <a:endParaRPr lang="en-US"/>
          </a:p>
        </c:txPr>
        <c:crossAx val="2094734554"/>
        <c:crosses val="autoZero"/>
        <c:crossBetween val="between"/>
        <c:majorUnit val="0.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headline: a model trained on Sweden's national land-cover map ends up more accurate than that map, when both are scored on independent field plots. I'll show how field calibration breaks a ceiling that hard labels impose. Four datasets underpin the work: 28 unified classes, 7,882 Sentinel-2 tiles, 944 NFI plots and over 34,000 LUCAS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premise: NMD is everywhere used as ground truth, but it is itself a model output. A student model can denoise its teacher, yet classical distillation is bounded by the teacher's accuracy. So the scientific question is whether the ceiling lives in the representation or in the label. Answering that requires evaluation on real field data, which is what the rest of the talk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worlds of data. On the left, the training signal: nearly 8,000 Sentinel-2 tiles labelled by the NMD2023 map, four temporal frames each. On the right, independent field truth we never train on — NFI plots, LUCAS points and LPIS crop parcels. That separation is what makes the later comparisons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made concrete: the same tile shown as its actual inputs. The first two panels are two renderings of one Sentinel-2 frame — true colour and false-colour near-infrared — and there are four such temporal frames, six bands each, giving 24 spectral channels. The next three panels are auxiliary layers: Copernicus terrain, SLU forest canopy height, and a Copernicus phenology metric; eleven auxiliary channels in total — four SLU forestry metrics, the DEM, five HR-VPP phenology features, and SLU soil moisture. The last panel is the training target: the 28-class label, merged from NMD2023 land cover, LPIS crop parcels rasterised from year-matched agricultural codes, and Skogsstyrelsen clear-cut notifications, after quality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and its balance. The bar at the top shows the 28 classes split by their source survey: ten NMD land-cover classes, eleven LPIS crop classes, a single SKS clear-cut class, and five classes new in NMD2023. The distribution is deeply uneven. On the field-truth side, of 944 NFI plots 884 are forest and only 60 non-forest; within forest, pine and spruce alone are seventy percent, with deciduous and mixed around fifteen percent each. The training labels inherit the same skew — forest everywhere, crops in a thin southern band, clear-cuts rarer still. That imbalance is why the rare classes have the widest error bars and why our thin held-out set limits statistical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a Prithvi-EO-2.0 600M foundation backbone consumes four temporal frames and eleven auxiliary channels — forestry stand metrics, a DEM, and phenology. It carries two heads: a 28-class land-cover head and a forest-type fraction head. We also run a Tessera backbone on frozen, precomputed embeddings so we can ask whether an expensive encoder is even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Rigor matters more than the headline. We split by tile, not by plot, so nothing spatially adjacent leaks across the train-test boundary. Every threshold and collapse rule is calibrated only on the 735 training plots. The NMD2023 baseline is scored on the identical 209 held-out plots. And three independent field sources — NFI, LUCAS, LPIS — cross-check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finding. The three left-hand bars — different NMD generations as the training target — all sit around 46 to 49 percent. Distillation nudges it to 52.7. But take the identical features and supervise with NFI field data, and out-of-fold accuracy jumps to 63.7 percent. The representation was never the bottleneck; the label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held-out plots the numbers speak for themselves: NMD2023 scores 43.1 percent, the distilled 28-class model 50.2, and the forest-type fraction layer 57.9. Kappa climbs from 0.30 to 0.42. Crucially, all thresholds were fit only on the training plots, so this is a clean generalization result, not a tuned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scientific hook: in classical distillation a student is bounded by its teacher. Here the student, trained only on NMD2023 labels, beats it on independent NFI field truth — 50.2 versus 43.1 percent overall, and 57.9 on forest type, gains of 7.1 and 14.8 points. Kappa rises from 0.30 to 0.42. Three reasons: label noise averages out over nearly 8,000 tiles, field truth exposes the teacher's own errors that self-scoring hides, and four temporal frames plus eleven aux channels encode more than a single-date label ever could.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Qualitatively, the same 5-by-5 kilometre tile through five lenses. Left to right: the 2018 NMD label, our model trained on 2018, the 2023 NMD label, the distilled Prithvi model, and Tessera. Both models' outputs are visibly crisper and more coherent than the labels they learned from — denoising you can see, not just measure — and Tessera matches the 600-million-parameter Prithvi from a frozen, precomputed embedding.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by class, the story is nuanced. The distilled model wins spruce and non-forest; the fraction layer wins pine, at F1 0.74, and deciduous. Non-forest is a structural zero for the fraction path — by design it only assigns forest type, so production pairs it with a hard forest mask. No single column dominates every row, which is why we ship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natural question: does ensembling help? We tried six members and an out-of-fold-locked stacked combiner. It reaches 0.617 versus 0.579 for the single best member — but McNemar's p is 0.37 and the bootstrap confidence interval on the gap spans zero. Adding an encoder-diverse Tessera member changed almost nothing. Honestly reported: the ensemble is within noise. We do not ship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race the two backbones directly on the same field-calibrated target across three independent truths. On NFI-209 forest type Tessera scores 0.589 to Prithvi's 0.579; on the LUCAS 28-class task 0.499 to 0.477; on LUCAS forest fraction 0.809 to 0.784. Tessera is at least as good on all three. But it runs on precomputed 128-dimensional embeddings — no 600-million-parameter forward pass at train or inference time. A statistical tie on accuracy, a decisive win on compute: Tessera is the deployment winner.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five-way foundation-model race on the identical field-calibrated target, all scored the same way on the held-out NFI plots. The intuition going in was 'resolution beats size' — a finer patch should see more detail. The data refutes it: Clay, at patch-8, is finer than either Prithvi (patch-14 and patch-16) yet lands dead last at 0.435, well below Prithvi-600M's 0.579 and Prithvi-300M's 0.545. So patch size alone does not gate accuracy — encoder quality does. Tessera wins not merely because it is effectively patch-1, but because it pairs that with a strong pretrained representation. Two more points, CROMA at patch-8 and TerraMind at patch-16, are retraining on the new S1 data and will complete the curve. This is the model-race result C9 and the reformulated C6.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entirely separate truth source: over ten thousand year-matched LUCAS points. On the 28-class task Tessera leads at 0.499; on threshold-free forest fraction it reaches 0.809 dominant-species agreement, again ahead of Prithvi. Both backbones struggle with spruce at around 0.54 — that is a shared task limit, not a model quirk. LUCAS independently confirms the NFI ordering.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pure label sanity check, no model involved. Nearly 80 percent of LUCAS crop points land on a year-matched LPIS parcel, and excluding pasture the two surveys agree at 0.81 — sugar-beet and potato above 0.90. Pasture looks low at 0.25, but 87 percent is still grass in LPIS: the two surveys simply draw the ley-versus-pasture line differently. Our crop labels are independently well-founded.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take away. First, the supervision target — not the feature representation — was the ceiling. Second, representation is cheap: frozen Tessera embeddings match a 600-million-parameter encoder. Third, ensembling doesn't pay because the members are correlated. Fourth, the hard classes — spruce, open land, shrub — are hard for every backbone and every truth source, so they are a data limit we should target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the boundaries. The held-out set is thin at 209 plots, so several close comparisons are genuinely within noise. Spruce stays weak everywhere. Crops demand strict year-matching. The ley-versus-pasture ambiguity is a survey-definition problem, not a model error. And LUCAS-LPIS overlap is only about a third of crop points. More field data — especially spruce — is the clearest path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field calibration wins on independent truth, beating the very map it learned from. For deployment we recommend the distilled 28-class base paired with the forest-type fraction layer, and Tessera's cheap embeddings to run it. Skip the ensemble — the gain is within noise. All figures trace to the finding documents on the last line.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594360" y="960120"/>
            <a:ext cx="10972800" cy="1097280"/>
          </a:xfrm>
          <a:prstGeom prst="rect">
            <a:avLst/>
          </a:prstGeom>
          <a:noFill/>
          <a:ln/>
        </p:spPr>
        <p:txBody>
          <a:bodyPr wrap="square" lIns="0" tIns="0" rIns="0" bIns="0" rtlCol="0" anchor="ctr"/>
          <a:lstStyle/>
          <a:p>
            <a:pPr indent="0" marL="0">
              <a:buNone/>
            </a:pPr>
            <a:r>
              <a:rPr lang="en-US" sz="5800" b="1" dirty="0">
                <a:solidFill>
                  <a:srgbClr val="FFFFFF"/>
                </a:solidFill>
                <a:latin typeface="Space Grotesk" pitchFamily="34" charset="0"/>
                <a:ea typeface="Space Grotesk" pitchFamily="34" charset="-122"/>
                <a:cs typeface="Space Grotesk" pitchFamily="34" charset="-120"/>
              </a:rPr>
              <a:t>Breaking the label ceiling</a:t>
            </a:r>
            <a:endParaRPr lang="en-US" sz="5800" dirty="0"/>
          </a:p>
        </p:txBody>
      </p:sp>
      <p:sp>
        <p:nvSpPr>
          <p:cNvPr id="4" name="Text 2"/>
          <p:cNvSpPr/>
          <p:nvPr/>
        </p:nvSpPr>
        <p:spPr>
          <a:xfrm>
            <a:off x="658368" y="2148840"/>
            <a:ext cx="10972800" cy="548640"/>
          </a:xfrm>
          <a:prstGeom prst="rect">
            <a:avLst/>
          </a:prstGeom>
          <a:noFill/>
          <a:ln/>
        </p:spPr>
        <p:txBody>
          <a:bodyPr wrap="square" lIns="0" tIns="0" rIns="0" bIns="0" rtlCol="0" anchor="ctr"/>
          <a:lstStyle/>
          <a:p>
            <a:pPr indent="0" marL="0">
              <a:buNone/>
            </a:pPr>
            <a:r>
              <a:rPr lang="en-US" sz="2200" dirty="0">
                <a:solidFill>
                  <a:srgbClr val="CDFCE3"/>
                </a:solidFill>
                <a:latin typeface="Space Grotesk" pitchFamily="34" charset="0"/>
                <a:ea typeface="Space Grotesk" pitchFamily="34" charset="-122"/>
                <a:cs typeface="Space Grotesk" pitchFamily="34" charset="-120"/>
              </a:rPr>
              <a:t>Field-calibrated land-cover mapping for Sweden</a:t>
            </a:r>
            <a:endParaRPr lang="en-US" sz="2200" dirty="0"/>
          </a:p>
        </p:txBody>
      </p:sp>
      <p:sp>
        <p:nvSpPr>
          <p:cNvPr id="5" name="Shape 3"/>
          <p:cNvSpPr/>
          <p:nvPr/>
        </p:nvSpPr>
        <p:spPr>
          <a:xfrm>
            <a:off x="640080" y="2971800"/>
            <a:ext cx="10881360" cy="1417320"/>
          </a:xfrm>
          <a:prstGeom prst="roundRect">
            <a:avLst>
              <a:gd name="adj" fmla="val 7742"/>
            </a:avLst>
          </a:prstGeom>
          <a:solidFill>
            <a:srgbClr val="145043"/>
          </a:solidFill>
          <a:ln/>
          <a:effectLst>
            <a:outerShdw sx="100000" sy="100000" kx="0" ky="0" algn="bl" rotWithShape="0" blurRad="127000" dist="38100" dir="5400000">
              <a:srgbClr val="000000">
                <a:alpha val="40000"/>
              </a:srgbClr>
            </a:outerShdw>
          </a:effectLst>
        </p:spPr>
      </p:sp>
      <p:sp>
        <p:nvSpPr>
          <p:cNvPr id="6" name="Text 4"/>
          <p:cNvSpPr/>
          <p:nvPr/>
        </p:nvSpPr>
        <p:spPr>
          <a:xfrm>
            <a:off x="960120" y="3200400"/>
            <a:ext cx="10241280" cy="1005840"/>
          </a:xfrm>
          <a:prstGeom prst="rect">
            <a:avLst/>
          </a:prstGeom>
          <a:noFill/>
          <a:ln/>
        </p:spPr>
        <p:txBody>
          <a:bodyPr wrap="square" lIns="0" tIns="0" rIns="0" bIns="0" rtlCol="0" anchor="ctr"/>
          <a:lstStyle/>
          <a:p>
            <a:pPr indent="0" marL="0">
              <a:lnSpc>
                <a:spcPct val="105000"/>
              </a:lnSpc>
              <a:buNone/>
            </a:pPr>
            <a:r>
              <a:rPr lang="en-US" sz="2200" b="1" dirty="0">
                <a:solidFill>
                  <a:srgbClr val="FFFFFF"/>
                </a:solidFill>
                <a:latin typeface="Space Grotesk" pitchFamily="34" charset="0"/>
                <a:ea typeface="Space Grotesk" pitchFamily="34" charset="-122"/>
                <a:cs typeface="Space Grotesk" pitchFamily="34" charset="-120"/>
              </a:rPr>
              <a:t>On 209 held-out field plots the model reaches </a:t>
            </a:r>
            <a:pPr indent="0" marL="0">
              <a:lnSpc>
                <a:spcPct val="105000"/>
              </a:lnSpc>
              <a:buNone/>
            </a:pPr>
            <a:r>
              <a:rPr lang="en-US" sz="2200" b="1" dirty="0">
                <a:solidFill>
                  <a:srgbClr val="FF826C"/>
                </a:solidFill>
                <a:latin typeface="Space Grotesk" pitchFamily="34" charset="0"/>
                <a:ea typeface="Space Grotesk" pitchFamily="34" charset="-122"/>
                <a:cs typeface="Space Grotesk" pitchFamily="34" charset="-120"/>
              </a:rPr>
              <a:t>50.2%</a:t>
            </a:r>
            <a:pPr indent="0" marL="0">
              <a:lnSpc>
                <a:spcPct val="105000"/>
              </a:lnSpc>
              <a:buNone/>
            </a:pPr>
            <a:r>
              <a:rPr lang="en-US" sz="2200" b="1" dirty="0">
                <a:solidFill>
                  <a:srgbClr val="FFFFFF"/>
                </a:solidFill>
                <a:latin typeface="Space Grotesk" pitchFamily="34" charset="0"/>
                <a:ea typeface="Space Grotesk" pitchFamily="34" charset="-122"/>
                <a:cs typeface="Space Grotesk" pitchFamily="34" charset="-120"/>
              </a:rPr>
              <a:t> and its forest-type layer </a:t>
            </a:r>
            <a:pPr indent="0" marL="0">
              <a:lnSpc>
                <a:spcPct val="105000"/>
              </a:lnSpc>
              <a:buNone/>
            </a:pPr>
            <a:r>
              <a:rPr lang="en-US" sz="2200" b="1" dirty="0">
                <a:solidFill>
                  <a:srgbClr val="CDFCE3"/>
                </a:solidFill>
                <a:latin typeface="Space Grotesk" pitchFamily="34" charset="0"/>
                <a:ea typeface="Space Grotesk" pitchFamily="34" charset="-122"/>
                <a:cs typeface="Space Grotesk" pitchFamily="34" charset="-120"/>
              </a:rPr>
              <a:t>57.9%</a:t>
            </a:r>
            <a:pPr indent="0" marL="0">
              <a:lnSpc>
                <a:spcPct val="105000"/>
              </a:lnSpc>
              <a:buNone/>
            </a:pPr>
            <a:r>
              <a:rPr lang="en-US" sz="2200" b="1" dirty="0">
                <a:solidFill>
                  <a:srgbClr val="FFFFFF"/>
                </a:solidFill>
                <a:latin typeface="Space Grotesk" pitchFamily="34" charset="0"/>
                <a:ea typeface="Space Grotesk" pitchFamily="34" charset="-122"/>
                <a:cs typeface="Space Grotesk" pitchFamily="34" charset="-120"/>
              </a:rPr>
              <a:t> — versus </a:t>
            </a:r>
            <a:pPr indent="0" marL="0">
              <a:lnSpc>
                <a:spcPct val="105000"/>
              </a:lnSpc>
              <a:buNone/>
            </a:pPr>
            <a:r>
              <a:rPr lang="en-US" sz="2200" b="1" dirty="0">
                <a:solidFill>
                  <a:srgbClr val="FFFFFF"/>
                </a:solidFill>
                <a:latin typeface="Space Grotesk" pitchFamily="34" charset="0"/>
                <a:ea typeface="Space Grotesk" pitchFamily="34" charset="-122"/>
                <a:cs typeface="Space Grotesk" pitchFamily="34" charset="-120"/>
              </a:rPr>
              <a:t>43.1%</a:t>
            </a:r>
            <a:pPr indent="0" marL="0">
              <a:lnSpc>
                <a:spcPct val="105000"/>
              </a:lnSpc>
              <a:buNone/>
            </a:pPr>
            <a:r>
              <a:rPr lang="en-US" sz="2200" b="1" dirty="0">
                <a:solidFill>
                  <a:srgbClr val="FFFFFF"/>
                </a:solidFill>
                <a:latin typeface="Space Grotesk" pitchFamily="34" charset="0"/>
                <a:ea typeface="Space Grotesk" pitchFamily="34" charset="-122"/>
                <a:cs typeface="Space Grotesk" pitchFamily="34" charset="-120"/>
              </a:rPr>
              <a:t> for the NMD2023 map it was trained on.</a:t>
            </a:r>
            <a:endParaRPr lang="en-US" sz="2200" dirty="0"/>
          </a:p>
        </p:txBody>
      </p:sp>
      <p:sp>
        <p:nvSpPr>
          <p:cNvPr id="7" name="Shape 5"/>
          <p:cNvSpPr/>
          <p:nvPr/>
        </p:nvSpPr>
        <p:spPr>
          <a:xfrm>
            <a:off x="640080" y="4754880"/>
            <a:ext cx="2651760" cy="1417320"/>
          </a:xfrm>
          <a:prstGeom prst="roundRect">
            <a:avLst>
              <a:gd name="adj" fmla="val 5806"/>
            </a:avLst>
          </a:prstGeom>
          <a:solidFill>
            <a:srgbClr val="145043"/>
          </a:solidFill>
          <a:ln/>
          <a:effectLst>
            <a:outerShdw sx="100000" sy="100000" kx="0" ky="0" algn="bl" rotWithShape="0" blurRad="101600" dist="38100" dir="5400000">
              <a:srgbClr val="000000">
                <a:alpha val="35000"/>
              </a:srgbClr>
            </a:outerShdw>
          </a:effectLst>
        </p:spPr>
      </p:sp>
      <p:sp>
        <p:nvSpPr>
          <p:cNvPr id="8" name="Text 6"/>
          <p:cNvSpPr/>
          <p:nvPr/>
        </p:nvSpPr>
        <p:spPr>
          <a:xfrm>
            <a:off x="731520" y="4882896"/>
            <a:ext cx="2468880" cy="708660"/>
          </a:xfrm>
          <a:prstGeom prst="rect">
            <a:avLst/>
          </a:prstGeom>
          <a:noFill/>
          <a:ln/>
        </p:spPr>
        <p:txBody>
          <a:bodyPr wrap="square" lIns="0" tIns="0" rIns="0" bIns="0" rtlCol="0" anchor="ctr"/>
          <a:lstStyle/>
          <a:p>
            <a:pPr algn="ctr" indent="0" marL="0">
              <a:buNone/>
            </a:pPr>
            <a:r>
              <a:rPr lang="en-US" sz="2800" b="1" dirty="0">
                <a:solidFill>
                  <a:srgbClr val="CDFCE3"/>
                </a:solidFill>
                <a:latin typeface="Space Grotesk" pitchFamily="34" charset="0"/>
                <a:ea typeface="Space Grotesk" pitchFamily="34" charset="-122"/>
                <a:cs typeface="Space Grotesk" pitchFamily="34" charset="-120"/>
              </a:rPr>
              <a:t>28</a:t>
            </a:r>
            <a:endParaRPr lang="en-US" sz="2800" dirty="0"/>
          </a:p>
        </p:txBody>
      </p:sp>
      <p:sp>
        <p:nvSpPr>
          <p:cNvPr id="9" name="Text 7"/>
          <p:cNvSpPr/>
          <p:nvPr/>
        </p:nvSpPr>
        <p:spPr>
          <a:xfrm>
            <a:off x="749808" y="5576926"/>
            <a:ext cx="2432304" cy="566928"/>
          </a:xfrm>
          <a:prstGeom prst="rect">
            <a:avLst/>
          </a:prstGeom>
          <a:noFill/>
          <a:ln/>
        </p:spPr>
        <p:txBody>
          <a:bodyPr wrap="square" lIns="0" tIns="0" rIns="0" bIns="0" rtlCol="0" anchor="t"/>
          <a:lstStyle/>
          <a:p>
            <a:pPr algn="ctr" indent="0" marL="0">
              <a:lnSpc>
                <a:spcPct val="100000"/>
              </a:lnSpc>
              <a:buNone/>
            </a:pPr>
            <a:r>
              <a:rPr lang="en-US" sz="1200" dirty="0">
                <a:solidFill>
                  <a:srgbClr val="9DBDB0"/>
                </a:solidFill>
                <a:latin typeface="Space Grotesk" pitchFamily="34" charset="0"/>
                <a:ea typeface="Space Grotesk" pitchFamily="34" charset="-122"/>
                <a:cs typeface="Space Grotesk" pitchFamily="34" charset="-120"/>
              </a:rPr>
              <a:t>unified classes</a:t>
            </a:r>
            <a:endParaRPr lang="en-US" sz="1200" dirty="0"/>
          </a:p>
        </p:txBody>
      </p:sp>
      <p:sp>
        <p:nvSpPr>
          <p:cNvPr id="10" name="Shape 8"/>
          <p:cNvSpPr/>
          <p:nvPr/>
        </p:nvSpPr>
        <p:spPr>
          <a:xfrm>
            <a:off x="3401568" y="4754880"/>
            <a:ext cx="2651760" cy="1417320"/>
          </a:xfrm>
          <a:prstGeom prst="roundRect">
            <a:avLst>
              <a:gd name="adj" fmla="val 5806"/>
            </a:avLst>
          </a:prstGeom>
          <a:solidFill>
            <a:srgbClr val="145043"/>
          </a:solidFill>
          <a:ln/>
          <a:effectLst>
            <a:outerShdw sx="100000" sy="100000" kx="0" ky="0" algn="bl" rotWithShape="0" blurRad="101600" dist="38100" dir="5400000">
              <a:srgbClr val="000000">
                <a:alpha val="35000"/>
              </a:srgbClr>
            </a:outerShdw>
          </a:effectLst>
        </p:spPr>
      </p:sp>
      <p:sp>
        <p:nvSpPr>
          <p:cNvPr id="11" name="Text 9"/>
          <p:cNvSpPr/>
          <p:nvPr/>
        </p:nvSpPr>
        <p:spPr>
          <a:xfrm>
            <a:off x="3493008" y="4882896"/>
            <a:ext cx="2468880" cy="708660"/>
          </a:xfrm>
          <a:prstGeom prst="rect">
            <a:avLst/>
          </a:prstGeom>
          <a:noFill/>
          <a:ln/>
        </p:spPr>
        <p:txBody>
          <a:bodyPr wrap="square" lIns="0" tIns="0" rIns="0" bIns="0" rtlCol="0" anchor="ctr"/>
          <a:lstStyle/>
          <a:p>
            <a:pPr algn="ctr" indent="0" marL="0">
              <a:buNone/>
            </a:pPr>
            <a:r>
              <a:rPr lang="en-US" sz="2800" b="1" dirty="0">
                <a:solidFill>
                  <a:srgbClr val="FFFFFF"/>
                </a:solidFill>
                <a:latin typeface="Space Grotesk" pitchFamily="34" charset="0"/>
                <a:ea typeface="Space Grotesk" pitchFamily="34" charset="-122"/>
                <a:cs typeface="Space Grotesk" pitchFamily="34" charset="-120"/>
              </a:rPr>
              <a:t>7,882</a:t>
            </a:r>
            <a:endParaRPr lang="en-US" sz="2800" dirty="0"/>
          </a:p>
        </p:txBody>
      </p:sp>
      <p:sp>
        <p:nvSpPr>
          <p:cNvPr id="12" name="Text 10"/>
          <p:cNvSpPr/>
          <p:nvPr/>
        </p:nvSpPr>
        <p:spPr>
          <a:xfrm>
            <a:off x="3511296" y="5576926"/>
            <a:ext cx="2432304" cy="566928"/>
          </a:xfrm>
          <a:prstGeom prst="rect">
            <a:avLst/>
          </a:prstGeom>
          <a:noFill/>
          <a:ln/>
        </p:spPr>
        <p:txBody>
          <a:bodyPr wrap="square" lIns="0" tIns="0" rIns="0" bIns="0" rtlCol="0" anchor="t"/>
          <a:lstStyle/>
          <a:p>
            <a:pPr algn="ctr" indent="0" marL="0">
              <a:lnSpc>
                <a:spcPct val="100000"/>
              </a:lnSpc>
              <a:buNone/>
            </a:pPr>
            <a:r>
              <a:rPr lang="en-US" sz="1200" dirty="0">
                <a:solidFill>
                  <a:srgbClr val="9DBDB0"/>
                </a:solidFill>
                <a:latin typeface="Space Grotesk" pitchFamily="34" charset="0"/>
                <a:ea typeface="Space Grotesk" pitchFamily="34" charset="-122"/>
                <a:cs typeface="Space Grotesk" pitchFamily="34" charset="-120"/>
              </a:rPr>
              <a:t>Sentinel-2 tiles</a:t>
            </a:r>
            <a:endParaRPr lang="en-US" sz="1200" dirty="0"/>
          </a:p>
        </p:txBody>
      </p:sp>
      <p:sp>
        <p:nvSpPr>
          <p:cNvPr id="13" name="Shape 11"/>
          <p:cNvSpPr/>
          <p:nvPr/>
        </p:nvSpPr>
        <p:spPr>
          <a:xfrm>
            <a:off x="6163056" y="4754880"/>
            <a:ext cx="2651760" cy="1417320"/>
          </a:xfrm>
          <a:prstGeom prst="roundRect">
            <a:avLst>
              <a:gd name="adj" fmla="val 5806"/>
            </a:avLst>
          </a:prstGeom>
          <a:solidFill>
            <a:srgbClr val="145043"/>
          </a:solidFill>
          <a:ln/>
          <a:effectLst>
            <a:outerShdw sx="100000" sy="100000" kx="0" ky="0" algn="bl" rotWithShape="0" blurRad="101600" dist="38100" dir="5400000">
              <a:srgbClr val="000000">
                <a:alpha val="35000"/>
              </a:srgbClr>
            </a:outerShdw>
          </a:effectLst>
        </p:spPr>
      </p:sp>
      <p:sp>
        <p:nvSpPr>
          <p:cNvPr id="14" name="Text 12"/>
          <p:cNvSpPr/>
          <p:nvPr/>
        </p:nvSpPr>
        <p:spPr>
          <a:xfrm>
            <a:off x="6254496" y="4882896"/>
            <a:ext cx="2468880" cy="708660"/>
          </a:xfrm>
          <a:prstGeom prst="rect">
            <a:avLst/>
          </a:prstGeom>
          <a:noFill/>
          <a:ln/>
        </p:spPr>
        <p:txBody>
          <a:bodyPr wrap="square" lIns="0" tIns="0" rIns="0" bIns="0" rtlCol="0" anchor="ctr"/>
          <a:lstStyle/>
          <a:p>
            <a:pPr algn="ctr" indent="0" marL="0">
              <a:buNone/>
            </a:pPr>
            <a:r>
              <a:rPr lang="en-US" sz="2800" b="1" dirty="0">
                <a:solidFill>
                  <a:srgbClr val="FFFFFF"/>
                </a:solidFill>
                <a:latin typeface="Space Grotesk" pitchFamily="34" charset="0"/>
                <a:ea typeface="Space Grotesk" pitchFamily="34" charset="-122"/>
                <a:cs typeface="Space Grotesk" pitchFamily="34" charset="-120"/>
              </a:rPr>
              <a:t>944</a:t>
            </a:r>
            <a:endParaRPr lang="en-US" sz="2800" dirty="0"/>
          </a:p>
        </p:txBody>
      </p:sp>
      <p:sp>
        <p:nvSpPr>
          <p:cNvPr id="15" name="Text 13"/>
          <p:cNvSpPr/>
          <p:nvPr/>
        </p:nvSpPr>
        <p:spPr>
          <a:xfrm>
            <a:off x="6272784" y="5576926"/>
            <a:ext cx="2432304" cy="566928"/>
          </a:xfrm>
          <a:prstGeom prst="rect">
            <a:avLst/>
          </a:prstGeom>
          <a:noFill/>
          <a:ln/>
        </p:spPr>
        <p:txBody>
          <a:bodyPr wrap="square" lIns="0" tIns="0" rIns="0" bIns="0" rtlCol="0" anchor="t"/>
          <a:lstStyle/>
          <a:p>
            <a:pPr algn="ctr" indent="0" marL="0">
              <a:lnSpc>
                <a:spcPct val="100000"/>
              </a:lnSpc>
              <a:buNone/>
            </a:pPr>
            <a:r>
              <a:rPr lang="en-US" sz="1200" dirty="0">
                <a:solidFill>
                  <a:srgbClr val="9DBDB0"/>
                </a:solidFill>
                <a:latin typeface="Space Grotesk" pitchFamily="34" charset="0"/>
                <a:ea typeface="Space Grotesk" pitchFamily="34" charset="-122"/>
                <a:cs typeface="Space Grotesk" pitchFamily="34" charset="-120"/>
              </a:rPr>
              <a:t>NFI field plots</a:t>
            </a:r>
            <a:endParaRPr lang="en-US" sz="1200" dirty="0"/>
          </a:p>
        </p:txBody>
      </p:sp>
      <p:sp>
        <p:nvSpPr>
          <p:cNvPr id="16" name="Shape 14"/>
          <p:cNvSpPr/>
          <p:nvPr/>
        </p:nvSpPr>
        <p:spPr>
          <a:xfrm>
            <a:off x="8924544" y="4754880"/>
            <a:ext cx="2651760" cy="1417320"/>
          </a:xfrm>
          <a:prstGeom prst="roundRect">
            <a:avLst>
              <a:gd name="adj" fmla="val 5806"/>
            </a:avLst>
          </a:prstGeom>
          <a:solidFill>
            <a:srgbClr val="145043"/>
          </a:solidFill>
          <a:ln/>
          <a:effectLst>
            <a:outerShdw sx="100000" sy="100000" kx="0" ky="0" algn="bl" rotWithShape="0" blurRad="101600" dist="38100" dir="5400000">
              <a:srgbClr val="000000">
                <a:alpha val="35000"/>
              </a:srgbClr>
            </a:outerShdw>
          </a:effectLst>
        </p:spPr>
      </p:sp>
      <p:sp>
        <p:nvSpPr>
          <p:cNvPr id="17" name="Text 15"/>
          <p:cNvSpPr/>
          <p:nvPr/>
        </p:nvSpPr>
        <p:spPr>
          <a:xfrm>
            <a:off x="9015984" y="4882896"/>
            <a:ext cx="2468880" cy="708660"/>
          </a:xfrm>
          <a:prstGeom prst="rect">
            <a:avLst/>
          </a:prstGeom>
          <a:noFill/>
          <a:ln/>
        </p:spPr>
        <p:txBody>
          <a:bodyPr wrap="square" lIns="0" tIns="0" rIns="0" bIns="0" rtlCol="0" anchor="ctr"/>
          <a:lstStyle/>
          <a:p>
            <a:pPr algn="ctr" indent="0" marL="0">
              <a:buNone/>
            </a:pPr>
            <a:r>
              <a:rPr lang="en-US" sz="2800" b="1" dirty="0">
                <a:solidFill>
                  <a:srgbClr val="FFFFFF"/>
                </a:solidFill>
                <a:latin typeface="Space Grotesk" pitchFamily="34" charset="0"/>
                <a:ea typeface="Space Grotesk" pitchFamily="34" charset="-122"/>
                <a:cs typeface="Space Grotesk" pitchFamily="34" charset="-120"/>
              </a:rPr>
              <a:t>34,480</a:t>
            </a:r>
            <a:endParaRPr lang="en-US" sz="2800" dirty="0"/>
          </a:p>
        </p:txBody>
      </p:sp>
      <p:sp>
        <p:nvSpPr>
          <p:cNvPr id="18" name="Text 16"/>
          <p:cNvSpPr/>
          <p:nvPr/>
        </p:nvSpPr>
        <p:spPr>
          <a:xfrm>
            <a:off x="9034272" y="5576926"/>
            <a:ext cx="2432304" cy="566928"/>
          </a:xfrm>
          <a:prstGeom prst="rect">
            <a:avLst/>
          </a:prstGeom>
          <a:noFill/>
          <a:ln/>
        </p:spPr>
        <p:txBody>
          <a:bodyPr wrap="square" lIns="0" tIns="0" rIns="0" bIns="0" rtlCol="0" anchor="t"/>
          <a:lstStyle/>
          <a:p>
            <a:pPr algn="ctr" indent="0" marL="0">
              <a:lnSpc>
                <a:spcPct val="100000"/>
              </a:lnSpc>
              <a:buNone/>
            </a:pPr>
            <a:r>
              <a:rPr lang="en-US" sz="1200" dirty="0">
                <a:solidFill>
                  <a:srgbClr val="9DBDB0"/>
                </a:solidFill>
                <a:latin typeface="Space Grotesk" pitchFamily="34" charset="0"/>
                <a:ea typeface="Space Grotesk" pitchFamily="34" charset="-122"/>
                <a:cs typeface="Space Grotesk" pitchFamily="34" charset="-120"/>
              </a:rPr>
              <a:t>LUCAS points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640080" y="384048"/>
            <a:ext cx="1088136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Space Grotesk" pitchFamily="34" charset="0"/>
                <a:ea typeface="Space Grotesk" pitchFamily="34" charset="-122"/>
                <a:cs typeface="Space Grotesk" pitchFamily="34" charset="-120"/>
              </a:rPr>
              <a:t>The label-ceiling question</a:t>
            </a:r>
            <a:endParaRPr lang="en-US" sz="3200" dirty="0"/>
          </a:p>
        </p:txBody>
      </p:sp>
      <p:sp>
        <p:nvSpPr>
          <p:cNvPr id="4" name="Text 2"/>
          <p:cNvSpPr/>
          <p:nvPr/>
        </p:nvSpPr>
        <p:spPr>
          <a:xfrm>
            <a:off x="731520" y="1234440"/>
            <a:ext cx="10698480" cy="640080"/>
          </a:xfrm>
          <a:prstGeom prst="rect">
            <a:avLst/>
          </a:prstGeom>
          <a:noFill/>
          <a:ln/>
        </p:spPr>
        <p:txBody>
          <a:bodyPr wrap="square" lIns="0" tIns="0" rIns="0" bIns="0" rtlCol="0" anchor="ctr"/>
          <a:lstStyle/>
          <a:p>
            <a:pPr algn="l" indent="0" marL="0">
              <a:lnSpc>
                <a:spcPct val="115000"/>
              </a:lnSpc>
              <a:buNone/>
            </a:pPr>
            <a:r>
              <a:rPr lang="en-US" sz="1600" dirty="0">
                <a:solidFill>
                  <a:srgbClr val="CDFCE3"/>
                </a:solidFill>
                <a:latin typeface="Space Grotesk" pitchFamily="34" charset="0"/>
                <a:ea typeface="Space Grotesk" pitchFamily="34" charset="-122"/>
                <a:cs typeface="Space Grotesk" pitchFamily="34" charset="-120"/>
              </a:rPr>
              <a:t>The national land-cover map (NMD) is Sweden's standard reference — but it is a modelled proxy, not field truth. Can a model trained on it beat it?</a:t>
            </a:r>
            <a:endParaRPr lang="en-US" sz="1600" dirty="0"/>
          </a:p>
        </p:txBody>
      </p:sp>
      <p:sp>
        <p:nvSpPr>
          <p:cNvPr id="5" name="Text 3"/>
          <p:cNvSpPr/>
          <p:nvPr/>
        </p:nvSpPr>
        <p:spPr>
          <a:xfrm>
            <a:off x="731520" y="1965960"/>
            <a:ext cx="6400800" cy="411480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500" dirty="0">
                <a:solidFill>
                  <a:srgbClr val="FFFFFF"/>
                </a:solidFill>
                <a:latin typeface="Space Grotesk" pitchFamily="34" charset="0"/>
                <a:ea typeface="Space Grotesk" pitchFamily="34" charset="-122"/>
                <a:cs typeface="Space Grotesk" pitchFamily="34" charset="-120"/>
              </a:rPr>
              <a:t>NMD is produced from satellite imagery and modelling — it carries its own class errors.</a:t>
            </a:r>
            <a:endParaRPr lang="en-US" sz="1500" dirty="0"/>
          </a:p>
          <a:p>
            <a:pPr marL="177800" indent="-177800">
              <a:lnSpc>
                <a:spcPct val="115000"/>
              </a:lnSpc>
              <a:spcAft>
                <a:spcPts val="800"/>
              </a:spcAft>
              <a:buSzPct val="100000"/>
              <a:buChar char="•"/>
            </a:pPr>
            <a:r>
              <a:rPr lang="en-US" sz="1500" dirty="0">
                <a:solidFill>
                  <a:srgbClr val="FFFFFF"/>
                </a:solidFill>
                <a:latin typeface="Space Grotesk" pitchFamily="34" charset="0"/>
                <a:ea typeface="Space Grotesk" pitchFamily="34" charset="-122"/>
                <a:cs typeface="Space Grotesk" pitchFamily="34" charset="-120"/>
              </a:rPr>
              <a:t>Distillation can denoise a teacher, but only up to the teacher's own accuracy.</a:t>
            </a:r>
            <a:endParaRPr lang="en-US" sz="1500" dirty="0"/>
          </a:p>
          <a:p>
            <a:pPr marL="177800" indent="-177800">
              <a:lnSpc>
                <a:spcPct val="115000"/>
              </a:lnSpc>
              <a:spcAft>
                <a:spcPts val="800"/>
              </a:spcAft>
              <a:buSzPct val="100000"/>
              <a:buChar char="•"/>
            </a:pPr>
            <a:r>
              <a:rPr lang="en-US" sz="1500" dirty="0">
                <a:solidFill>
                  <a:srgbClr val="FFFFFF"/>
                </a:solidFill>
                <a:latin typeface="Space Grotesk" pitchFamily="34" charset="0"/>
                <a:ea typeface="Space Grotesk" pitchFamily="34" charset="-122"/>
                <a:cs typeface="Space Grotesk" pitchFamily="34" charset="-120"/>
              </a:rPr>
              <a:t>The open question: is the ceiling the representation (features), or the supervision target (labels)?</a:t>
            </a:r>
            <a:endParaRPr lang="en-US" sz="1500" dirty="0"/>
          </a:p>
          <a:p>
            <a:pPr marL="177800" indent="-177800">
              <a:lnSpc>
                <a:spcPct val="115000"/>
              </a:lnSpc>
              <a:spcAft>
                <a:spcPts val="800"/>
              </a:spcAft>
              <a:buSzPct val="100000"/>
              <a:buChar char="•"/>
            </a:pPr>
            <a:r>
              <a:rPr lang="en-US" sz="1500" dirty="0">
                <a:solidFill>
                  <a:srgbClr val="FFFFFF"/>
                </a:solidFill>
                <a:latin typeface="Space Grotesk" pitchFamily="34" charset="0"/>
                <a:ea typeface="Space Grotesk" pitchFamily="34" charset="-122"/>
                <a:cs typeface="Space Grotesk" pitchFamily="34" charset="-120"/>
              </a:rPr>
              <a:t>To answer it we need supervision and evaluation grounded in the field — not in NMD.</a:t>
            </a:r>
            <a:endParaRPr lang="en-US" sz="1500" dirty="0"/>
          </a:p>
        </p:txBody>
      </p:sp>
      <p:sp>
        <p:nvSpPr>
          <p:cNvPr id="6" name="Shape 4"/>
          <p:cNvSpPr/>
          <p:nvPr/>
        </p:nvSpPr>
        <p:spPr>
          <a:xfrm>
            <a:off x="7498080" y="1965960"/>
            <a:ext cx="3977640" cy="3246120"/>
          </a:xfrm>
          <a:prstGeom prst="roundRect">
            <a:avLst>
              <a:gd name="adj" fmla="val 2817"/>
            </a:avLst>
          </a:prstGeom>
          <a:solidFill>
            <a:srgbClr val="145043"/>
          </a:solidFill>
          <a:ln/>
          <a:effectLst>
            <a:outerShdw sx="100000" sy="100000" kx="0" ky="0" algn="bl" rotWithShape="0" blurRad="101600" dist="38100" dir="5400000">
              <a:srgbClr val="000000">
                <a:alpha val="35000"/>
              </a:srgbClr>
            </a:outerShdw>
          </a:effectLst>
        </p:spPr>
      </p:sp>
      <p:sp>
        <p:nvSpPr>
          <p:cNvPr id="7" name="Text 5"/>
          <p:cNvSpPr/>
          <p:nvPr/>
        </p:nvSpPr>
        <p:spPr>
          <a:xfrm>
            <a:off x="7726680" y="2103120"/>
            <a:ext cx="3520440" cy="457200"/>
          </a:xfrm>
          <a:prstGeom prst="rect">
            <a:avLst/>
          </a:prstGeom>
          <a:noFill/>
          <a:ln/>
        </p:spPr>
        <p:txBody>
          <a:bodyPr wrap="square" lIns="0" tIns="0" rIns="0" bIns="0" rtlCol="0" anchor="t"/>
          <a:lstStyle/>
          <a:p>
            <a:pPr indent="0" marL="0">
              <a:buNone/>
            </a:pPr>
            <a:r>
              <a:rPr lang="en-US" sz="1800" b="1" dirty="0">
                <a:solidFill>
                  <a:srgbClr val="CDFCE3"/>
                </a:solidFill>
                <a:latin typeface="Space Grotesk" pitchFamily="34" charset="0"/>
                <a:ea typeface="Space Grotesk" pitchFamily="34" charset="-122"/>
                <a:cs typeface="Space Grotesk" pitchFamily="34" charset="-120"/>
              </a:rPr>
              <a:t>Why field truth?</a:t>
            </a:r>
            <a:endParaRPr lang="en-US" sz="1800" dirty="0"/>
          </a:p>
        </p:txBody>
      </p:sp>
      <p:sp>
        <p:nvSpPr>
          <p:cNvPr id="8" name="Text 6"/>
          <p:cNvSpPr/>
          <p:nvPr/>
        </p:nvSpPr>
        <p:spPr>
          <a:xfrm>
            <a:off x="7726680" y="2532888"/>
            <a:ext cx="3520440" cy="2560320"/>
          </a:xfrm>
          <a:prstGeom prst="rect">
            <a:avLst/>
          </a:prstGeom>
          <a:noFill/>
          <a:ln/>
        </p:spPr>
        <p:txBody>
          <a:bodyPr wrap="square" lIns="0" tIns="0" rIns="0" bIns="0" rtlCol="0" anchor="t"/>
          <a:lstStyle/>
          <a:p>
            <a:pPr indent="0" marL="0">
              <a:lnSpc>
                <a:spcPct val="110000"/>
              </a:lnSpc>
              <a:buNone/>
            </a:pPr>
            <a:r>
              <a:rPr lang="en-US" sz="1400" dirty="0">
                <a:solidFill>
                  <a:srgbClr val="FFFFFF"/>
                </a:solidFill>
                <a:latin typeface="Space Grotesk" pitchFamily="34" charset="0"/>
                <a:ea typeface="Space Grotesk" pitchFamily="34" charset="-122"/>
                <a:cs typeface="Space Grotesk" pitchFamily="34" charset="-120"/>
              </a:rPr>
              <a:t>NMD tells you what another model believed. National Forest Inventory (NFI) plots and LUCAS points are surveyed on the ground. Only independent field truth can tell whether a map is right — and whether a model has out-learned its teacher.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640080" y="384048"/>
            <a:ext cx="1088136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Space Grotesk" pitchFamily="34" charset="0"/>
                <a:ea typeface="Space Grotesk" pitchFamily="34" charset="-122"/>
                <a:cs typeface="Space Grotesk" pitchFamily="34" charset="-120"/>
              </a:rPr>
              <a:t>Data and truth sources</a:t>
            </a:r>
            <a:endParaRPr lang="en-US" sz="3200" dirty="0"/>
          </a:p>
        </p:txBody>
      </p:sp>
      <p:sp>
        <p:nvSpPr>
          <p:cNvPr id="4" name="Text 2"/>
          <p:cNvSpPr/>
          <p:nvPr/>
        </p:nvSpPr>
        <p:spPr>
          <a:xfrm>
            <a:off x="731520" y="1188720"/>
            <a:ext cx="5303520" cy="320040"/>
          </a:xfrm>
          <a:prstGeom prst="rect">
            <a:avLst/>
          </a:prstGeom>
          <a:noFill/>
          <a:ln/>
        </p:spPr>
        <p:txBody>
          <a:bodyPr wrap="square" lIns="0" tIns="0" rIns="0" bIns="0" rtlCol="0" anchor="ctr"/>
          <a:lstStyle/>
          <a:p>
            <a:pPr indent="0" marL="0">
              <a:buNone/>
            </a:pPr>
            <a:r>
              <a:rPr lang="en-US" sz="1300" b="1" dirty="0">
                <a:solidFill>
                  <a:srgbClr val="9DBDB0"/>
                </a:solidFill>
                <a:latin typeface="Space Grotesk" pitchFamily="34" charset="0"/>
                <a:ea typeface="Space Grotesk" pitchFamily="34" charset="-122"/>
                <a:cs typeface="Space Grotesk" pitchFamily="34" charset="-120"/>
              </a:rPr>
              <a:t>TRAINING SIGNAL</a:t>
            </a:r>
            <a:endParaRPr lang="en-US" sz="1300" dirty="0"/>
          </a:p>
        </p:txBody>
      </p:sp>
      <p:sp>
        <p:nvSpPr>
          <p:cNvPr id="5" name="Shape 3"/>
          <p:cNvSpPr/>
          <p:nvPr/>
        </p:nvSpPr>
        <p:spPr>
          <a:xfrm>
            <a:off x="731520" y="1554480"/>
            <a:ext cx="5257800" cy="1737360"/>
          </a:xfrm>
          <a:prstGeom prst="roundRect">
            <a:avLst>
              <a:gd name="adj" fmla="val 5263"/>
            </a:avLst>
          </a:prstGeom>
          <a:solidFill>
            <a:srgbClr val="145043"/>
          </a:solidFill>
          <a:ln/>
          <a:effectLst>
            <a:outerShdw sx="100000" sy="100000" kx="0" ky="0" algn="bl" rotWithShape="0" blurRad="101600" dist="38100" dir="5400000">
              <a:srgbClr val="000000">
                <a:alpha val="35000"/>
              </a:srgbClr>
            </a:outerShdw>
          </a:effectLst>
        </p:spPr>
      </p:sp>
      <p:sp>
        <p:nvSpPr>
          <p:cNvPr id="6" name="Text 4"/>
          <p:cNvSpPr/>
          <p:nvPr/>
        </p:nvSpPr>
        <p:spPr>
          <a:xfrm>
            <a:off x="960120" y="1691640"/>
            <a:ext cx="4800600" cy="457200"/>
          </a:xfrm>
          <a:prstGeom prst="rect">
            <a:avLst/>
          </a:prstGeom>
          <a:noFill/>
          <a:ln/>
        </p:spPr>
        <p:txBody>
          <a:bodyPr wrap="square" lIns="0" tIns="0" rIns="0" bIns="0" rtlCol="0" anchor="t"/>
          <a:lstStyle/>
          <a:p>
            <a:pPr indent="0" marL="0">
              <a:buNone/>
            </a:pPr>
            <a:r>
              <a:rPr lang="en-US" sz="1700" b="1" dirty="0">
                <a:solidFill>
                  <a:srgbClr val="CDFCE3"/>
                </a:solidFill>
                <a:latin typeface="Space Grotesk" pitchFamily="34" charset="0"/>
                <a:ea typeface="Space Grotesk" pitchFamily="34" charset="-122"/>
                <a:cs typeface="Space Grotesk" pitchFamily="34" charset="-120"/>
              </a:rPr>
              <a:t>Sentinel-2 + NMD2023</a:t>
            </a:r>
            <a:endParaRPr lang="en-US" sz="1700" dirty="0"/>
          </a:p>
        </p:txBody>
      </p:sp>
      <p:sp>
        <p:nvSpPr>
          <p:cNvPr id="7" name="Text 5"/>
          <p:cNvSpPr/>
          <p:nvPr/>
        </p:nvSpPr>
        <p:spPr>
          <a:xfrm>
            <a:off x="960120" y="2121408"/>
            <a:ext cx="4800600" cy="1051560"/>
          </a:xfrm>
          <a:prstGeom prst="rect">
            <a:avLst/>
          </a:prstGeom>
          <a:noFill/>
          <a:ln/>
        </p:spPr>
        <p:txBody>
          <a:bodyPr wrap="square" lIns="0" tIns="0" rIns="0" bIns="0" rtlCol="0" anchor="t"/>
          <a:lstStyle/>
          <a:p>
            <a:pPr indent="0" marL="0">
              <a:lnSpc>
                <a:spcPct val="110000"/>
              </a:lnSpc>
              <a:buNone/>
            </a:pPr>
            <a:r>
              <a:rPr lang="en-US" sz="1300" dirty="0">
                <a:solidFill>
                  <a:srgbClr val="FFFFFF"/>
                </a:solidFill>
                <a:latin typeface="Space Grotesk" pitchFamily="34" charset="0"/>
                <a:ea typeface="Space Grotesk" pitchFamily="34" charset="-122"/>
                <a:cs typeface="Space Grotesk" pitchFamily="34" charset="-120"/>
              </a:rPr>
              <a:t>7,882 tiles across all of Sweden, 4 temporal frames each. Pixel labels come from the NMD2023 national land-cover map — the proxy we train against.</a:t>
            </a:r>
            <a:endParaRPr lang="en-US" sz="1300" dirty="0"/>
          </a:p>
        </p:txBody>
      </p:sp>
      <p:sp>
        <p:nvSpPr>
          <p:cNvPr id="8" name="Text 6"/>
          <p:cNvSpPr/>
          <p:nvPr/>
        </p:nvSpPr>
        <p:spPr>
          <a:xfrm>
            <a:off x="6263640" y="1188720"/>
            <a:ext cx="5212080" cy="320040"/>
          </a:xfrm>
          <a:prstGeom prst="rect">
            <a:avLst/>
          </a:prstGeom>
          <a:noFill/>
          <a:ln/>
        </p:spPr>
        <p:txBody>
          <a:bodyPr wrap="square" lIns="0" tIns="0" rIns="0" bIns="0" rtlCol="0" anchor="ctr"/>
          <a:lstStyle/>
          <a:p>
            <a:pPr indent="0" marL="0">
              <a:buNone/>
            </a:pPr>
            <a:r>
              <a:rPr lang="en-US" sz="1300" b="1" dirty="0">
                <a:solidFill>
                  <a:srgbClr val="FF826C"/>
                </a:solidFill>
                <a:latin typeface="Space Grotesk" pitchFamily="34" charset="0"/>
                <a:ea typeface="Space Grotesk" pitchFamily="34" charset="-122"/>
                <a:cs typeface="Space Grotesk" pitchFamily="34" charset="-120"/>
              </a:rPr>
              <a:t>INDEPENDENT TRUTH</a:t>
            </a:r>
            <a:endParaRPr lang="en-US" sz="1300" dirty="0"/>
          </a:p>
        </p:txBody>
      </p:sp>
      <p:sp>
        <p:nvSpPr>
          <p:cNvPr id="9" name="Shape 7"/>
          <p:cNvSpPr/>
          <p:nvPr/>
        </p:nvSpPr>
        <p:spPr>
          <a:xfrm>
            <a:off x="6263640" y="1554480"/>
            <a:ext cx="5212080" cy="1737360"/>
          </a:xfrm>
          <a:prstGeom prst="roundRect">
            <a:avLst>
              <a:gd name="adj" fmla="val 5263"/>
            </a:avLst>
          </a:prstGeom>
          <a:solidFill>
            <a:srgbClr val="145043"/>
          </a:solidFill>
          <a:ln/>
          <a:effectLst>
            <a:outerShdw sx="100000" sy="100000" kx="0" ky="0" algn="bl" rotWithShape="0" blurRad="101600" dist="38100" dir="5400000">
              <a:srgbClr val="000000">
                <a:alpha val="35000"/>
              </a:srgbClr>
            </a:outerShdw>
          </a:effectLst>
        </p:spPr>
      </p:sp>
      <p:sp>
        <p:nvSpPr>
          <p:cNvPr id="10" name="Text 8"/>
          <p:cNvSpPr/>
          <p:nvPr/>
        </p:nvSpPr>
        <p:spPr>
          <a:xfrm>
            <a:off x="6492240" y="1691640"/>
            <a:ext cx="4754880" cy="457200"/>
          </a:xfrm>
          <a:prstGeom prst="rect">
            <a:avLst/>
          </a:prstGeom>
          <a:noFill/>
          <a:ln/>
        </p:spPr>
        <p:txBody>
          <a:bodyPr wrap="square" lIns="0" tIns="0" rIns="0" bIns="0" rtlCol="0" anchor="t"/>
          <a:lstStyle/>
          <a:p>
            <a:pPr indent="0" marL="0">
              <a:buNone/>
            </a:pPr>
            <a:r>
              <a:rPr lang="en-US" sz="1700" b="1" dirty="0">
                <a:solidFill>
                  <a:srgbClr val="FF826C"/>
                </a:solidFill>
                <a:latin typeface="Space Grotesk" pitchFamily="34" charset="0"/>
                <a:ea typeface="Space Grotesk" pitchFamily="34" charset="-122"/>
                <a:cs typeface="Space Grotesk" pitchFamily="34" charset="-120"/>
              </a:rPr>
              <a:t>NFI  ·  LUCAS  ·  LPIS</a:t>
            </a:r>
            <a:endParaRPr lang="en-US" sz="1700" dirty="0"/>
          </a:p>
        </p:txBody>
      </p:sp>
      <p:sp>
        <p:nvSpPr>
          <p:cNvPr id="11" name="Text 9"/>
          <p:cNvSpPr/>
          <p:nvPr/>
        </p:nvSpPr>
        <p:spPr>
          <a:xfrm>
            <a:off x="6492240" y="2121408"/>
            <a:ext cx="4754880" cy="1051560"/>
          </a:xfrm>
          <a:prstGeom prst="rect">
            <a:avLst/>
          </a:prstGeom>
          <a:noFill/>
          <a:ln/>
        </p:spPr>
        <p:txBody>
          <a:bodyPr wrap="square" lIns="0" tIns="0" rIns="0" bIns="0" rtlCol="0" anchor="t"/>
          <a:lstStyle/>
          <a:p>
            <a:pPr indent="0" marL="0">
              <a:lnSpc>
                <a:spcPct val="110000"/>
              </a:lnSpc>
              <a:buNone/>
            </a:pPr>
            <a:r>
              <a:rPr lang="en-US" sz="1300" dirty="0">
                <a:solidFill>
                  <a:srgbClr val="FFFFFF"/>
                </a:solidFill>
                <a:latin typeface="Space Grotesk" pitchFamily="34" charset="0"/>
                <a:ea typeface="Space Grotesk" pitchFamily="34" charset="-122"/>
                <a:cs typeface="Space Grotesk" pitchFamily="34" charset="-120"/>
              </a:rPr>
              <a:t>944 NFI field plots (209 held out for testing), 34,480 Swedish LUCAS points, and year-matched LPIS crop parcels. None of these ever enters training.</a:t>
            </a:r>
            <a:endParaRPr lang="en-US" sz="1300" dirty="0"/>
          </a:p>
        </p:txBody>
      </p:sp>
      <p:sp>
        <p:nvSpPr>
          <p:cNvPr id="12" name="Shape 10"/>
          <p:cNvSpPr/>
          <p:nvPr/>
        </p:nvSpPr>
        <p:spPr>
          <a:xfrm>
            <a:off x="731520" y="3611880"/>
            <a:ext cx="2651760" cy="1371600"/>
          </a:xfrm>
          <a:prstGeom prst="roundRect">
            <a:avLst>
              <a:gd name="adj" fmla="val 6000"/>
            </a:avLst>
          </a:prstGeom>
          <a:solidFill>
            <a:srgbClr val="145043"/>
          </a:solidFill>
          <a:ln/>
          <a:effectLst>
            <a:outerShdw sx="100000" sy="100000" kx="0" ky="0" algn="bl" rotWithShape="0" blurRad="101600" dist="38100" dir="5400000">
              <a:srgbClr val="000000">
                <a:alpha val="35000"/>
              </a:srgbClr>
            </a:outerShdw>
          </a:effectLst>
        </p:spPr>
      </p:sp>
      <p:sp>
        <p:nvSpPr>
          <p:cNvPr id="13" name="Text 11"/>
          <p:cNvSpPr/>
          <p:nvPr/>
        </p:nvSpPr>
        <p:spPr>
          <a:xfrm>
            <a:off x="822960" y="3739896"/>
            <a:ext cx="246888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Space Grotesk" pitchFamily="34" charset="0"/>
                <a:ea typeface="Space Grotesk" pitchFamily="34" charset="-122"/>
                <a:cs typeface="Space Grotesk" pitchFamily="34" charset="-120"/>
              </a:rPr>
              <a:t>7,882</a:t>
            </a:r>
            <a:endParaRPr lang="en-US" sz="2800" dirty="0"/>
          </a:p>
        </p:txBody>
      </p:sp>
      <p:sp>
        <p:nvSpPr>
          <p:cNvPr id="14" name="Text 12"/>
          <p:cNvSpPr/>
          <p:nvPr/>
        </p:nvSpPr>
        <p:spPr>
          <a:xfrm>
            <a:off x="841248" y="4407408"/>
            <a:ext cx="2432304" cy="548640"/>
          </a:xfrm>
          <a:prstGeom prst="rect">
            <a:avLst/>
          </a:prstGeom>
          <a:noFill/>
          <a:ln/>
        </p:spPr>
        <p:txBody>
          <a:bodyPr wrap="square" lIns="0" tIns="0" rIns="0" bIns="0" rtlCol="0" anchor="t"/>
          <a:lstStyle/>
          <a:p>
            <a:pPr algn="ctr" indent="0" marL="0">
              <a:lnSpc>
                <a:spcPct val="100000"/>
              </a:lnSpc>
              <a:buNone/>
            </a:pPr>
            <a:r>
              <a:rPr lang="en-US" sz="1200" dirty="0">
                <a:solidFill>
                  <a:srgbClr val="9DBDB0"/>
                </a:solidFill>
                <a:latin typeface="Space Grotesk" pitchFamily="34" charset="0"/>
                <a:ea typeface="Space Grotesk" pitchFamily="34" charset="-122"/>
                <a:cs typeface="Space Grotesk" pitchFamily="34" charset="-120"/>
              </a:rPr>
              <a:t>tiles</a:t>
            </a:r>
            <a:endParaRPr lang="en-US" sz="1200" dirty="0"/>
          </a:p>
        </p:txBody>
      </p:sp>
      <p:sp>
        <p:nvSpPr>
          <p:cNvPr id="15" name="Shape 13"/>
          <p:cNvSpPr/>
          <p:nvPr/>
        </p:nvSpPr>
        <p:spPr>
          <a:xfrm>
            <a:off x="3493008" y="3611880"/>
            <a:ext cx="2651760" cy="1371600"/>
          </a:xfrm>
          <a:prstGeom prst="roundRect">
            <a:avLst>
              <a:gd name="adj" fmla="val 6000"/>
            </a:avLst>
          </a:prstGeom>
          <a:solidFill>
            <a:srgbClr val="145043"/>
          </a:solidFill>
          <a:ln/>
          <a:effectLst>
            <a:outerShdw sx="100000" sy="100000" kx="0" ky="0" algn="bl" rotWithShape="0" blurRad="101600" dist="38100" dir="5400000">
              <a:srgbClr val="000000">
                <a:alpha val="35000"/>
              </a:srgbClr>
            </a:outerShdw>
          </a:effectLst>
        </p:spPr>
      </p:sp>
      <p:sp>
        <p:nvSpPr>
          <p:cNvPr id="16" name="Text 14"/>
          <p:cNvSpPr/>
          <p:nvPr/>
        </p:nvSpPr>
        <p:spPr>
          <a:xfrm>
            <a:off x="3584448" y="3739896"/>
            <a:ext cx="246888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Space Grotesk" pitchFamily="34" charset="0"/>
                <a:ea typeface="Space Grotesk" pitchFamily="34" charset="-122"/>
                <a:cs typeface="Space Grotesk" pitchFamily="34" charset="-120"/>
              </a:rPr>
              <a:t>944 / 209</a:t>
            </a:r>
            <a:endParaRPr lang="en-US" sz="2800" dirty="0"/>
          </a:p>
        </p:txBody>
      </p:sp>
      <p:sp>
        <p:nvSpPr>
          <p:cNvPr id="17" name="Text 15"/>
          <p:cNvSpPr/>
          <p:nvPr/>
        </p:nvSpPr>
        <p:spPr>
          <a:xfrm>
            <a:off x="3602736" y="4407408"/>
            <a:ext cx="2432304" cy="548640"/>
          </a:xfrm>
          <a:prstGeom prst="rect">
            <a:avLst/>
          </a:prstGeom>
          <a:noFill/>
          <a:ln/>
        </p:spPr>
        <p:txBody>
          <a:bodyPr wrap="square" lIns="0" tIns="0" rIns="0" bIns="0" rtlCol="0" anchor="t"/>
          <a:lstStyle/>
          <a:p>
            <a:pPr algn="ctr" indent="0" marL="0">
              <a:lnSpc>
                <a:spcPct val="100000"/>
              </a:lnSpc>
              <a:buNone/>
            </a:pPr>
            <a:r>
              <a:rPr lang="en-US" sz="1200" dirty="0">
                <a:solidFill>
                  <a:srgbClr val="9DBDB0"/>
                </a:solidFill>
                <a:latin typeface="Space Grotesk" pitchFamily="34" charset="0"/>
                <a:ea typeface="Space Grotesk" pitchFamily="34" charset="-122"/>
                <a:cs typeface="Space Grotesk" pitchFamily="34" charset="-120"/>
              </a:rPr>
              <a:t>NFI plots / held out</a:t>
            </a:r>
            <a:endParaRPr lang="en-US" sz="1200" dirty="0"/>
          </a:p>
        </p:txBody>
      </p:sp>
      <p:sp>
        <p:nvSpPr>
          <p:cNvPr id="18" name="Shape 16"/>
          <p:cNvSpPr/>
          <p:nvPr/>
        </p:nvSpPr>
        <p:spPr>
          <a:xfrm>
            <a:off x="6254496" y="3611880"/>
            <a:ext cx="2651760" cy="1371600"/>
          </a:xfrm>
          <a:prstGeom prst="roundRect">
            <a:avLst>
              <a:gd name="adj" fmla="val 6000"/>
            </a:avLst>
          </a:prstGeom>
          <a:solidFill>
            <a:srgbClr val="145043"/>
          </a:solidFill>
          <a:ln/>
          <a:effectLst>
            <a:outerShdw sx="100000" sy="100000" kx="0" ky="0" algn="bl" rotWithShape="0" blurRad="101600" dist="38100" dir="5400000">
              <a:srgbClr val="000000">
                <a:alpha val="35000"/>
              </a:srgbClr>
            </a:outerShdw>
          </a:effectLst>
        </p:spPr>
      </p:sp>
      <p:sp>
        <p:nvSpPr>
          <p:cNvPr id="19" name="Text 17"/>
          <p:cNvSpPr/>
          <p:nvPr/>
        </p:nvSpPr>
        <p:spPr>
          <a:xfrm>
            <a:off x="6345936" y="3739896"/>
            <a:ext cx="246888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Space Grotesk" pitchFamily="34" charset="0"/>
                <a:ea typeface="Space Grotesk" pitchFamily="34" charset="-122"/>
                <a:cs typeface="Space Grotesk" pitchFamily="34" charset="-120"/>
              </a:rPr>
              <a:t>34,480</a:t>
            </a:r>
            <a:endParaRPr lang="en-US" sz="2800" dirty="0"/>
          </a:p>
        </p:txBody>
      </p:sp>
      <p:sp>
        <p:nvSpPr>
          <p:cNvPr id="20" name="Text 18"/>
          <p:cNvSpPr/>
          <p:nvPr/>
        </p:nvSpPr>
        <p:spPr>
          <a:xfrm>
            <a:off x="6364224" y="4407408"/>
            <a:ext cx="2432304" cy="548640"/>
          </a:xfrm>
          <a:prstGeom prst="rect">
            <a:avLst/>
          </a:prstGeom>
          <a:noFill/>
          <a:ln/>
        </p:spPr>
        <p:txBody>
          <a:bodyPr wrap="square" lIns="0" tIns="0" rIns="0" bIns="0" rtlCol="0" anchor="t"/>
          <a:lstStyle/>
          <a:p>
            <a:pPr algn="ctr" indent="0" marL="0">
              <a:lnSpc>
                <a:spcPct val="100000"/>
              </a:lnSpc>
              <a:buNone/>
            </a:pPr>
            <a:r>
              <a:rPr lang="en-US" sz="1200" dirty="0">
                <a:solidFill>
                  <a:srgbClr val="9DBDB0"/>
                </a:solidFill>
                <a:latin typeface="Space Grotesk" pitchFamily="34" charset="0"/>
                <a:ea typeface="Space Grotesk" pitchFamily="34" charset="-122"/>
                <a:cs typeface="Space Grotesk" pitchFamily="34" charset="-120"/>
              </a:rPr>
              <a:t>LUCAS points</a:t>
            </a:r>
            <a:endParaRPr lang="en-US" sz="1200" dirty="0"/>
          </a:p>
        </p:txBody>
      </p:sp>
      <p:sp>
        <p:nvSpPr>
          <p:cNvPr id="21" name="Shape 19"/>
          <p:cNvSpPr/>
          <p:nvPr/>
        </p:nvSpPr>
        <p:spPr>
          <a:xfrm>
            <a:off x="9015984" y="3611880"/>
            <a:ext cx="2651760" cy="1371600"/>
          </a:xfrm>
          <a:prstGeom prst="roundRect">
            <a:avLst>
              <a:gd name="adj" fmla="val 6000"/>
            </a:avLst>
          </a:prstGeom>
          <a:solidFill>
            <a:srgbClr val="145043"/>
          </a:solidFill>
          <a:ln/>
          <a:effectLst>
            <a:outerShdw sx="100000" sy="100000" kx="0" ky="0" algn="bl" rotWithShape="0" blurRad="101600" dist="38100" dir="5400000">
              <a:srgbClr val="000000">
                <a:alpha val="35000"/>
              </a:srgbClr>
            </a:outerShdw>
          </a:effectLst>
        </p:spPr>
      </p:sp>
      <p:sp>
        <p:nvSpPr>
          <p:cNvPr id="22" name="Text 20"/>
          <p:cNvSpPr/>
          <p:nvPr/>
        </p:nvSpPr>
        <p:spPr>
          <a:xfrm>
            <a:off x="9107424" y="3739896"/>
            <a:ext cx="246888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Space Grotesk" pitchFamily="34" charset="0"/>
                <a:ea typeface="Space Grotesk" pitchFamily="34" charset="-122"/>
                <a:cs typeface="Space Grotesk" pitchFamily="34" charset="-120"/>
              </a:rPr>
              <a:t>28</a:t>
            </a:r>
            <a:endParaRPr lang="en-US" sz="2800" dirty="0"/>
          </a:p>
        </p:txBody>
      </p:sp>
      <p:sp>
        <p:nvSpPr>
          <p:cNvPr id="23" name="Text 21"/>
          <p:cNvSpPr/>
          <p:nvPr/>
        </p:nvSpPr>
        <p:spPr>
          <a:xfrm>
            <a:off x="9125712" y="4407408"/>
            <a:ext cx="2432304" cy="548640"/>
          </a:xfrm>
          <a:prstGeom prst="rect">
            <a:avLst/>
          </a:prstGeom>
          <a:noFill/>
          <a:ln/>
        </p:spPr>
        <p:txBody>
          <a:bodyPr wrap="square" lIns="0" tIns="0" rIns="0" bIns="0" rtlCol="0" anchor="t"/>
          <a:lstStyle/>
          <a:p>
            <a:pPr algn="ctr" indent="0" marL="0">
              <a:lnSpc>
                <a:spcPct val="100000"/>
              </a:lnSpc>
              <a:buNone/>
            </a:pPr>
            <a:r>
              <a:rPr lang="en-US" sz="1200" dirty="0">
                <a:solidFill>
                  <a:srgbClr val="9DBDB0"/>
                </a:solidFill>
                <a:latin typeface="Space Grotesk" pitchFamily="34" charset="0"/>
                <a:ea typeface="Space Grotesk" pitchFamily="34" charset="-122"/>
                <a:cs typeface="Space Grotesk" pitchFamily="34" charset="-120"/>
              </a:rPr>
              <a:t>unified classes</a:t>
            </a:r>
            <a:endParaRPr lang="en-US" sz="1200" dirty="0"/>
          </a:p>
        </p:txBody>
      </p:sp>
      <p:sp>
        <p:nvSpPr>
          <p:cNvPr id="24" name="Text 22"/>
          <p:cNvSpPr/>
          <p:nvPr/>
        </p:nvSpPr>
        <p:spPr>
          <a:xfrm>
            <a:off x="731520" y="5212080"/>
            <a:ext cx="10698480" cy="548640"/>
          </a:xfrm>
          <a:prstGeom prst="rect">
            <a:avLst/>
          </a:prstGeom>
          <a:noFill/>
          <a:ln/>
        </p:spPr>
        <p:txBody>
          <a:bodyPr wrap="square" lIns="0" tIns="0" rIns="0" bIns="0" rtlCol="0" anchor="ctr"/>
          <a:lstStyle/>
          <a:p>
            <a:pPr indent="0" marL="0">
              <a:lnSpc>
                <a:spcPct val="110000"/>
              </a:lnSpc>
              <a:buNone/>
            </a:pPr>
            <a:r>
              <a:rPr lang="en-US" sz="1300" i="1" dirty="0">
                <a:solidFill>
                  <a:srgbClr val="9DBDB0"/>
                </a:solidFill>
                <a:latin typeface="Space Grotesk" pitchFamily="34" charset="0"/>
                <a:ea typeface="Space Grotesk" pitchFamily="34" charset="-122"/>
                <a:cs typeface="Space Grotesk" pitchFamily="34" charset="-120"/>
              </a:rPr>
              <a:t>The models see only Sentinel-2 pixels and NMD2023 labels; every accuracy number in this talk is measured against field truth the model never touched.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640080" y="384048"/>
            <a:ext cx="1088136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Space Grotesk" pitchFamily="34" charset="0"/>
                <a:ea typeface="Space Grotesk" pitchFamily="34" charset="-122"/>
                <a:cs typeface="Space Grotesk" pitchFamily="34" charset="-120"/>
              </a:rPr>
              <a:t>Anatomy of a training tile</a:t>
            </a:r>
            <a:endParaRPr lang="en-US" sz="3200" dirty="0"/>
          </a:p>
        </p:txBody>
      </p:sp>
      <p:sp>
        <p:nvSpPr>
          <p:cNvPr id="4" name="Text 2"/>
          <p:cNvSpPr/>
          <p:nvPr/>
        </p:nvSpPr>
        <p:spPr>
          <a:xfrm>
            <a:off x="822960" y="1024128"/>
            <a:ext cx="10515600" cy="384048"/>
          </a:xfrm>
          <a:prstGeom prst="rect">
            <a:avLst/>
          </a:prstGeom>
          <a:noFill/>
          <a:ln/>
        </p:spPr>
        <p:txBody>
          <a:bodyPr wrap="square" lIns="0" tIns="0" rIns="0" bIns="0" rtlCol="0" anchor="ctr"/>
          <a:lstStyle/>
          <a:p>
            <a:pPr algn="ctr" indent="0" marL="0">
              <a:lnSpc>
                <a:spcPct val="110000"/>
              </a:lnSpc>
              <a:buNone/>
            </a:pPr>
            <a:r>
              <a:rPr lang="en-US" sz="1350" dirty="0">
                <a:solidFill>
                  <a:srgbClr val="CDFCE3"/>
                </a:solidFill>
                <a:latin typeface="Space Grotesk" pitchFamily="34" charset="0"/>
                <a:ea typeface="Space Grotesk" pitchFamily="34" charset="-122"/>
                <a:cs typeface="Space Grotesk" pitchFamily="34" charset="-120"/>
              </a:rPr>
              <a:t>One example tile shown as its inputs: four seasons of Sentinel-2 plus a deep auxiliary stack — 35 channels — with one merged 28-class label.</a:t>
            </a:r>
            <a:endParaRPr lang="en-US" sz="1350" dirty="0"/>
          </a:p>
        </p:txBody>
      </p:sp>
      <p:pic>
        <p:nvPicPr>
          <p:cNvPr id="5" name="Image 0" descr="preencoded.png">    </p:cNvPr>
          <p:cNvPicPr>
            <a:picLocks noChangeAspect="1"/>
          </p:cNvPicPr>
          <p:nvPr/>
        </p:nvPicPr>
        <p:blipFill>
          <a:blip r:embed="rId1"/>
          <a:stretch>
            <a:fillRect/>
          </a:stretch>
        </p:blipFill>
        <p:spPr>
          <a:xfrm>
            <a:off x="891540" y="1481328"/>
            <a:ext cx="1627632" cy="1627632"/>
          </a:xfrm>
          <a:prstGeom prst="rect">
            <a:avLst/>
          </a:prstGeom>
        </p:spPr>
      </p:pic>
      <p:sp>
        <p:nvSpPr>
          <p:cNvPr id="6" name="Text 3"/>
          <p:cNvSpPr/>
          <p:nvPr/>
        </p:nvSpPr>
        <p:spPr>
          <a:xfrm>
            <a:off x="818388" y="3154680"/>
            <a:ext cx="1773936" cy="502920"/>
          </a:xfrm>
          <a:prstGeom prst="rect">
            <a:avLst/>
          </a:prstGeom>
          <a:noFill/>
          <a:ln/>
        </p:spPr>
        <p:txBody>
          <a:bodyPr wrap="square" lIns="0" tIns="0" rIns="0" bIns="0" rtlCol="0" anchor="t"/>
          <a:lstStyle/>
          <a:p>
            <a:pPr algn="ctr" indent="0" marL="0">
              <a:lnSpc>
                <a:spcPct val="95000"/>
              </a:lnSpc>
              <a:buNone/>
            </a:pPr>
            <a:r>
              <a:rPr lang="en-US" sz="1000" dirty="0">
                <a:solidFill>
                  <a:srgbClr val="FFFFFF"/>
                </a:solidFill>
                <a:latin typeface="Space Grotesk" pitchFamily="34" charset="0"/>
                <a:ea typeface="Space Grotesk" pitchFamily="34" charset="-122"/>
                <a:cs typeface="Space Grotesk" pitchFamily="34" charset="-120"/>
              </a:rPr>
              <a:t>Sentinel-2 RGB</a:t>
            </a:r>
            <a:endParaRPr lang="en-US" sz="1000" dirty="0"/>
          </a:p>
          <a:p>
            <a:pPr algn="ctr" indent="0" marL="0">
              <a:lnSpc>
                <a:spcPct val="95000"/>
              </a:lnSpc>
              <a:buNone/>
            </a:pPr>
            <a:r>
              <a:rPr lang="en-US" sz="1000" dirty="0">
                <a:solidFill>
                  <a:srgbClr val="FFFFFF"/>
                </a:solidFill>
                <a:latin typeface="Space Grotesk" pitchFamily="34" charset="0"/>
                <a:ea typeface="Space Grotesk" pitchFamily="34" charset="-122"/>
                <a:cs typeface="Space Grotesk" pitchFamily="34" charset="-120"/>
              </a:rPr>
              <a:t>(1 of 4 frames)</a:t>
            </a:r>
            <a:endParaRPr lang="en-US" sz="1000" dirty="0"/>
          </a:p>
        </p:txBody>
      </p:sp>
      <p:pic>
        <p:nvPicPr>
          <p:cNvPr id="7" name="Image 1" descr="preencoded.png">    </p:cNvPr>
          <p:cNvPicPr>
            <a:picLocks noChangeAspect="1"/>
          </p:cNvPicPr>
          <p:nvPr/>
        </p:nvPicPr>
        <p:blipFill>
          <a:blip r:embed="rId2"/>
          <a:stretch>
            <a:fillRect/>
          </a:stretch>
        </p:blipFill>
        <p:spPr>
          <a:xfrm>
            <a:off x="2647188" y="1481328"/>
            <a:ext cx="1627632" cy="1627632"/>
          </a:xfrm>
          <a:prstGeom prst="rect">
            <a:avLst/>
          </a:prstGeom>
        </p:spPr>
      </p:pic>
      <p:sp>
        <p:nvSpPr>
          <p:cNvPr id="8" name="Text 4"/>
          <p:cNvSpPr/>
          <p:nvPr/>
        </p:nvSpPr>
        <p:spPr>
          <a:xfrm>
            <a:off x="2574036" y="3154680"/>
            <a:ext cx="1773936" cy="502920"/>
          </a:xfrm>
          <a:prstGeom prst="rect">
            <a:avLst/>
          </a:prstGeom>
          <a:noFill/>
          <a:ln/>
        </p:spPr>
        <p:txBody>
          <a:bodyPr wrap="square" lIns="0" tIns="0" rIns="0" bIns="0" rtlCol="0" anchor="t"/>
          <a:lstStyle/>
          <a:p>
            <a:pPr algn="ctr" indent="0" marL="0">
              <a:lnSpc>
                <a:spcPct val="95000"/>
              </a:lnSpc>
              <a:buNone/>
            </a:pPr>
            <a:r>
              <a:rPr lang="en-US" sz="1000" dirty="0">
                <a:solidFill>
                  <a:srgbClr val="FFFFFF"/>
                </a:solidFill>
                <a:latin typeface="Space Grotesk" pitchFamily="34" charset="0"/>
                <a:ea typeface="Space Grotesk" pitchFamily="34" charset="-122"/>
                <a:cs typeface="Space Grotesk" pitchFamily="34" charset="-120"/>
              </a:rPr>
              <a:t>False-colour NIR</a:t>
            </a:r>
            <a:endParaRPr lang="en-US" sz="1000" dirty="0"/>
          </a:p>
          <a:p>
            <a:pPr algn="ctr" indent="0" marL="0">
              <a:lnSpc>
                <a:spcPct val="95000"/>
              </a:lnSpc>
              <a:buNone/>
            </a:pPr>
            <a:r>
              <a:rPr lang="en-US" sz="1000" dirty="0">
                <a:solidFill>
                  <a:srgbClr val="FFFFFF"/>
                </a:solidFill>
                <a:latin typeface="Space Grotesk" pitchFamily="34" charset="0"/>
                <a:ea typeface="Space Grotesk" pitchFamily="34" charset="-122"/>
                <a:cs typeface="Space Grotesk" pitchFamily="34" charset="-120"/>
              </a:rPr>
              <a:t>(vegetation red)</a:t>
            </a:r>
            <a:endParaRPr lang="en-US" sz="1000" dirty="0"/>
          </a:p>
        </p:txBody>
      </p:sp>
      <p:pic>
        <p:nvPicPr>
          <p:cNvPr id="9" name="Image 2" descr="preencoded.png">    </p:cNvPr>
          <p:cNvPicPr>
            <a:picLocks noChangeAspect="1"/>
          </p:cNvPicPr>
          <p:nvPr/>
        </p:nvPicPr>
        <p:blipFill>
          <a:blip r:embed="rId3"/>
          <a:stretch>
            <a:fillRect/>
          </a:stretch>
        </p:blipFill>
        <p:spPr>
          <a:xfrm>
            <a:off x="4402836" y="1481328"/>
            <a:ext cx="1627632" cy="1627632"/>
          </a:xfrm>
          <a:prstGeom prst="rect">
            <a:avLst/>
          </a:prstGeom>
        </p:spPr>
      </p:pic>
      <p:sp>
        <p:nvSpPr>
          <p:cNvPr id="10" name="Text 5"/>
          <p:cNvSpPr/>
          <p:nvPr/>
        </p:nvSpPr>
        <p:spPr>
          <a:xfrm>
            <a:off x="4329684" y="3154680"/>
            <a:ext cx="1773936" cy="502920"/>
          </a:xfrm>
          <a:prstGeom prst="rect">
            <a:avLst/>
          </a:prstGeom>
          <a:noFill/>
          <a:ln/>
        </p:spPr>
        <p:txBody>
          <a:bodyPr wrap="square" lIns="0" tIns="0" rIns="0" bIns="0" rtlCol="0" anchor="t"/>
          <a:lstStyle/>
          <a:p>
            <a:pPr algn="ctr" indent="0" marL="0">
              <a:lnSpc>
                <a:spcPct val="95000"/>
              </a:lnSpc>
              <a:buNone/>
            </a:pPr>
            <a:r>
              <a:rPr lang="en-US" sz="1000" dirty="0">
                <a:solidFill>
                  <a:srgbClr val="FFFFFF"/>
                </a:solidFill>
                <a:latin typeface="Space Grotesk" pitchFamily="34" charset="0"/>
                <a:ea typeface="Space Grotesk" pitchFamily="34" charset="-122"/>
                <a:cs typeface="Space Grotesk" pitchFamily="34" charset="-120"/>
              </a:rPr>
              <a:t>Terrain</a:t>
            </a:r>
            <a:endParaRPr lang="en-US" sz="1000" dirty="0"/>
          </a:p>
          <a:p>
            <a:pPr algn="ctr" indent="0" marL="0">
              <a:lnSpc>
                <a:spcPct val="95000"/>
              </a:lnSpc>
              <a:buNone/>
            </a:pPr>
            <a:r>
              <a:rPr lang="en-US" sz="1000" dirty="0">
                <a:solidFill>
                  <a:srgbClr val="FFFFFF"/>
                </a:solidFill>
                <a:latin typeface="Space Grotesk" pitchFamily="34" charset="0"/>
                <a:ea typeface="Space Grotesk" pitchFamily="34" charset="-122"/>
                <a:cs typeface="Space Grotesk" pitchFamily="34" charset="-120"/>
              </a:rPr>
              <a:t>Copernicus DEM</a:t>
            </a:r>
            <a:endParaRPr lang="en-US" sz="1000" dirty="0"/>
          </a:p>
        </p:txBody>
      </p:sp>
      <p:pic>
        <p:nvPicPr>
          <p:cNvPr id="11" name="Image 3" descr="preencoded.png">    </p:cNvPr>
          <p:cNvPicPr>
            <a:picLocks noChangeAspect="1"/>
          </p:cNvPicPr>
          <p:nvPr/>
        </p:nvPicPr>
        <p:blipFill>
          <a:blip r:embed="rId4"/>
          <a:stretch>
            <a:fillRect/>
          </a:stretch>
        </p:blipFill>
        <p:spPr>
          <a:xfrm>
            <a:off x="6158484" y="1481328"/>
            <a:ext cx="1627632" cy="1627632"/>
          </a:xfrm>
          <a:prstGeom prst="rect">
            <a:avLst/>
          </a:prstGeom>
        </p:spPr>
      </p:pic>
      <p:sp>
        <p:nvSpPr>
          <p:cNvPr id="12" name="Text 6"/>
          <p:cNvSpPr/>
          <p:nvPr/>
        </p:nvSpPr>
        <p:spPr>
          <a:xfrm>
            <a:off x="6085332" y="3154680"/>
            <a:ext cx="1773936" cy="502920"/>
          </a:xfrm>
          <a:prstGeom prst="rect">
            <a:avLst/>
          </a:prstGeom>
          <a:noFill/>
          <a:ln/>
        </p:spPr>
        <p:txBody>
          <a:bodyPr wrap="square" lIns="0" tIns="0" rIns="0" bIns="0" rtlCol="0" anchor="t"/>
          <a:lstStyle/>
          <a:p>
            <a:pPr algn="ctr" indent="0" marL="0">
              <a:lnSpc>
                <a:spcPct val="95000"/>
              </a:lnSpc>
              <a:buNone/>
            </a:pPr>
            <a:r>
              <a:rPr lang="en-US" sz="1000" dirty="0">
                <a:solidFill>
                  <a:srgbClr val="FFFFFF"/>
                </a:solidFill>
                <a:latin typeface="Space Grotesk" pitchFamily="34" charset="0"/>
                <a:ea typeface="Space Grotesk" pitchFamily="34" charset="-122"/>
                <a:cs typeface="Space Grotesk" pitchFamily="34" charset="-120"/>
              </a:rPr>
              <a:t>Forest height</a:t>
            </a:r>
            <a:endParaRPr lang="en-US" sz="1000" dirty="0"/>
          </a:p>
          <a:p>
            <a:pPr algn="ctr" indent="0" marL="0">
              <a:lnSpc>
                <a:spcPct val="95000"/>
              </a:lnSpc>
              <a:buNone/>
            </a:pPr>
            <a:r>
              <a:rPr lang="en-US" sz="1000" dirty="0">
                <a:solidFill>
                  <a:srgbClr val="FFFFFF"/>
                </a:solidFill>
                <a:latin typeface="Space Grotesk" pitchFamily="34" charset="0"/>
                <a:ea typeface="Space Grotesk" pitchFamily="34" charset="-122"/>
                <a:cs typeface="Space Grotesk" pitchFamily="34" charset="-120"/>
              </a:rPr>
              <a:t>SLU grunddata</a:t>
            </a:r>
            <a:endParaRPr lang="en-US" sz="1000" dirty="0"/>
          </a:p>
        </p:txBody>
      </p:sp>
      <p:pic>
        <p:nvPicPr>
          <p:cNvPr id="13" name="Image 4" descr="preencoded.png">    </p:cNvPr>
          <p:cNvPicPr>
            <a:picLocks noChangeAspect="1"/>
          </p:cNvPicPr>
          <p:nvPr/>
        </p:nvPicPr>
        <p:blipFill>
          <a:blip r:embed="rId5"/>
          <a:stretch>
            <a:fillRect/>
          </a:stretch>
        </p:blipFill>
        <p:spPr>
          <a:xfrm>
            <a:off x="7914132" y="1481328"/>
            <a:ext cx="1627632" cy="1627632"/>
          </a:xfrm>
          <a:prstGeom prst="rect">
            <a:avLst/>
          </a:prstGeom>
        </p:spPr>
      </p:pic>
      <p:sp>
        <p:nvSpPr>
          <p:cNvPr id="14" name="Text 7"/>
          <p:cNvSpPr/>
          <p:nvPr/>
        </p:nvSpPr>
        <p:spPr>
          <a:xfrm>
            <a:off x="7840980" y="3154680"/>
            <a:ext cx="1773936" cy="502920"/>
          </a:xfrm>
          <a:prstGeom prst="rect">
            <a:avLst/>
          </a:prstGeom>
          <a:noFill/>
          <a:ln/>
        </p:spPr>
        <p:txBody>
          <a:bodyPr wrap="square" lIns="0" tIns="0" rIns="0" bIns="0" rtlCol="0" anchor="t"/>
          <a:lstStyle/>
          <a:p>
            <a:pPr algn="ctr" indent="0" marL="0">
              <a:lnSpc>
                <a:spcPct val="95000"/>
              </a:lnSpc>
              <a:buNone/>
            </a:pPr>
            <a:r>
              <a:rPr lang="en-US" sz="1000" dirty="0">
                <a:solidFill>
                  <a:srgbClr val="FFFFFF"/>
                </a:solidFill>
                <a:latin typeface="Space Grotesk" pitchFamily="34" charset="0"/>
                <a:ea typeface="Space Grotesk" pitchFamily="34" charset="-122"/>
                <a:cs typeface="Space Grotesk" pitchFamily="34" charset="-120"/>
              </a:rPr>
              <a:t>Phenology</a:t>
            </a:r>
            <a:endParaRPr lang="en-US" sz="1000" dirty="0"/>
          </a:p>
          <a:p>
            <a:pPr algn="ctr" indent="0" marL="0">
              <a:lnSpc>
                <a:spcPct val="95000"/>
              </a:lnSpc>
              <a:buNone/>
            </a:pPr>
            <a:r>
              <a:rPr lang="en-US" sz="1000" dirty="0">
                <a:solidFill>
                  <a:srgbClr val="FFFFFF"/>
                </a:solidFill>
                <a:latin typeface="Space Grotesk" pitchFamily="34" charset="0"/>
                <a:ea typeface="Space Grotesk" pitchFamily="34" charset="-122"/>
                <a:cs typeface="Space Grotesk" pitchFamily="34" charset="-120"/>
              </a:rPr>
              <a:t>VPP start-of-season</a:t>
            </a:r>
            <a:endParaRPr lang="en-US" sz="1000" dirty="0"/>
          </a:p>
        </p:txBody>
      </p:sp>
      <p:pic>
        <p:nvPicPr>
          <p:cNvPr id="15" name="Image 5" descr="preencoded.png">    </p:cNvPr>
          <p:cNvPicPr>
            <a:picLocks noChangeAspect="1"/>
          </p:cNvPicPr>
          <p:nvPr/>
        </p:nvPicPr>
        <p:blipFill>
          <a:blip r:embed="rId6"/>
          <a:stretch>
            <a:fillRect/>
          </a:stretch>
        </p:blipFill>
        <p:spPr>
          <a:xfrm>
            <a:off x="9669780" y="1481328"/>
            <a:ext cx="1627632" cy="1627632"/>
          </a:xfrm>
          <a:prstGeom prst="rect">
            <a:avLst/>
          </a:prstGeom>
        </p:spPr>
      </p:pic>
      <p:sp>
        <p:nvSpPr>
          <p:cNvPr id="16" name="Text 8"/>
          <p:cNvSpPr/>
          <p:nvPr/>
        </p:nvSpPr>
        <p:spPr>
          <a:xfrm>
            <a:off x="9596628" y="3154680"/>
            <a:ext cx="1773936" cy="502920"/>
          </a:xfrm>
          <a:prstGeom prst="rect">
            <a:avLst/>
          </a:prstGeom>
          <a:noFill/>
          <a:ln/>
        </p:spPr>
        <p:txBody>
          <a:bodyPr wrap="square" lIns="0" tIns="0" rIns="0" bIns="0" rtlCol="0" anchor="t"/>
          <a:lstStyle/>
          <a:p>
            <a:pPr algn="ctr" indent="0" marL="0">
              <a:lnSpc>
                <a:spcPct val="95000"/>
              </a:lnSpc>
              <a:buNone/>
            </a:pPr>
            <a:r>
              <a:rPr lang="en-US" sz="1000" b="1" dirty="0">
                <a:solidFill>
                  <a:srgbClr val="CDFCE3"/>
                </a:solidFill>
                <a:latin typeface="Space Grotesk" pitchFamily="34" charset="0"/>
                <a:ea typeface="Space Grotesk" pitchFamily="34" charset="-122"/>
                <a:cs typeface="Space Grotesk" pitchFamily="34" charset="-120"/>
              </a:rPr>
              <a:t>Merged</a:t>
            </a:r>
            <a:endParaRPr lang="en-US" sz="1000" dirty="0"/>
          </a:p>
          <a:p>
            <a:pPr algn="ctr" indent="0" marL="0">
              <a:lnSpc>
                <a:spcPct val="95000"/>
              </a:lnSpc>
              <a:buNone/>
            </a:pPr>
            <a:r>
              <a:rPr lang="en-US" sz="1000" b="1" dirty="0">
                <a:solidFill>
                  <a:srgbClr val="CDFCE3"/>
                </a:solidFill>
                <a:latin typeface="Space Grotesk" pitchFamily="34" charset="0"/>
                <a:ea typeface="Space Grotesk" pitchFamily="34" charset="-122"/>
                <a:cs typeface="Space Grotesk" pitchFamily="34" charset="-120"/>
              </a:rPr>
              <a:t>28-class label</a:t>
            </a:r>
            <a:endParaRPr lang="en-US" sz="1000" dirty="0"/>
          </a:p>
        </p:txBody>
      </p:sp>
      <p:sp>
        <p:nvSpPr>
          <p:cNvPr id="17" name="Shape 9"/>
          <p:cNvSpPr/>
          <p:nvPr/>
        </p:nvSpPr>
        <p:spPr>
          <a:xfrm>
            <a:off x="731520" y="4023360"/>
            <a:ext cx="5257800" cy="1481328"/>
          </a:xfrm>
          <a:prstGeom prst="roundRect">
            <a:avLst>
              <a:gd name="adj" fmla="val 6173"/>
            </a:avLst>
          </a:prstGeom>
          <a:solidFill>
            <a:srgbClr val="145043"/>
          </a:solidFill>
          <a:ln/>
          <a:effectLst>
            <a:outerShdw sx="100000" sy="100000" kx="0" ky="0" algn="bl" rotWithShape="0" blurRad="101600" dist="38100" dir="5400000">
              <a:srgbClr val="000000">
                <a:alpha val="35000"/>
              </a:srgbClr>
            </a:outerShdw>
          </a:effectLst>
        </p:spPr>
      </p:sp>
      <p:sp>
        <p:nvSpPr>
          <p:cNvPr id="18" name="Text 10"/>
          <p:cNvSpPr/>
          <p:nvPr/>
        </p:nvSpPr>
        <p:spPr>
          <a:xfrm>
            <a:off x="960120" y="4160520"/>
            <a:ext cx="4800600" cy="457200"/>
          </a:xfrm>
          <a:prstGeom prst="rect">
            <a:avLst/>
          </a:prstGeom>
          <a:noFill/>
          <a:ln/>
        </p:spPr>
        <p:txBody>
          <a:bodyPr wrap="square" lIns="0" tIns="0" rIns="0" bIns="0" rtlCol="0" anchor="t"/>
          <a:lstStyle/>
          <a:p>
            <a:pPr indent="0" marL="0">
              <a:buNone/>
            </a:pPr>
            <a:r>
              <a:rPr lang="en-US" sz="1500" b="1" dirty="0">
                <a:solidFill>
                  <a:srgbClr val="CDFCE3"/>
                </a:solidFill>
                <a:latin typeface="Space Grotesk" pitchFamily="34" charset="0"/>
                <a:ea typeface="Space Grotesk" pitchFamily="34" charset="-122"/>
                <a:cs typeface="Space Grotesk" pitchFamily="34" charset="-120"/>
              </a:rPr>
              <a:t>Spectral — 4 frames × 6 bands = 24</a:t>
            </a:r>
            <a:endParaRPr lang="en-US" sz="1500" dirty="0"/>
          </a:p>
        </p:txBody>
      </p:sp>
      <p:sp>
        <p:nvSpPr>
          <p:cNvPr id="19" name="Text 11"/>
          <p:cNvSpPr/>
          <p:nvPr/>
        </p:nvSpPr>
        <p:spPr>
          <a:xfrm>
            <a:off x="960120" y="4590288"/>
            <a:ext cx="4800600" cy="795528"/>
          </a:xfrm>
          <a:prstGeom prst="rect">
            <a:avLst/>
          </a:prstGeom>
          <a:noFill/>
          <a:ln/>
        </p:spPr>
        <p:txBody>
          <a:bodyPr wrap="square" lIns="0" tIns="0" rIns="0" bIns="0" rtlCol="0" anchor="t"/>
          <a:lstStyle/>
          <a:p>
            <a:pPr indent="0" marL="0">
              <a:lnSpc>
                <a:spcPct val="110000"/>
              </a:lnSpc>
              <a:buNone/>
            </a:pPr>
            <a:r>
              <a:rPr lang="en-US" sz="1200" dirty="0">
                <a:solidFill>
                  <a:srgbClr val="FFFFFF"/>
                </a:solidFill>
                <a:latin typeface="Space Grotesk" pitchFamily="34" charset="0"/>
                <a:ea typeface="Space Grotesk" pitchFamily="34" charset="-122"/>
                <a:cs typeface="Space Grotesk" pitchFamily="34" charset="-120"/>
              </a:rPr>
              <a:t>Frame 0 is autumn (Sep–Oct) of the year BEFORE the label; frames 1–3 follow VPP phenology through the growing season. Each frame carries B02 B03 B04 B8A B11 B12 (Prithvi order; NIR is B8A, not B08).</a:t>
            </a:r>
            <a:endParaRPr lang="en-US" sz="1200" dirty="0"/>
          </a:p>
        </p:txBody>
      </p:sp>
      <p:sp>
        <p:nvSpPr>
          <p:cNvPr id="20" name="Shape 12"/>
          <p:cNvSpPr/>
          <p:nvPr/>
        </p:nvSpPr>
        <p:spPr>
          <a:xfrm>
            <a:off x="6263640" y="4023360"/>
            <a:ext cx="5212080" cy="1481328"/>
          </a:xfrm>
          <a:prstGeom prst="roundRect">
            <a:avLst>
              <a:gd name="adj" fmla="val 6173"/>
            </a:avLst>
          </a:prstGeom>
          <a:solidFill>
            <a:srgbClr val="145043"/>
          </a:solidFill>
          <a:ln/>
          <a:effectLst>
            <a:outerShdw sx="100000" sy="100000" kx="0" ky="0" algn="bl" rotWithShape="0" blurRad="101600" dist="38100" dir="5400000">
              <a:srgbClr val="000000">
                <a:alpha val="35000"/>
              </a:srgbClr>
            </a:outerShdw>
          </a:effectLst>
        </p:spPr>
      </p:sp>
      <p:sp>
        <p:nvSpPr>
          <p:cNvPr id="21" name="Text 13"/>
          <p:cNvSpPr/>
          <p:nvPr/>
        </p:nvSpPr>
        <p:spPr>
          <a:xfrm>
            <a:off x="6492240" y="4160520"/>
            <a:ext cx="4754880" cy="457200"/>
          </a:xfrm>
          <a:prstGeom prst="rect">
            <a:avLst/>
          </a:prstGeom>
          <a:noFill/>
          <a:ln/>
        </p:spPr>
        <p:txBody>
          <a:bodyPr wrap="square" lIns="0" tIns="0" rIns="0" bIns="0" rtlCol="0" anchor="t"/>
          <a:lstStyle/>
          <a:p>
            <a:pPr indent="0" marL="0">
              <a:buNone/>
            </a:pPr>
            <a:r>
              <a:rPr lang="en-US" sz="1500" b="1" dirty="0">
                <a:solidFill>
                  <a:srgbClr val="FF826C"/>
                </a:solidFill>
                <a:latin typeface="Space Grotesk" pitchFamily="34" charset="0"/>
                <a:ea typeface="Space Grotesk" pitchFamily="34" charset="-122"/>
                <a:cs typeface="Space Grotesk" pitchFamily="34" charset="-120"/>
              </a:rPr>
              <a:t>Auxiliary — 11 channels</a:t>
            </a:r>
            <a:endParaRPr lang="en-US" sz="1500" dirty="0"/>
          </a:p>
        </p:txBody>
      </p:sp>
      <p:sp>
        <p:nvSpPr>
          <p:cNvPr id="22" name="Text 14"/>
          <p:cNvSpPr/>
          <p:nvPr/>
        </p:nvSpPr>
        <p:spPr>
          <a:xfrm>
            <a:off x="6492240" y="4590288"/>
            <a:ext cx="4754880" cy="795528"/>
          </a:xfrm>
          <a:prstGeom prst="rect">
            <a:avLst/>
          </a:prstGeom>
          <a:noFill/>
          <a:ln/>
        </p:spPr>
        <p:txBody>
          <a:bodyPr wrap="square" lIns="0" tIns="0" rIns="0" bIns="0" rtlCol="0" anchor="t"/>
          <a:lstStyle/>
          <a:p>
            <a:pPr indent="0" marL="0">
              <a:lnSpc>
                <a:spcPct val="110000"/>
              </a:lnSpc>
              <a:buNone/>
            </a:pPr>
            <a:r>
              <a:rPr lang="en-US" sz="1200" dirty="0">
                <a:solidFill>
                  <a:srgbClr val="FFFFFF"/>
                </a:solidFill>
                <a:latin typeface="Space Grotesk" pitchFamily="34" charset="0"/>
                <a:ea typeface="Space Grotesk" pitchFamily="34" charset="-122"/>
                <a:cs typeface="Space Grotesk" pitchFamily="34" charset="-120"/>
              </a:rPr>
              <a:t>SLU forestry: canopy height, volume, basal area, stem diameter. Terrain: Copernicus DEM. Phenology (HR-VPP): start- &amp; end-of-season, season length, peak &amp; trough vegetation. Plus SLU soil moisture (markfukt).</a:t>
            </a:r>
            <a:endParaRPr lang="en-US" sz="1200" dirty="0"/>
          </a:p>
        </p:txBody>
      </p:sp>
      <p:sp>
        <p:nvSpPr>
          <p:cNvPr id="23" name="Text 15"/>
          <p:cNvSpPr/>
          <p:nvPr/>
        </p:nvSpPr>
        <p:spPr>
          <a:xfrm>
            <a:off x="731520" y="5742432"/>
            <a:ext cx="10744200" cy="640080"/>
          </a:xfrm>
          <a:prstGeom prst="rect">
            <a:avLst/>
          </a:prstGeom>
          <a:noFill/>
          <a:ln/>
        </p:spPr>
        <p:txBody>
          <a:bodyPr wrap="square" lIns="0" tIns="0" rIns="0" bIns="0" rtlCol="0" anchor="t"/>
          <a:lstStyle/>
          <a:p>
            <a:pPr algn="ctr" indent="0" marL="0">
              <a:lnSpc>
                <a:spcPct val="110000"/>
              </a:lnSpc>
              <a:buNone/>
            </a:pPr>
            <a:r>
              <a:rPr lang="en-US" sz="1200" b="1" dirty="0">
                <a:solidFill>
                  <a:srgbClr val="CDFCE3"/>
                </a:solidFill>
                <a:latin typeface="Space Grotesk" pitchFamily="34" charset="0"/>
                <a:ea typeface="Space Grotesk" pitchFamily="34" charset="-122"/>
                <a:cs typeface="Space Grotesk" pitchFamily="34" charset="-120"/>
              </a:rPr>
              <a:t>Label build:  </a:t>
            </a:r>
            <a:pPr algn="ctr" indent="0" marL="0">
              <a:lnSpc>
                <a:spcPct val="110000"/>
              </a:lnSpc>
              <a:buNone/>
            </a:pPr>
            <a:r>
              <a:rPr lang="en-US" sz="1200" dirty="0">
                <a:solidFill>
                  <a:srgbClr val="FFFFFF"/>
                </a:solidFill>
                <a:latin typeface="Space Grotesk" pitchFamily="34" charset="0"/>
                <a:ea typeface="Space Grotesk" pitchFamily="34" charset="-122"/>
                <a:cs typeface="Space Grotesk" pitchFamily="34" charset="-120"/>
              </a:rPr>
              <a:t>NMD2023 land cover (base)  →  LPIS crop parcels (year-matched SJV codes)  →  SKS clear-cut (hygge).  QC drops tiles with &gt;5% nodata or &lt;3 of 4 usable frames.  </a:t>
            </a:r>
            <a:pPr algn="ctr" indent="0" marL="0">
              <a:lnSpc>
                <a:spcPct val="110000"/>
              </a:lnSpc>
              <a:buNone/>
            </a:pPr>
            <a:r>
              <a:rPr lang="en-US" sz="1200" dirty="0">
                <a:solidFill>
                  <a:srgbClr val="9DBDB0"/>
                </a:solidFill>
                <a:latin typeface="Space Grotesk" pitchFamily="34" charset="0"/>
                <a:ea typeface="Space Grotesk" pitchFamily="34" charset="-122"/>
                <a:cs typeface="Space Grotesk" pitchFamily="34" charset="-120"/>
              </a:rPr>
              <a:t>7,882 tiles · 10 m GSD · 2018–24 · Sweden-wide.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640080" y="384048"/>
            <a:ext cx="1088136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Space Grotesk" pitchFamily="34" charset="0"/>
                <a:ea typeface="Space Grotesk" pitchFamily="34" charset="-122"/>
                <a:cs typeface="Space Grotesk" pitchFamily="34" charset="-120"/>
              </a:rPr>
              <a:t>Label taxonomy and class distribution</a:t>
            </a:r>
            <a:endParaRPr lang="en-US" sz="3200" dirty="0"/>
          </a:p>
        </p:txBody>
      </p:sp>
      <p:sp>
        <p:nvSpPr>
          <p:cNvPr id="4" name="Text 2"/>
          <p:cNvSpPr/>
          <p:nvPr/>
        </p:nvSpPr>
        <p:spPr>
          <a:xfrm>
            <a:off x="731520" y="1115568"/>
            <a:ext cx="10698480" cy="320040"/>
          </a:xfrm>
          <a:prstGeom prst="rect">
            <a:avLst/>
          </a:prstGeom>
          <a:noFill/>
          <a:ln/>
        </p:spPr>
        <p:txBody>
          <a:bodyPr wrap="square" lIns="0" tIns="0" rIns="0" bIns="0" rtlCol="0" anchor="ctr"/>
          <a:lstStyle/>
          <a:p>
            <a:pPr indent="0" marL="0">
              <a:buNone/>
            </a:pPr>
            <a:r>
              <a:rPr lang="en-US" sz="1400" b="1" dirty="0">
                <a:solidFill>
                  <a:srgbClr val="CDFCE3"/>
                </a:solidFill>
                <a:latin typeface="Space Grotesk" pitchFamily="34" charset="0"/>
                <a:ea typeface="Space Grotesk" pitchFamily="34" charset="-122"/>
                <a:cs typeface="Space Grotesk" pitchFamily="34" charset="-120"/>
              </a:rPr>
              <a:t>28 classes drawn from four national label sources</a:t>
            </a:r>
            <a:endParaRPr lang="en-US" sz="1400" dirty="0"/>
          </a:p>
        </p:txBody>
      </p:sp>
      <p:sp>
        <p:nvSpPr>
          <p:cNvPr id="5" name="Shape 3"/>
          <p:cNvSpPr/>
          <p:nvPr/>
        </p:nvSpPr>
        <p:spPr>
          <a:xfrm>
            <a:off x="731520" y="1536192"/>
            <a:ext cx="3933613" cy="548640"/>
          </a:xfrm>
          <a:prstGeom prst="roundRect">
            <a:avLst>
              <a:gd name="adj" fmla="val 10000"/>
            </a:avLst>
          </a:prstGeom>
          <a:solidFill>
            <a:srgbClr val="CDFCE3"/>
          </a:solidFill>
          <a:ln/>
        </p:spPr>
      </p:sp>
      <p:sp>
        <p:nvSpPr>
          <p:cNvPr id="6" name="Text 4"/>
          <p:cNvSpPr/>
          <p:nvPr/>
        </p:nvSpPr>
        <p:spPr>
          <a:xfrm>
            <a:off x="731520" y="1536192"/>
            <a:ext cx="3933613" cy="548640"/>
          </a:xfrm>
          <a:prstGeom prst="rect">
            <a:avLst/>
          </a:prstGeom>
          <a:noFill/>
          <a:ln/>
        </p:spPr>
        <p:txBody>
          <a:bodyPr wrap="square" lIns="0" tIns="0" rIns="0" bIns="0" rtlCol="0" anchor="ctr"/>
          <a:lstStyle/>
          <a:p>
            <a:pPr algn="ctr" indent="0" marL="0">
              <a:buNone/>
            </a:pPr>
            <a:r>
              <a:rPr lang="en-US" sz="1900" b="1" dirty="0">
                <a:solidFill>
                  <a:srgbClr val="0E433C"/>
                </a:solidFill>
                <a:latin typeface="Space Grotesk" pitchFamily="34" charset="0"/>
                <a:ea typeface="Space Grotesk" pitchFamily="34" charset="-122"/>
                <a:cs typeface="Space Grotesk" pitchFamily="34" charset="-120"/>
              </a:rPr>
              <a:t>10</a:t>
            </a:r>
            <a:endParaRPr lang="en-US" sz="1900" dirty="0"/>
          </a:p>
        </p:txBody>
      </p:sp>
      <p:sp>
        <p:nvSpPr>
          <p:cNvPr id="7" name="Shape 5"/>
          <p:cNvSpPr/>
          <p:nvPr/>
        </p:nvSpPr>
        <p:spPr>
          <a:xfrm>
            <a:off x="4710853" y="1536192"/>
            <a:ext cx="4331547" cy="548640"/>
          </a:xfrm>
          <a:prstGeom prst="roundRect">
            <a:avLst>
              <a:gd name="adj" fmla="val 10000"/>
            </a:avLst>
          </a:prstGeom>
          <a:solidFill>
            <a:srgbClr val="FF826C"/>
          </a:solidFill>
          <a:ln/>
        </p:spPr>
      </p:sp>
      <p:sp>
        <p:nvSpPr>
          <p:cNvPr id="8" name="Text 6"/>
          <p:cNvSpPr/>
          <p:nvPr/>
        </p:nvSpPr>
        <p:spPr>
          <a:xfrm>
            <a:off x="4710853" y="1536192"/>
            <a:ext cx="4331547"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Space Grotesk" pitchFamily="34" charset="0"/>
                <a:ea typeface="Space Grotesk" pitchFamily="34" charset="-122"/>
                <a:cs typeface="Space Grotesk" pitchFamily="34" charset="-120"/>
              </a:rPr>
              <a:t>11</a:t>
            </a:r>
            <a:endParaRPr lang="en-US" sz="1900" dirty="0"/>
          </a:p>
        </p:txBody>
      </p:sp>
      <p:sp>
        <p:nvSpPr>
          <p:cNvPr id="9" name="Shape 7"/>
          <p:cNvSpPr/>
          <p:nvPr/>
        </p:nvSpPr>
        <p:spPr>
          <a:xfrm>
            <a:off x="9088120" y="1536192"/>
            <a:ext cx="352213" cy="548640"/>
          </a:xfrm>
          <a:prstGeom prst="roundRect">
            <a:avLst>
              <a:gd name="adj" fmla="val 15577"/>
            </a:avLst>
          </a:prstGeom>
          <a:solidFill>
            <a:srgbClr val="F2C879"/>
          </a:solidFill>
          <a:ln/>
        </p:spPr>
      </p:sp>
      <p:sp>
        <p:nvSpPr>
          <p:cNvPr id="10" name="Text 8"/>
          <p:cNvSpPr/>
          <p:nvPr/>
        </p:nvSpPr>
        <p:spPr>
          <a:xfrm>
            <a:off x="9088120" y="1536192"/>
            <a:ext cx="352213" cy="548640"/>
          </a:xfrm>
          <a:prstGeom prst="rect">
            <a:avLst/>
          </a:prstGeom>
          <a:noFill/>
          <a:ln/>
        </p:spPr>
        <p:txBody>
          <a:bodyPr wrap="square" lIns="0" tIns="0" rIns="0" bIns="0" rtlCol="0" anchor="ctr"/>
          <a:lstStyle/>
          <a:p>
            <a:pPr algn="ctr" indent="0" marL="0">
              <a:buNone/>
            </a:pPr>
            <a:r>
              <a:rPr lang="en-US" sz="1300" b="1" dirty="0">
                <a:solidFill>
                  <a:srgbClr val="0E433C"/>
                </a:solidFill>
                <a:latin typeface="Space Grotesk" pitchFamily="34" charset="0"/>
                <a:ea typeface="Space Grotesk" pitchFamily="34" charset="-122"/>
                <a:cs typeface="Space Grotesk" pitchFamily="34" charset="-120"/>
              </a:rPr>
              <a:t>1</a:t>
            </a:r>
            <a:endParaRPr lang="en-US" sz="1300" dirty="0"/>
          </a:p>
        </p:txBody>
      </p:sp>
      <p:sp>
        <p:nvSpPr>
          <p:cNvPr id="11" name="Shape 9"/>
          <p:cNvSpPr/>
          <p:nvPr/>
        </p:nvSpPr>
        <p:spPr>
          <a:xfrm>
            <a:off x="9486053" y="1536192"/>
            <a:ext cx="1943947" cy="548640"/>
          </a:xfrm>
          <a:prstGeom prst="roundRect">
            <a:avLst>
              <a:gd name="adj" fmla="val 10000"/>
            </a:avLst>
          </a:prstGeom>
          <a:solidFill>
            <a:srgbClr val="5E8478"/>
          </a:solidFill>
          <a:ln/>
        </p:spPr>
      </p:sp>
      <p:sp>
        <p:nvSpPr>
          <p:cNvPr id="12" name="Text 10"/>
          <p:cNvSpPr/>
          <p:nvPr/>
        </p:nvSpPr>
        <p:spPr>
          <a:xfrm>
            <a:off x="9486053" y="1536192"/>
            <a:ext cx="1943947"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Space Grotesk" pitchFamily="34" charset="0"/>
                <a:ea typeface="Space Grotesk" pitchFamily="34" charset="-122"/>
                <a:cs typeface="Space Grotesk" pitchFamily="34" charset="-120"/>
              </a:rPr>
              <a:t>5</a:t>
            </a:r>
            <a:endParaRPr lang="en-US" sz="1900" dirty="0"/>
          </a:p>
        </p:txBody>
      </p:sp>
      <p:sp>
        <p:nvSpPr>
          <p:cNvPr id="13" name="Shape 11"/>
          <p:cNvSpPr/>
          <p:nvPr/>
        </p:nvSpPr>
        <p:spPr>
          <a:xfrm>
            <a:off x="777240" y="2249424"/>
            <a:ext cx="201168" cy="201168"/>
          </a:xfrm>
          <a:prstGeom prst="rect">
            <a:avLst/>
          </a:prstGeom>
          <a:solidFill>
            <a:srgbClr val="CDFCE3"/>
          </a:solidFill>
          <a:ln/>
        </p:spPr>
      </p:sp>
      <p:sp>
        <p:nvSpPr>
          <p:cNvPr id="14" name="Text 12"/>
          <p:cNvSpPr/>
          <p:nvPr/>
        </p:nvSpPr>
        <p:spPr>
          <a:xfrm>
            <a:off x="1051560" y="2212848"/>
            <a:ext cx="2468880" cy="292608"/>
          </a:xfrm>
          <a:prstGeom prst="rect">
            <a:avLst/>
          </a:prstGeom>
          <a:noFill/>
          <a:ln/>
        </p:spPr>
        <p:txBody>
          <a:bodyPr wrap="square" lIns="0" tIns="0" rIns="0" bIns="0" rtlCol="0" anchor="ctr"/>
          <a:lstStyle/>
          <a:p>
            <a:pPr indent="0" marL="0">
              <a:buNone/>
            </a:pPr>
            <a:r>
              <a:rPr lang="en-US" sz="1150" dirty="0">
                <a:solidFill>
                  <a:srgbClr val="FFFFFF"/>
                </a:solidFill>
                <a:latin typeface="Space Grotesk" pitchFamily="34" charset="0"/>
                <a:ea typeface="Space Grotesk" pitchFamily="34" charset="-122"/>
                <a:cs typeface="Space Grotesk" pitchFamily="34" charset="-120"/>
              </a:rPr>
              <a:t>NMD land cover (1–10)</a:t>
            </a:r>
            <a:endParaRPr lang="en-US" sz="1150" dirty="0"/>
          </a:p>
        </p:txBody>
      </p:sp>
      <p:sp>
        <p:nvSpPr>
          <p:cNvPr id="15" name="Shape 13"/>
          <p:cNvSpPr/>
          <p:nvPr/>
        </p:nvSpPr>
        <p:spPr>
          <a:xfrm>
            <a:off x="3474720" y="2249424"/>
            <a:ext cx="201168" cy="201168"/>
          </a:xfrm>
          <a:prstGeom prst="rect">
            <a:avLst/>
          </a:prstGeom>
          <a:solidFill>
            <a:srgbClr val="FF826C"/>
          </a:solidFill>
          <a:ln/>
        </p:spPr>
      </p:sp>
      <p:sp>
        <p:nvSpPr>
          <p:cNvPr id="16" name="Text 14"/>
          <p:cNvSpPr/>
          <p:nvPr/>
        </p:nvSpPr>
        <p:spPr>
          <a:xfrm>
            <a:off x="3749040" y="2212848"/>
            <a:ext cx="2468880" cy="292608"/>
          </a:xfrm>
          <a:prstGeom prst="rect">
            <a:avLst/>
          </a:prstGeom>
          <a:noFill/>
          <a:ln/>
        </p:spPr>
        <p:txBody>
          <a:bodyPr wrap="square" lIns="0" tIns="0" rIns="0" bIns="0" rtlCol="0" anchor="ctr"/>
          <a:lstStyle/>
          <a:p>
            <a:pPr indent="0" marL="0">
              <a:buNone/>
            </a:pPr>
            <a:r>
              <a:rPr lang="en-US" sz="1150" dirty="0">
                <a:solidFill>
                  <a:srgbClr val="FFFFFF"/>
                </a:solidFill>
                <a:latin typeface="Space Grotesk" pitchFamily="34" charset="0"/>
                <a:ea typeface="Space Grotesk" pitchFamily="34" charset="-122"/>
                <a:cs typeface="Space Grotesk" pitchFamily="34" charset="-120"/>
              </a:rPr>
              <a:t>LPIS crops (11–21)</a:t>
            </a:r>
            <a:endParaRPr lang="en-US" sz="1150" dirty="0"/>
          </a:p>
        </p:txBody>
      </p:sp>
      <p:sp>
        <p:nvSpPr>
          <p:cNvPr id="17" name="Shape 15"/>
          <p:cNvSpPr/>
          <p:nvPr/>
        </p:nvSpPr>
        <p:spPr>
          <a:xfrm>
            <a:off x="6172200" y="2249424"/>
            <a:ext cx="201168" cy="201168"/>
          </a:xfrm>
          <a:prstGeom prst="rect">
            <a:avLst/>
          </a:prstGeom>
          <a:solidFill>
            <a:srgbClr val="F2C879"/>
          </a:solidFill>
          <a:ln/>
        </p:spPr>
      </p:sp>
      <p:sp>
        <p:nvSpPr>
          <p:cNvPr id="18" name="Text 16"/>
          <p:cNvSpPr/>
          <p:nvPr/>
        </p:nvSpPr>
        <p:spPr>
          <a:xfrm>
            <a:off x="6446520" y="2212848"/>
            <a:ext cx="2468880" cy="292608"/>
          </a:xfrm>
          <a:prstGeom prst="rect">
            <a:avLst/>
          </a:prstGeom>
          <a:noFill/>
          <a:ln/>
        </p:spPr>
        <p:txBody>
          <a:bodyPr wrap="square" lIns="0" tIns="0" rIns="0" bIns="0" rtlCol="0" anchor="ctr"/>
          <a:lstStyle/>
          <a:p>
            <a:pPr indent="0" marL="0">
              <a:buNone/>
            </a:pPr>
            <a:r>
              <a:rPr lang="en-US" sz="1150" dirty="0">
                <a:solidFill>
                  <a:srgbClr val="FFFFFF"/>
                </a:solidFill>
                <a:latin typeface="Space Grotesk" pitchFamily="34" charset="0"/>
                <a:ea typeface="Space Grotesk" pitchFamily="34" charset="-122"/>
                <a:cs typeface="Space Grotesk" pitchFamily="34" charset="-120"/>
              </a:rPr>
              <a:t>SKS clear-cut (22)</a:t>
            </a:r>
            <a:endParaRPr lang="en-US" sz="1150" dirty="0"/>
          </a:p>
        </p:txBody>
      </p:sp>
      <p:sp>
        <p:nvSpPr>
          <p:cNvPr id="19" name="Shape 17"/>
          <p:cNvSpPr/>
          <p:nvPr/>
        </p:nvSpPr>
        <p:spPr>
          <a:xfrm>
            <a:off x="8869680" y="2249424"/>
            <a:ext cx="201168" cy="201168"/>
          </a:xfrm>
          <a:prstGeom prst="rect">
            <a:avLst/>
          </a:prstGeom>
          <a:solidFill>
            <a:srgbClr val="5E8478"/>
          </a:solidFill>
          <a:ln/>
        </p:spPr>
      </p:sp>
      <p:sp>
        <p:nvSpPr>
          <p:cNvPr id="20" name="Text 18"/>
          <p:cNvSpPr/>
          <p:nvPr/>
        </p:nvSpPr>
        <p:spPr>
          <a:xfrm>
            <a:off x="9144000" y="2212848"/>
            <a:ext cx="2468880" cy="292608"/>
          </a:xfrm>
          <a:prstGeom prst="rect">
            <a:avLst/>
          </a:prstGeom>
          <a:noFill/>
          <a:ln/>
        </p:spPr>
        <p:txBody>
          <a:bodyPr wrap="square" lIns="0" tIns="0" rIns="0" bIns="0" rtlCol="0" anchor="ctr"/>
          <a:lstStyle/>
          <a:p>
            <a:pPr indent="0" marL="0">
              <a:buNone/>
            </a:pPr>
            <a:r>
              <a:rPr lang="en-US" sz="1150" dirty="0">
                <a:solidFill>
                  <a:srgbClr val="FFFFFF"/>
                </a:solidFill>
                <a:latin typeface="Space Grotesk" pitchFamily="34" charset="0"/>
                <a:ea typeface="Space Grotesk" pitchFamily="34" charset="-122"/>
                <a:cs typeface="Space Grotesk" pitchFamily="34" charset="-120"/>
              </a:rPr>
              <a:t>NMD2023 additions (23–27)</a:t>
            </a:r>
            <a:endParaRPr lang="en-US" sz="1150" dirty="0"/>
          </a:p>
        </p:txBody>
      </p:sp>
      <p:sp>
        <p:nvSpPr>
          <p:cNvPr id="21" name="Text 19"/>
          <p:cNvSpPr/>
          <p:nvPr/>
        </p:nvSpPr>
        <p:spPr>
          <a:xfrm>
            <a:off x="640080" y="2788920"/>
            <a:ext cx="5669280" cy="320040"/>
          </a:xfrm>
          <a:prstGeom prst="rect">
            <a:avLst/>
          </a:prstGeom>
          <a:noFill/>
          <a:ln/>
        </p:spPr>
        <p:txBody>
          <a:bodyPr wrap="square" lIns="0" tIns="0" rIns="0" bIns="0" rtlCol="0" anchor="ctr"/>
          <a:lstStyle/>
          <a:p>
            <a:pPr indent="0" marL="0">
              <a:buNone/>
            </a:pPr>
            <a:r>
              <a:rPr lang="en-US" sz="1350" b="1" dirty="0">
                <a:solidFill>
                  <a:srgbClr val="FF826C"/>
                </a:solidFill>
                <a:latin typeface="Space Grotesk" pitchFamily="34" charset="0"/>
                <a:ea typeface="Space Grotesk" pitchFamily="34" charset="-122"/>
                <a:cs typeface="Space Grotesk" pitchFamily="34" charset="-120"/>
              </a:rPr>
              <a:t>NFI reference forest types (944 field plots)</a:t>
            </a:r>
            <a:endParaRPr lang="en-US" sz="1350" dirty="0"/>
          </a:p>
        </p:txBody>
      </p:sp>
      <p:graphicFrame>
        <p:nvGraphicFramePr>
          <p:cNvPr id="22" name="Chart 0" descr=""/>
          <p:cNvGraphicFramePr/>
          <p:nvPr/>
        </p:nvGraphicFramePr>
        <p:xfrm>
          <a:off x="457200" y="3154680"/>
          <a:ext cx="5806440" cy="2788920"/>
        </p:xfrm>
        <a:graphic xmlns:a="http://schemas.openxmlformats.org/drawingml/2006/main">
          <a:graphicData uri="http://schemas.openxmlformats.org/drawingml/2006/chart">
            <c:chart xmlns:c="http://schemas.openxmlformats.org/drawingml/2006/chart" r:id="rId1"/>
          </a:graphicData>
        </a:graphic>
      </p:graphicFrame>
      <p:sp>
        <p:nvSpPr>
          <p:cNvPr id="23" name="Shape 20"/>
          <p:cNvSpPr/>
          <p:nvPr/>
        </p:nvSpPr>
        <p:spPr>
          <a:xfrm>
            <a:off x="6492240" y="2971800"/>
            <a:ext cx="4983480" cy="3200400"/>
          </a:xfrm>
          <a:prstGeom prst="roundRect">
            <a:avLst>
              <a:gd name="adj" fmla="val 2857"/>
            </a:avLst>
          </a:prstGeom>
          <a:solidFill>
            <a:srgbClr val="145043"/>
          </a:solidFill>
          <a:ln/>
          <a:effectLst>
            <a:outerShdw sx="100000" sy="100000" kx="0" ky="0" algn="bl" rotWithShape="0" blurRad="101600" dist="38100" dir="5400000">
              <a:srgbClr val="000000">
                <a:alpha val="35000"/>
              </a:srgbClr>
            </a:outerShdw>
          </a:effectLst>
        </p:spPr>
      </p:sp>
      <p:sp>
        <p:nvSpPr>
          <p:cNvPr id="24" name="Text 21"/>
          <p:cNvSpPr/>
          <p:nvPr/>
        </p:nvSpPr>
        <p:spPr>
          <a:xfrm>
            <a:off x="6720840" y="3108960"/>
            <a:ext cx="4526280" cy="457200"/>
          </a:xfrm>
          <a:prstGeom prst="rect">
            <a:avLst/>
          </a:prstGeom>
          <a:noFill/>
          <a:ln/>
        </p:spPr>
        <p:txBody>
          <a:bodyPr wrap="square" lIns="0" tIns="0" rIns="0" bIns="0" rtlCol="0" anchor="t"/>
          <a:lstStyle/>
          <a:p>
            <a:pPr indent="0" marL="0">
              <a:buNone/>
            </a:pPr>
            <a:r>
              <a:rPr lang="en-US" sz="1700" b="1" dirty="0">
                <a:solidFill>
                  <a:srgbClr val="FF826C"/>
                </a:solidFill>
                <a:latin typeface="Space Grotesk" pitchFamily="34" charset="0"/>
                <a:ea typeface="Space Grotesk" pitchFamily="34" charset="-122"/>
                <a:cs typeface="Space Grotesk" pitchFamily="34" charset="-120"/>
              </a:rPr>
              <a:t>Forest-dominated, and imbalanced</a:t>
            </a:r>
            <a:endParaRPr lang="en-US" sz="1700" dirty="0"/>
          </a:p>
        </p:txBody>
      </p:sp>
      <p:sp>
        <p:nvSpPr>
          <p:cNvPr id="25" name="Text 22"/>
          <p:cNvSpPr/>
          <p:nvPr/>
        </p:nvSpPr>
        <p:spPr>
          <a:xfrm>
            <a:off x="6720840" y="3538728"/>
            <a:ext cx="4526280" cy="2514600"/>
          </a:xfrm>
          <a:prstGeom prst="rect">
            <a:avLst/>
          </a:prstGeom>
          <a:noFill/>
          <a:ln/>
        </p:spPr>
        <p:txBody>
          <a:bodyPr wrap="square" lIns="0" tIns="0" rIns="0" bIns="0" rtlCol="0" anchor="t"/>
          <a:lstStyle/>
          <a:p>
            <a:pPr indent="0" marL="0">
              <a:lnSpc>
                <a:spcPct val="110000"/>
              </a:lnSpc>
              <a:buNone/>
            </a:pPr>
            <a:r>
              <a:rPr lang="en-US" sz="1250" dirty="0">
                <a:solidFill>
                  <a:srgbClr val="FFFFFF"/>
                </a:solidFill>
                <a:latin typeface="Space Grotesk" pitchFamily="34" charset="0"/>
                <a:ea typeface="Space Grotesk" pitchFamily="34" charset="-122"/>
                <a:cs typeface="Space Grotesk" pitchFamily="34" charset="-120"/>
              </a:rPr>
              <a:t>Of 944 NFI plots, 884 are forest and only 60 are non-forest. Within forest, pine (372) and spruce (247) are 70% of plots; deciduous (133) and mixed (132) about 15% each.</a:t>
            </a:r>
            <a:endParaRPr lang="en-US" sz="1250" dirty="0"/>
          </a:p>
          <a:p>
            <a:pPr indent="0" marL="0">
              <a:lnSpc>
                <a:spcPct val="110000"/>
              </a:lnSpc>
              <a:buNone/>
            </a:pPr>
            <a:endParaRPr lang="en-US" sz="1250" dirty="0"/>
          </a:p>
          <a:p>
            <a:pPr indent="0" marL="0">
              <a:lnSpc>
                <a:spcPct val="110000"/>
              </a:lnSpc>
              <a:buNone/>
            </a:pPr>
            <a:r>
              <a:rPr lang="en-US" sz="1250" dirty="0">
                <a:solidFill>
                  <a:srgbClr val="FFFFFF"/>
                </a:solidFill>
                <a:latin typeface="Space Grotesk" pitchFamily="34" charset="0"/>
                <a:ea typeface="Space Grotesk" pitchFamily="34" charset="-122"/>
                <a:cs typeface="Space Grotesk" pitchFamily="34" charset="-120"/>
              </a:rPr>
              <a:t>The training labels inherit this skew: forest covers most of Sweden, crops occupy a thin southern agricultural band, and clear-cut (hygge) is rarer still.</a:t>
            </a:r>
            <a:endParaRPr lang="en-US" sz="1250" dirty="0"/>
          </a:p>
          <a:p>
            <a:pPr indent="0" marL="0">
              <a:lnSpc>
                <a:spcPct val="110000"/>
              </a:lnSpc>
              <a:buNone/>
            </a:pPr>
            <a:endParaRPr lang="en-US" sz="1250" dirty="0"/>
          </a:p>
          <a:p>
            <a:pPr indent="0" marL="0">
              <a:lnSpc>
                <a:spcPct val="110000"/>
              </a:lnSpc>
              <a:buNone/>
            </a:pPr>
            <a:r>
              <a:rPr lang="en-US" sz="1250" dirty="0">
                <a:solidFill>
                  <a:srgbClr val="FFFFFF"/>
                </a:solidFill>
                <a:latin typeface="Space Grotesk" pitchFamily="34" charset="0"/>
                <a:ea typeface="Space Grotesk" pitchFamily="34" charset="-122"/>
                <a:cs typeface="Space Grotesk" pitchFamily="34" charset="-120"/>
              </a:rPr>
              <a:t>So the rare classes — mixed forest, minor crops, non-forest — carry the widest confidence intervals, and are why a thin 209-plot held-out set limits statistical power.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640080" y="384048"/>
            <a:ext cx="1088136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Space Grotesk" pitchFamily="34" charset="0"/>
                <a:ea typeface="Space Grotesk" pitchFamily="34" charset="-122"/>
                <a:cs typeface="Space Grotesk" pitchFamily="34" charset="-120"/>
              </a:rPr>
              <a:t>Methods: architecture</a:t>
            </a:r>
            <a:endParaRPr lang="en-US" sz="3200" dirty="0"/>
          </a:p>
        </p:txBody>
      </p:sp>
      <p:sp>
        <p:nvSpPr>
          <p:cNvPr id="4" name="Shape 2"/>
          <p:cNvSpPr/>
          <p:nvPr/>
        </p:nvSpPr>
        <p:spPr>
          <a:xfrm>
            <a:off x="731520" y="1371600"/>
            <a:ext cx="5257800" cy="1874520"/>
          </a:xfrm>
          <a:prstGeom prst="roundRect">
            <a:avLst>
              <a:gd name="adj" fmla="val 4878"/>
            </a:avLst>
          </a:prstGeom>
          <a:solidFill>
            <a:srgbClr val="145043"/>
          </a:solidFill>
          <a:ln/>
          <a:effectLst>
            <a:outerShdw sx="100000" sy="100000" kx="0" ky="0" algn="bl" rotWithShape="0" blurRad="101600" dist="38100" dir="5400000">
              <a:srgbClr val="000000">
                <a:alpha val="35000"/>
              </a:srgbClr>
            </a:outerShdw>
          </a:effectLst>
        </p:spPr>
      </p:sp>
      <p:sp>
        <p:nvSpPr>
          <p:cNvPr id="5" name="Text 3"/>
          <p:cNvSpPr/>
          <p:nvPr/>
        </p:nvSpPr>
        <p:spPr>
          <a:xfrm>
            <a:off x="960120" y="1508760"/>
            <a:ext cx="4800600" cy="457200"/>
          </a:xfrm>
          <a:prstGeom prst="rect">
            <a:avLst/>
          </a:prstGeom>
          <a:noFill/>
          <a:ln/>
        </p:spPr>
        <p:txBody>
          <a:bodyPr wrap="square" lIns="0" tIns="0" rIns="0" bIns="0" rtlCol="0" anchor="t"/>
          <a:lstStyle/>
          <a:p>
            <a:pPr indent="0" marL="0">
              <a:buNone/>
            </a:pPr>
            <a:r>
              <a:rPr lang="en-US" sz="1700" b="1" dirty="0">
                <a:solidFill>
                  <a:srgbClr val="CDFCE3"/>
                </a:solidFill>
                <a:latin typeface="Space Grotesk" pitchFamily="34" charset="0"/>
                <a:ea typeface="Space Grotesk" pitchFamily="34" charset="-122"/>
                <a:cs typeface="Space Grotesk" pitchFamily="34" charset="-120"/>
              </a:rPr>
              <a:t>Prithvi-EO-2.0 600M backbone</a:t>
            </a:r>
            <a:endParaRPr lang="en-US" sz="1700" dirty="0"/>
          </a:p>
        </p:txBody>
      </p:sp>
      <p:sp>
        <p:nvSpPr>
          <p:cNvPr id="6" name="Text 4"/>
          <p:cNvSpPr/>
          <p:nvPr/>
        </p:nvSpPr>
        <p:spPr>
          <a:xfrm>
            <a:off x="960120" y="1938528"/>
            <a:ext cx="4800600" cy="1188720"/>
          </a:xfrm>
          <a:prstGeom prst="rect">
            <a:avLst/>
          </a:prstGeom>
          <a:noFill/>
          <a:ln/>
        </p:spPr>
        <p:txBody>
          <a:bodyPr wrap="square" lIns="0" tIns="0" rIns="0" bIns="0" rtlCol="0" anchor="t"/>
          <a:lstStyle/>
          <a:p>
            <a:pPr indent="0" marL="0">
              <a:lnSpc>
                <a:spcPct val="110000"/>
              </a:lnSpc>
              <a:buNone/>
            </a:pPr>
            <a:r>
              <a:rPr lang="en-US" sz="1350" dirty="0">
                <a:solidFill>
                  <a:srgbClr val="FFFFFF"/>
                </a:solidFill>
                <a:latin typeface="Space Grotesk" pitchFamily="34" charset="0"/>
                <a:ea typeface="Space Grotesk" pitchFamily="34" charset="-122"/>
                <a:cs typeface="Space Grotesk" pitchFamily="34" charset="-120"/>
              </a:rPr>
              <a:t>Geospatial foundation encoder. Input: 4 temporal frames plus 11 auxiliary channels — forestry height, volume, basal area and diameter, a DEM, and VPP phenology.</a:t>
            </a:r>
            <a:endParaRPr lang="en-US" sz="1350" dirty="0"/>
          </a:p>
        </p:txBody>
      </p:sp>
      <p:sp>
        <p:nvSpPr>
          <p:cNvPr id="7" name="Shape 5"/>
          <p:cNvSpPr/>
          <p:nvPr/>
        </p:nvSpPr>
        <p:spPr>
          <a:xfrm>
            <a:off x="731520" y="3429000"/>
            <a:ext cx="5257800" cy="1874520"/>
          </a:xfrm>
          <a:prstGeom prst="roundRect">
            <a:avLst>
              <a:gd name="adj" fmla="val 4878"/>
            </a:avLst>
          </a:prstGeom>
          <a:solidFill>
            <a:srgbClr val="145043"/>
          </a:solidFill>
          <a:ln/>
          <a:effectLst>
            <a:outerShdw sx="100000" sy="100000" kx="0" ky="0" algn="bl" rotWithShape="0" blurRad="101600" dist="38100" dir="5400000">
              <a:srgbClr val="000000">
                <a:alpha val="35000"/>
              </a:srgbClr>
            </a:outerShdw>
          </a:effectLst>
        </p:spPr>
      </p:sp>
      <p:sp>
        <p:nvSpPr>
          <p:cNvPr id="8" name="Text 6"/>
          <p:cNvSpPr/>
          <p:nvPr/>
        </p:nvSpPr>
        <p:spPr>
          <a:xfrm>
            <a:off x="960120" y="3566160"/>
            <a:ext cx="4800600" cy="457200"/>
          </a:xfrm>
          <a:prstGeom prst="rect">
            <a:avLst/>
          </a:prstGeom>
          <a:noFill/>
          <a:ln/>
        </p:spPr>
        <p:txBody>
          <a:bodyPr wrap="square" lIns="0" tIns="0" rIns="0" bIns="0" rtlCol="0" anchor="t"/>
          <a:lstStyle/>
          <a:p>
            <a:pPr indent="0" marL="0">
              <a:buNone/>
            </a:pPr>
            <a:r>
              <a:rPr lang="en-US" sz="1700" b="1" dirty="0">
                <a:solidFill>
                  <a:srgbClr val="CDFCE3"/>
                </a:solidFill>
                <a:latin typeface="Space Grotesk" pitchFamily="34" charset="0"/>
                <a:ea typeface="Space Grotesk" pitchFamily="34" charset="-122"/>
                <a:cs typeface="Space Grotesk" pitchFamily="34" charset="-120"/>
              </a:rPr>
              <a:t>Dual output head</a:t>
            </a:r>
            <a:endParaRPr lang="en-US" sz="1700" dirty="0"/>
          </a:p>
        </p:txBody>
      </p:sp>
      <p:sp>
        <p:nvSpPr>
          <p:cNvPr id="9" name="Text 7"/>
          <p:cNvSpPr/>
          <p:nvPr/>
        </p:nvSpPr>
        <p:spPr>
          <a:xfrm>
            <a:off x="960120" y="3995928"/>
            <a:ext cx="4800600" cy="1188720"/>
          </a:xfrm>
          <a:prstGeom prst="rect">
            <a:avLst/>
          </a:prstGeom>
          <a:noFill/>
          <a:ln/>
        </p:spPr>
        <p:txBody>
          <a:bodyPr wrap="square" lIns="0" tIns="0" rIns="0" bIns="0" rtlCol="0" anchor="t"/>
          <a:lstStyle/>
          <a:p>
            <a:pPr indent="0" marL="0">
              <a:lnSpc>
                <a:spcPct val="110000"/>
              </a:lnSpc>
              <a:buNone/>
            </a:pPr>
            <a:r>
              <a:rPr lang="en-US" sz="1350" dirty="0">
                <a:solidFill>
                  <a:srgbClr val="FFFFFF"/>
                </a:solidFill>
                <a:latin typeface="Space Grotesk" pitchFamily="34" charset="0"/>
                <a:ea typeface="Space Grotesk" pitchFamily="34" charset="-122"/>
                <a:cs typeface="Space Grotesk" pitchFamily="34" charset="-120"/>
              </a:rPr>
              <a:t>Head 1 predicts the 28-class land-cover map. Head 2 predicts a Trädslag forest-type fraction layer — the per-pixel mix of tree species.</a:t>
            </a:r>
            <a:endParaRPr lang="en-US" sz="1350" dirty="0"/>
          </a:p>
        </p:txBody>
      </p:sp>
      <p:sp>
        <p:nvSpPr>
          <p:cNvPr id="10" name="Shape 8"/>
          <p:cNvSpPr/>
          <p:nvPr/>
        </p:nvSpPr>
        <p:spPr>
          <a:xfrm>
            <a:off x="6263640" y="1371600"/>
            <a:ext cx="5212080" cy="1874520"/>
          </a:xfrm>
          <a:prstGeom prst="roundRect">
            <a:avLst>
              <a:gd name="adj" fmla="val 4878"/>
            </a:avLst>
          </a:prstGeom>
          <a:solidFill>
            <a:srgbClr val="145043"/>
          </a:solidFill>
          <a:ln/>
          <a:effectLst>
            <a:outerShdw sx="100000" sy="100000" kx="0" ky="0" algn="bl" rotWithShape="0" blurRad="101600" dist="38100" dir="5400000">
              <a:srgbClr val="000000">
                <a:alpha val="35000"/>
              </a:srgbClr>
            </a:outerShdw>
          </a:effectLst>
        </p:spPr>
      </p:sp>
      <p:sp>
        <p:nvSpPr>
          <p:cNvPr id="11" name="Text 9"/>
          <p:cNvSpPr/>
          <p:nvPr/>
        </p:nvSpPr>
        <p:spPr>
          <a:xfrm>
            <a:off x="6492240" y="1508760"/>
            <a:ext cx="4754880" cy="457200"/>
          </a:xfrm>
          <a:prstGeom prst="rect">
            <a:avLst/>
          </a:prstGeom>
          <a:noFill/>
          <a:ln/>
        </p:spPr>
        <p:txBody>
          <a:bodyPr wrap="square" lIns="0" tIns="0" rIns="0" bIns="0" rtlCol="0" anchor="t"/>
          <a:lstStyle/>
          <a:p>
            <a:pPr indent="0" marL="0">
              <a:buNone/>
            </a:pPr>
            <a:r>
              <a:rPr lang="en-US" sz="1700" b="1" dirty="0">
                <a:solidFill>
                  <a:srgbClr val="FF826C"/>
                </a:solidFill>
                <a:latin typeface="Space Grotesk" pitchFamily="34" charset="0"/>
                <a:ea typeface="Space Grotesk" pitchFamily="34" charset="-122"/>
                <a:cs typeface="Space Grotesk" pitchFamily="34" charset="-120"/>
              </a:rPr>
              <a:t>Tessera (frozen embeddings)</a:t>
            </a:r>
            <a:endParaRPr lang="en-US" sz="1700" dirty="0"/>
          </a:p>
        </p:txBody>
      </p:sp>
      <p:sp>
        <p:nvSpPr>
          <p:cNvPr id="12" name="Text 10"/>
          <p:cNvSpPr/>
          <p:nvPr/>
        </p:nvSpPr>
        <p:spPr>
          <a:xfrm>
            <a:off x="6492240" y="1938528"/>
            <a:ext cx="4754880" cy="1188720"/>
          </a:xfrm>
          <a:prstGeom prst="rect">
            <a:avLst/>
          </a:prstGeom>
          <a:noFill/>
          <a:ln/>
        </p:spPr>
        <p:txBody>
          <a:bodyPr wrap="square" lIns="0" tIns="0" rIns="0" bIns="0" rtlCol="0" anchor="t"/>
          <a:lstStyle/>
          <a:p>
            <a:pPr indent="0" marL="0">
              <a:lnSpc>
                <a:spcPct val="110000"/>
              </a:lnSpc>
              <a:buNone/>
            </a:pPr>
            <a:r>
              <a:rPr lang="en-US" sz="1350" dirty="0">
                <a:solidFill>
                  <a:srgbClr val="FFFFFF"/>
                </a:solidFill>
                <a:latin typeface="Space Grotesk" pitchFamily="34" charset="0"/>
                <a:ea typeface="Space Grotesk" pitchFamily="34" charset="-122"/>
                <a:cs typeface="Space Grotesk" pitchFamily="34" charset="-120"/>
              </a:rPr>
              <a:t>A second backbone that uses precomputed Tessera embeddings. No 600M encoder forward pass at train or inference time — a deployment-cheap alternative.</a:t>
            </a:r>
            <a:endParaRPr lang="en-US" sz="1350" dirty="0"/>
          </a:p>
        </p:txBody>
      </p:sp>
      <p:sp>
        <p:nvSpPr>
          <p:cNvPr id="13" name="Shape 11"/>
          <p:cNvSpPr/>
          <p:nvPr/>
        </p:nvSpPr>
        <p:spPr>
          <a:xfrm>
            <a:off x="6263640" y="3429000"/>
            <a:ext cx="5212080" cy="1874520"/>
          </a:xfrm>
          <a:prstGeom prst="roundRect">
            <a:avLst>
              <a:gd name="adj" fmla="val 4878"/>
            </a:avLst>
          </a:prstGeom>
          <a:solidFill>
            <a:srgbClr val="145043"/>
          </a:solidFill>
          <a:ln/>
          <a:effectLst>
            <a:outerShdw sx="100000" sy="100000" kx="0" ky="0" algn="bl" rotWithShape="0" blurRad="101600" dist="38100" dir="5400000">
              <a:srgbClr val="000000">
                <a:alpha val="35000"/>
              </a:srgbClr>
            </a:outerShdw>
          </a:effectLst>
        </p:spPr>
      </p:sp>
      <p:sp>
        <p:nvSpPr>
          <p:cNvPr id="14" name="Text 12"/>
          <p:cNvSpPr/>
          <p:nvPr/>
        </p:nvSpPr>
        <p:spPr>
          <a:xfrm>
            <a:off x="6492240" y="3566160"/>
            <a:ext cx="4754880" cy="457200"/>
          </a:xfrm>
          <a:prstGeom prst="rect">
            <a:avLst/>
          </a:prstGeom>
          <a:noFill/>
          <a:ln/>
        </p:spPr>
        <p:txBody>
          <a:bodyPr wrap="square" lIns="0" tIns="0" rIns="0" bIns="0" rtlCol="0" anchor="t"/>
          <a:lstStyle/>
          <a:p>
            <a:pPr indent="0" marL="0">
              <a:buNone/>
            </a:pPr>
            <a:r>
              <a:rPr lang="en-US" sz="1700" b="1" dirty="0">
                <a:solidFill>
                  <a:srgbClr val="FF826C"/>
                </a:solidFill>
                <a:latin typeface="Space Grotesk" pitchFamily="34" charset="0"/>
                <a:ea typeface="Space Grotesk" pitchFamily="34" charset="-122"/>
                <a:cs typeface="Space Grotesk" pitchFamily="34" charset="-120"/>
              </a:rPr>
              <a:t>11 auxiliary channels</a:t>
            </a:r>
            <a:endParaRPr lang="en-US" sz="1700" dirty="0"/>
          </a:p>
        </p:txBody>
      </p:sp>
      <p:sp>
        <p:nvSpPr>
          <p:cNvPr id="15" name="Text 13"/>
          <p:cNvSpPr/>
          <p:nvPr/>
        </p:nvSpPr>
        <p:spPr>
          <a:xfrm>
            <a:off x="6492240" y="3995928"/>
            <a:ext cx="4754880" cy="1188720"/>
          </a:xfrm>
          <a:prstGeom prst="rect">
            <a:avLst/>
          </a:prstGeom>
          <a:noFill/>
          <a:ln/>
        </p:spPr>
        <p:txBody>
          <a:bodyPr wrap="square" lIns="0" tIns="0" rIns="0" bIns="0" rtlCol="0" anchor="t"/>
          <a:lstStyle/>
          <a:p>
            <a:pPr indent="0" marL="0">
              <a:lnSpc>
                <a:spcPct val="110000"/>
              </a:lnSpc>
              <a:buNone/>
            </a:pPr>
            <a:r>
              <a:rPr lang="en-US" sz="1350" dirty="0">
                <a:solidFill>
                  <a:srgbClr val="FFFFFF"/>
                </a:solidFill>
                <a:latin typeface="Space Grotesk" pitchFamily="34" charset="0"/>
                <a:ea typeface="Space Grotesk" pitchFamily="34" charset="-122"/>
                <a:cs typeface="Space Grotesk" pitchFamily="34" charset="-120"/>
              </a:rPr>
              <a:t>Forestry stand metrics (height, volume, basal area, diameter), terrain (DEM), and Vegetation Phenology &amp; Productivity (VPP) features guide the seasonal signal.</a:t>
            </a:r>
            <a:endParaRPr lang="en-US" sz="1350" dirty="0"/>
          </a:p>
        </p:txBody>
      </p:sp>
      <p:sp>
        <p:nvSpPr>
          <p:cNvPr id="16" name="Text 14"/>
          <p:cNvSpPr/>
          <p:nvPr/>
        </p:nvSpPr>
        <p:spPr>
          <a:xfrm>
            <a:off x="731520" y="5440680"/>
            <a:ext cx="10698480" cy="457200"/>
          </a:xfrm>
          <a:prstGeom prst="rect">
            <a:avLst/>
          </a:prstGeom>
          <a:noFill/>
          <a:ln/>
        </p:spPr>
        <p:txBody>
          <a:bodyPr wrap="square" lIns="0" tIns="0" rIns="0" bIns="0" rtlCol="0" anchor="ctr"/>
          <a:lstStyle/>
          <a:p>
            <a:pPr indent="0" marL="0">
              <a:buNone/>
            </a:pPr>
            <a:r>
              <a:rPr lang="en-US" sz="1300" i="1" dirty="0">
                <a:solidFill>
                  <a:srgbClr val="9DBDB0"/>
                </a:solidFill>
                <a:latin typeface="Space Grotesk" pitchFamily="34" charset="0"/>
                <a:ea typeface="Space Grotesk" pitchFamily="34" charset="-122"/>
                <a:cs typeface="Space Grotesk" pitchFamily="34" charset="-120"/>
              </a:rPr>
              <a:t>Same features, two backbones, two heads — the design lets us separate representation quality from supervision quality.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640080" y="384048"/>
            <a:ext cx="1088136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Space Grotesk" pitchFamily="34" charset="0"/>
                <a:ea typeface="Space Grotesk" pitchFamily="34" charset="-122"/>
                <a:cs typeface="Space Grotesk" pitchFamily="34" charset="-120"/>
              </a:rPr>
              <a:t>Methods: honest evaluation</a:t>
            </a:r>
            <a:endParaRPr lang="en-US" sz="3200" dirty="0"/>
          </a:p>
        </p:txBody>
      </p:sp>
      <p:sp>
        <p:nvSpPr>
          <p:cNvPr id="4" name="Shape 2"/>
          <p:cNvSpPr/>
          <p:nvPr/>
        </p:nvSpPr>
        <p:spPr>
          <a:xfrm>
            <a:off x="731520" y="1417320"/>
            <a:ext cx="5212080" cy="1737360"/>
          </a:xfrm>
          <a:prstGeom prst="roundRect">
            <a:avLst>
              <a:gd name="adj" fmla="val 5263"/>
            </a:avLst>
          </a:prstGeom>
          <a:solidFill>
            <a:srgbClr val="145043"/>
          </a:solidFill>
          <a:ln/>
          <a:effectLst>
            <a:outerShdw sx="100000" sy="100000" kx="0" ky="0" algn="bl" rotWithShape="0" blurRad="101600" dist="38100" dir="5400000">
              <a:srgbClr val="000000">
                <a:alpha val="35000"/>
              </a:srgbClr>
            </a:outerShdw>
          </a:effectLst>
        </p:spPr>
      </p:sp>
      <p:sp>
        <p:nvSpPr>
          <p:cNvPr id="5" name="Text 3"/>
          <p:cNvSpPr/>
          <p:nvPr/>
        </p:nvSpPr>
        <p:spPr>
          <a:xfrm>
            <a:off x="960120" y="1554480"/>
            <a:ext cx="4754880" cy="457200"/>
          </a:xfrm>
          <a:prstGeom prst="rect">
            <a:avLst/>
          </a:prstGeom>
          <a:noFill/>
          <a:ln/>
        </p:spPr>
        <p:txBody>
          <a:bodyPr wrap="square" lIns="0" tIns="0" rIns="0" bIns="0" rtlCol="0" anchor="t"/>
          <a:lstStyle/>
          <a:p>
            <a:pPr indent="0" marL="0">
              <a:buNone/>
            </a:pPr>
            <a:r>
              <a:rPr lang="en-US" sz="1700" b="1" dirty="0">
                <a:solidFill>
                  <a:srgbClr val="CDFCE3"/>
                </a:solidFill>
                <a:latin typeface="Space Grotesk" pitchFamily="34" charset="0"/>
                <a:ea typeface="Space Grotesk" pitchFamily="34" charset="-122"/>
                <a:cs typeface="Space Grotesk" pitchFamily="34" charset="-120"/>
              </a:rPr>
              <a:t>Grouped-tile split</a:t>
            </a:r>
            <a:endParaRPr lang="en-US" sz="1700" dirty="0"/>
          </a:p>
        </p:txBody>
      </p:sp>
      <p:sp>
        <p:nvSpPr>
          <p:cNvPr id="6" name="Text 4"/>
          <p:cNvSpPr/>
          <p:nvPr/>
        </p:nvSpPr>
        <p:spPr>
          <a:xfrm>
            <a:off x="960120" y="1984248"/>
            <a:ext cx="4754880" cy="1051560"/>
          </a:xfrm>
          <a:prstGeom prst="rect">
            <a:avLst/>
          </a:prstGeom>
          <a:noFill/>
          <a:ln/>
        </p:spPr>
        <p:txBody>
          <a:bodyPr wrap="square" lIns="0" tIns="0" rIns="0" bIns="0" rtlCol="0" anchor="t"/>
          <a:lstStyle/>
          <a:p>
            <a:pPr indent="0" marL="0">
              <a:lnSpc>
                <a:spcPct val="110000"/>
              </a:lnSpc>
              <a:buNone/>
            </a:pPr>
            <a:r>
              <a:rPr lang="en-US" sz="1400" dirty="0">
                <a:solidFill>
                  <a:srgbClr val="FFFFFF"/>
                </a:solidFill>
                <a:latin typeface="Space Grotesk" pitchFamily="34" charset="0"/>
                <a:ea typeface="Space Grotesk" pitchFamily="34" charset="-122"/>
                <a:cs typeface="Space Grotesk" pitchFamily="34" charset="-120"/>
              </a:rPr>
              <a:t>735 plots for training, 209 held out. The split is by tile, so no plot near a training tile can leak into the test set.</a:t>
            </a:r>
            <a:endParaRPr lang="en-US" sz="1400" dirty="0"/>
          </a:p>
        </p:txBody>
      </p:sp>
      <p:sp>
        <p:nvSpPr>
          <p:cNvPr id="7" name="Shape 5"/>
          <p:cNvSpPr/>
          <p:nvPr/>
        </p:nvSpPr>
        <p:spPr>
          <a:xfrm>
            <a:off x="6263640" y="1417320"/>
            <a:ext cx="5212080" cy="1737360"/>
          </a:xfrm>
          <a:prstGeom prst="roundRect">
            <a:avLst>
              <a:gd name="adj" fmla="val 5263"/>
            </a:avLst>
          </a:prstGeom>
          <a:solidFill>
            <a:srgbClr val="145043"/>
          </a:solidFill>
          <a:ln/>
          <a:effectLst>
            <a:outerShdw sx="100000" sy="100000" kx="0" ky="0" algn="bl" rotWithShape="0" blurRad="101600" dist="38100" dir="5400000">
              <a:srgbClr val="000000">
                <a:alpha val="35000"/>
              </a:srgbClr>
            </a:outerShdw>
          </a:effectLst>
        </p:spPr>
      </p:sp>
      <p:sp>
        <p:nvSpPr>
          <p:cNvPr id="8" name="Text 6"/>
          <p:cNvSpPr/>
          <p:nvPr/>
        </p:nvSpPr>
        <p:spPr>
          <a:xfrm>
            <a:off x="6492240" y="1554480"/>
            <a:ext cx="4754880" cy="457200"/>
          </a:xfrm>
          <a:prstGeom prst="rect">
            <a:avLst/>
          </a:prstGeom>
          <a:noFill/>
          <a:ln/>
        </p:spPr>
        <p:txBody>
          <a:bodyPr wrap="square" lIns="0" tIns="0" rIns="0" bIns="0" rtlCol="0" anchor="t"/>
          <a:lstStyle/>
          <a:p>
            <a:pPr indent="0" marL="0">
              <a:buNone/>
            </a:pPr>
            <a:r>
              <a:rPr lang="en-US" sz="1700" b="1" dirty="0">
                <a:solidFill>
                  <a:srgbClr val="FF826C"/>
                </a:solidFill>
                <a:latin typeface="Space Grotesk" pitchFamily="34" charset="0"/>
                <a:ea typeface="Space Grotesk" pitchFamily="34" charset="-122"/>
                <a:cs typeface="Space Grotesk" pitchFamily="34" charset="-120"/>
              </a:rPr>
              <a:t>Calibration on train only</a:t>
            </a:r>
            <a:endParaRPr lang="en-US" sz="1700" dirty="0"/>
          </a:p>
        </p:txBody>
      </p:sp>
      <p:sp>
        <p:nvSpPr>
          <p:cNvPr id="9" name="Text 7"/>
          <p:cNvSpPr/>
          <p:nvPr/>
        </p:nvSpPr>
        <p:spPr>
          <a:xfrm>
            <a:off x="6492240" y="1984248"/>
            <a:ext cx="4754880" cy="1051560"/>
          </a:xfrm>
          <a:prstGeom prst="rect">
            <a:avLst/>
          </a:prstGeom>
          <a:noFill/>
          <a:ln/>
        </p:spPr>
        <p:txBody>
          <a:bodyPr wrap="square" lIns="0" tIns="0" rIns="0" bIns="0" rtlCol="0" anchor="t"/>
          <a:lstStyle/>
          <a:p>
            <a:pPr indent="0" marL="0">
              <a:lnSpc>
                <a:spcPct val="110000"/>
              </a:lnSpc>
              <a:buNone/>
            </a:pPr>
            <a:r>
              <a:rPr lang="en-US" sz="1400" dirty="0">
                <a:solidFill>
                  <a:srgbClr val="FFFFFF"/>
                </a:solidFill>
                <a:latin typeface="Space Grotesk" pitchFamily="34" charset="0"/>
                <a:ea typeface="Space Grotesk" pitchFamily="34" charset="-122"/>
                <a:cs typeface="Space Grotesk" pitchFamily="34" charset="-120"/>
              </a:rPr>
              <a:t>Thresholds and the collapse rule are fit on the 735 train plots exclusively. The 209 held-out plots stay untouched.</a:t>
            </a:r>
            <a:endParaRPr lang="en-US" sz="1400" dirty="0"/>
          </a:p>
        </p:txBody>
      </p:sp>
      <p:sp>
        <p:nvSpPr>
          <p:cNvPr id="10" name="Shape 8"/>
          <p:cNvSpPr/>
          <p:nvPr/>
        </p:nvSpPr>
        <p:spPr>
          <a:xfrm>
            <a:off x="731520" y="3383280"/>
            <a:ext cx="5212080" cy="1737360"/>
          </a:xfrm>
          <a:prstGeom prst="roundRect">
            <a:avLst>
              <a:gd name="adj" fmla="val 5263"/>
            </a:avLst>
          </a:prstGeom>
          <a:solidFill>
            <a:srgbClr val="145043"/>
          </a:solidFill>
          <a:ln/>
          <a:effectLst>
            <a:outerShdw sx="100000" sy="100000" kx="0" ky="0" algn="bl" rotWithShape="0" blurRad="101600" dist="38100" dir="5400000">
              <a:srgbClr val="000000">
                <a:alpha val="35000"/>
              </a:srgbClr>
            </a:outerShdw>
          </a:effectLst>
        </p:spPr>
      </p:sp>
      <p:sp>
        <p:nvSpPr>
          <p:cNvPr id="11" name="Text 9"/>
          <p:cNvSpPr/>
          <p:nvPr/>
        </p:nvSpPr>
        <p:spPr>
          <a:xfrm>
            <a:off x="960120" y="3520440"/>
            <a:ext cx="4754880" cy="457200"/>
          </a:xfrm>
          <a:prstGeom prst="rect">
            <a:avLst/>
          </a:prstGeom>
          <a:noFill/>
          <a:ln/>
        </p:spPr>
        <p:txBody>
          <a:bodyPr wrap="square" lIns="0" tIns="0" rIns="0" bIns="0" rtlCol="0" anchor="t"/>
          <a:lstStyle/>
          <a:p>
            <a:pPr indent="0" marL="0">
              <a:buNone/>
            </a:pPr>
            <a:r>
              <a:rPr lang="en-US" sz="1700" b="1" dirty="0">
                <a:solidFill>
                  <a:srgbClr val="CDFCE3"/>
                </a:solidFill>
                <a:latin typeface="Space Grotesk" pitchFamily="34" charset="0"/>
                <a:ea typeface="Space Grotesk" pitchFamily="34" charset="-122"/>
                <a:cs typeface="Space Grotesk" pitchFamily="34" charset="-120"/>
              </a:rPr>
              <a:t>NMD2023 on the same plots</a:t>
            </a:r>
            <a:endParaRPr lang="en-US" sz="1700" dirty="0"/>
          </a:p>
        </p:txBody>
      </p:sp>
      <p:sp>
        <p:nvSpPr>
          <p:cNvPr id="12" name="Text 10"/>
          <p:cNvSpPr/>
          <p:nvPr/>
        </p:nvSpPr>
        <p:spPr>
          <a:xfrm>
            <a:off x="960120" y="3950208"/>
            <a:ext cx="4754880" cy="1051560"/>
          </a:xfrm>
          <a:prstGeom prst="rect">
            <a:avLst/>
          </a:prstGeom>
          <a:noFill/>
          <a:ln/>
        </p:spPr>
        <p:txBody>
          <a:bodyPr wrap="square" lIns="0" tIns="0" rIns="0" bIns="0" rtlCol="0" anchor="t"/>
          <a:lstStyle/>
          <a:p>
            <a:pPr indent="0" marL="0">
              <a:lnSpc>
                <a:spcPct val="110000"/>
              </a:lnSpc>
              <a:buNone/>
            </a:pPr>
            <a:r>
              <a:rPr lang="en-US" sz="1400" dirty="0">
                <a:solidFill>
                  <a:srgbClr val="FFFFFF"/>
                </a:solidFill>
                <a:latin typeface="Space Grotesk" pitchFamily="34" charset="0"/>
                <a:ea typeface="Space Grotesk" pitchFamily="34" charset="-122"/>
                <a:cs typeface="Space Grotesk" pitchFamily="34" charset="-120"/>
              </a:rPr>
              <a:t>The baseline map is scored on the exact same 209 plots — a like-for-like comparison, not a favourable subset.</a:t>
            </a:r>
            <a:endParaRPr lang="en-US" sz="1400" dirty="0"/>
          </a:p>
        </p:txBody>
      </p:sp>
      <p:sp>
        <p:nvSpPr>
          <p:cNvPr id="13" name="Shape 11"/>
          <p:cNvSpPr/>
          <p:nvPr/>
        </p:nvSpPr>
        <p:spPr>
          <a:xfrm>
            <a:off x="6263640" y="3383280"/>
            <a:ext cx="5212080" cy="1737360"/>
          </a:xfrm>
          <a:prstGeom prst="roundRect">
            <a:avLst>
              <a:gd name="adj" fmla="val 5263"/>
            </a:avLst>
          </a:prstGeom>
          <a:solidFill>
            <a:srgbClr val="145043"/>
          </a:solidFill>
          <a:ln/>
          <a:effectLst>
            <a:outerShdw sx="100000" sy="100000" kx="0" ky="0" algn="bl" rotWithShape="0" blurRad="101600" dist="38100" dir="5400000">
              <a:srgbClr val="000000">
                <a:alpha val="35000"/>
              </a:srgbClr>
            </a:outerShdw>
          </a:effectLst>
        </p:spPr>
      </p:sp>
      <p:sp>
        <p:nvSpPr>
          <p:cNvPr id="14" name="Text 12"/>
          <p:cNvSpPr/>
          <p:nvPr/>
        </p:nvSpPr>
        <p:spPr>
          <a:xfrm>
            <a:off x="6492240" y="3520440"/>
            <a:ext cx="4754880" cy="457200"/>
          </a:xfrm>
          <a:prstGeom prst="rect">
            <a:avLst/>
          </a:prstGeom>
          <a:noFill/>
          <a:ln/>
        </p:spPr>
        <p:txBody>
          <a:bodyPr wrap="square" lIns="0" tIns="0" rIns="0" bIns="0" rtlCol="0" anchor="t"/>
          <a:lstStyle/>
          <a:p>
            <a:pPr indent="0" marL="0">
              <a:buNone/>
            </a:pPr>
            <a:r>
              <a:rPr lang="en-US" sz="1700" b="1" dirty="0">
                <a:solidFill>
                  <a:srgbClr val="FF826C"/>
                </a:solidFill>
                <a:latin typeface="Space Grotesk" pitchFamily="34" charset="0"/>
                <a:ea typeface="Space Grotesk" pitchFamily="34" charset="-122"/>
                <a:cs typeface="Space Grotesk" pitchFamily="34" charset="-120"/>
              </a:rPr>
              <a:t>Three independent truths</a:t>
            </a:r>
            <a:endParaRPr lang="en-US" sz="1700" dirty="0"/>
          </a:p>
        </p:txBody>
      </p:sp>
      <p:sp>
        <p:nvSpPr>
          <p:cNvPr id="15" name="Text 13"/>
          <p:cNvSpPr/>
          <p:nvPr/>
        </p:nvSpPr>
        <p:spPr>
          <a:xfrm>
            <a:off x="6492240" y="3950208"/>
            <a:ext cx="4754880" cy="1051560"/>
          </a:xfrm>
          <a:prstGeom prst="rect">
            <a:avLst/>
          </a:prstGeom>
          <a:noFill/>
          <a:ln/>
        </p:spPr>
        <p:txBody>
          <a:bodyPr wrap="square" lIns="0" tIns="0" rIns="0" bIns="0" rtlCol="0" anchor="t"/>
          <a:lstStyle/>
          <a:p>
            <a:pPr indent="0" marL="0">
              <a:lnSpc>
                <a:spcPct val="110000"/>
              </a:lnSpc>
              <a:buNone/>
            </a:pPr>
            <a:r>
              <a:rPr lang="en-US" sz="1400" dirty="0">
                <a:solidFill>
                  <a:srgbClr val="FFFFFF"/>
                </a:solidFill>
                <a:latin typeface="Space Grotesk" pitchFamily="34" charset="0"/>
                <a:ea typeface="Space Grotesk" pitchFamily="34" charset="-122"/>
                <a:cs typeface="Space Grotesk" pitchFamily="34" charset="-120"/>
              </a:rPr>
              <a:t>NFI, LUCAS and LPIS cross-check the result from three directions, none of them in the training loop.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640080" y="384048"/>
            <a:ext cx="1088136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Space Grotesk" pitchFamily="34" charset="0"/>
                <a:ea typeface="Space Grotesk" pitchFamily="34" charset="-122"/>
                <a:cs typeface="Space Grotesk" pitchFamily="34" charset="-120"/>
              </a:rPr>
              <a:t>Result: the label ceiling</a:t>
            </a:r>
            <a:endParaRPr lang="en-US" sz="3200" dirty="0"/>
          </a:p>
        </p:txBody>
      </p:sp>
      <p:sp>
        <p:nvSpPr>
          <p:cNvPr id="4" name="Text 2"/>
          <p:cNvSpPr/>
          <p:nvPr/>
        </p:nvSpPr>
        <p:spPr>
          <a:xfrm>
            <a:off x="640080" y="1170432"/>
            <a:ext cx="6583680" cy="365760"/>
          </a:xfrm>
          <a:prstGeom prst="rect">
            <a:avLst/>
          </a:prstGeom>
          <a:noFill/>
          <a:ln/>
        </p:spPr>
        <p:txBody>
          <a:bodyPr wrap="square" lIns="0" tIns="0" rIns="0" bIns="0" rtlCol="0" anchor="ctr"/>
          <a:lstStyle/>
          <a:p>
            <a:pPr indent="0" marL="0">
              <a:buNone/>
            </a:pPr>
            <a:r>
              <a:rPr lang="en-US" sz="1400" b="1" dirty="0">
                <a:solidFill>
                  <a:srgbClr val="CDFCE3"/>
                </a:solidFill>
                <a:latin typeface="Space Grotesk" pitchFamily="34" charset="0"/>
                <a:ea typeface="Space Grotesk" pitchFamily="34" charset="-122"/>
                <a:cs typeface="Space Grotesk" pitchFamily="34" charset="-120"/>
              </a:rPr>
              <a:t>NFI overall accuracy (944 plots) across the experiment series</a:t>
            </a:r>
            <a:endParaRPr lang="en-US" sz="1400" dirty="0"/>
          </a:p>
        </p:txBody>
      </p:sp>
      <p:graphicFrame>
        <p:nvGraphicFramePr>
          <p:cNvPr id="5" name="Chart 0" descr=""/>
          <p:cNvGraphicFramePr/>
          <p:nvPr/>
        </p:nvGraphicFramePr>
        <p:xfrm>
          <a:off x="502920" y="169164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543800" y="1691640"/>
            <a:ext cx="3931920" cy="2011680"/>
          </a:xfrm>
          <a:prstGeom prst="roundRect">
            <a:avLst>
              <a:gd name="adj" fmla="val 4545"/>
            </a:avLst>
          </a:prstGeom>
          <a:solidFill>
            <a:srgbClr val="145043"/>
          </a:solidFill>
          <a:ln/>
          <a:effectLst>
            <a:outerShdw sx="100000" sy="100000" kx="0" ky="0" algn="bl" rotWithShape="0" blurRad="101600" dist="38100" dir="5400000">
              <a:srgbClr val="000000">
                <a:alpha val="35000"/>
              </a:srgbClr>
            </a:outerShdw>
          </a:effectLst>
        </p:spPr>
      </p:sp>
      <p:sp>
        <p:nvSpPr>
          <p:cNvPr id="7" name="Text 4"/>
          <p:cNvSpPr/>
          <p:nvPr/>
        </p:nvSpPr>
        <p:spPr>
          <a:xfrm>
            <a:off x="7772400" y="1828800"/>
            <a:ext cx="3474720" cy="457200"/>
          </a:xfrm>
          <a:prstGeom prst="rect">
            <a:avLst/>
          </a:prstGeom>
          <a:noFill/>
          <a:ln/>
        </p:spPr>
        <p:txBody>
          <a:bodyPr wrap="square" lIns="0" tIns="0" rIns="0" bIns="0" rtlCol="0" anchor="t"/>
          <a:lstStyle/>
          <a:p>
            <a:pPr indent="0" marL="0">
              <a:buNone/>
            </a:pPr>
            <a:r>
              <a:rPr lang="en-US" sz="1700" b="1" dirty="0">
                <a:solidFill>
                  <a:srgbClr val="FF826C"/>
                </a:solidFill>
                <a:latin typeface="Space Grotesk" pitchFamily="34" charset="0"/>
                <a:ea typeface="Space Grotesk" pitchFamily="34" charset="-122"/>
                <a:cs typeface="Space Grotesk" pitchFamily="34" charset="-120"/>
              </a:rPr>
              <a:t>Hard labels cap ~46%</a:t>
            </a:r>
            <a:endParaRPr lang="en-US" sz="1700" dirty="0"/>
          </a:p>
        </p:txBody>
      </p:sp>
      <p:sp>
        <p:nvSpPr>
          <p:cNvPr id="8" name="Text 5"/>
          <p:cNvSpPr/>
          <p:nvPr/>
        </p:nvSpPr>
        <p:spPr>
          <a:xfrm>
            <a:off x="7772400" y="2258568"/>
            <a:ext cx="3474720" cy="1325880"/>
          </a:xfrm>
          <a:prstGeom prst="rect">
            <a:avLst/>
          </a:prstGeom>
          <a:noFill/>
          <a:ln/>
        </p:spPr>
        <p:txBody>
          <a:bodyPr wrap="square" lIns="0" tIns="0" rIns="0" bIns="0" rtlCol="0" anchor="t"/>
          <a:lstStyle/>
          <a:p>
            <a:pPr indent="0" marL="0">
              <a:lnSpc>
                <a:spcPct val="110000"/>
              </a:lnSpc>
              <a:buNone/>
            </a:pPr>
            <a:r>
              <a:rPr lang="en-US" sz="1350" dirty="0">
                <a:solidFill>
                  <a:srgbClr val="FFFFFF"/>
                </a:solidFill>
                <a:latin typeface="Space Grotesk" pitchFamily="34" charset="0"/>
                <a:ea typeface="Space Grotesk" pitchFamily="34" charset="-122"/>
                <a:cs typeface="Space Grotesk" pitchFamily="34" charset="-120"/>
              </a:rPr>
              <a:t>Trained against NMD classes of any generation, accuracy sticks near 46%. NMD2023 is too clean to beat by imitation.</a:t>
            </a:r>
            <a:endParaRPr lang="en-US" sz="1350" dirty="0"/>
          </a:p>
        </p:txBody>
      </p:sp>
      <p:sp>
        <p:nvSpPr>
          <p:cNvPr id="9" name="Shape 6"/>
          <p:cNvSpPr/>
          <p:nvPr/>
        </p:nvSpPr>
        <p:spPr>
          <a:xfrm>
            <a:off x="7543800" y="3886200"/>
            <a:ext cx="3931920" cy="2286000"/>
          </a:xfrm>
          <a:prstGeom prst="roundRect">
            <a:avLst>
              <a:gd name="adj" fmla="val 4000"/>
            </a:avLst>
          </a:prstGeom>
          <a:solidFill>
            <a:srgbClr val="145043"/>
          </a:solidFill>
          <a:ln/>
          <a:effectLst>
            <a:outerShdw sx="100000" sy="100000" kx="0" ky="0" algn="bl" rotWithShape="0" blurRad="101600" dist="38100" dir="5400000">
              <a:srgbClr val="000000">
                <a:alpha val="35000"/>
              </a:srgbClr>
            </a:outerShdw>
          </a:effectLst>
        </p:spPr>
      </p:sp>
      <p:sp>
        <p:nvSpPr>
          <p:cNvPr id="10" name="Text 7"/>
          <p:cNvSpPr/>
          <p:nvPr/>
        </p:nvSpPr>
        <p:spPr>
          <a:xfrm>
            <a:off x="7772400" y="4023360"/>
            <a:ext cx="3474720" cy="457200"/>
          </a:xfrm>
          <a:prstGeom prst="rect">
            <a:avLst/>
          </a:prstGeom>
          <a:noFill/>
          <a:ln/>
        </p:spPr>
        <p:txBody>
          <a:bodyPr wrap="square" lIns="0" tIns="0" rIns="0" bIns="0" rtlCol="0" anchor="t"/>
          <a:lstStyle/>
          <a:p>
            <a:pPr indent="0" marL="0">
              <a:buNone/>
            </a:pPr>
            <a:r>
              <a:rPr lang="en-US" sz="1700" b="1" dirty="0">
                <a:solidFill>
                  <a:srgbClr val="CDFCE3"/>
                </a:solidFill>
                <a:latin typeface="Space Grotesk" pitchFamily="34" charset="0"/>
                <a:ea typeface="Space Grotesk" pitchFamily="34" charset="-122"/>
                <a:cs typeface="Space Grotesk" pitchFamily="34" charset="-120"/>
              </a:rPr>
              <a:t>Field target breaks it</a:t>
            </a:r>
            <a:endParaRPr lang="en-US" sz="1700" dirty="0"/>
          </a:p>
        </p:txBody>
      </p:sp>
      <p:sp>
        <p:nvSpPr>
          <p:cNvPr id="11" name="Text 8"/>
          <p:cNvSpPr/>
          <p:nvPr/>
        </p:nvSpPr>
        <p:spPr>
          <a:xfrm>
            <a:off x="7772400" y="4453128"/>
            <a:ext cx="3474720" cy="1600200"/>
          </a:xfrm>
          <a:prstGeom prst="rect">
            <a:avLst/>
          </a:prstGeom>
          <a:noFill/>
          <a:ln/>
        </p:spPr>
        <p:txBody>
          <a:bodyPr wrap="square" lIns="0" tIns="0" rIns="0" bIns="0" rtlCol="0" anchor="t"/>
          <a:lstStyle/>
          <a:p>
            <a:pPr indent="0" marL="0">
              <a:lnSpc>
                <a:spcPct val="110000"/>
              </a:lnSpc>
              <a:buNone/>
            </a:pPr>
            <a:r>
              <a:rPr lang="en-US" sz="1350" dirty="0">
                <a:solidFill>
                  <a:srgbClr val="FFFFFF"/>
                </a:solidFill>
                <a:latin typeface="Space Grotesk" pitchFamily="34" charset="0"/>
                <a:ea typeface="Space Grotesk" pitchFamily="34" charset="-122"/>
                <a:cs typeface="Space Grotesk" pitchFamily="34" charset="-120"/>
              </a:rPr>
              <a:t>The SAME features with NFI supervision reach 63.7% (leak-free out-of-fold). The supervision TARGET was the ceiling — not the representation.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640080" y="384048"/>
            <a:ext cx="1088136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Space Grotesk" pitchFamily="34" charset="0"/>
                <a:ea typeface="Space Grotesk" pitchFamily="34" charset="-122"/>
                <a:cs typeface="Space Grotesk" pitchFamily="34" charset="-120"/>
              </a:rPr>
              <a:t>Result: held-out benchmark</a:t>
            </a:r>
            <a:endParaRPr lang="en-US" sz="3200" dirty="0"/>
          </a:p>
        </p:txBody>
      </p:sp>
      <p:sp>
        <p:nvSpPr>
          <p:cNvPr id="4" name="Text 2"/>
          <p:cNvSpPr/>
          <p:nvPr/>
        </p:nvSpPr>
        <p:spPr>
          <a:xfrm>
            <a:off x="640080" y="1170432"/>
            <a:ext cx="6583680" cy="365760"/>
          </a:xfrm>
          <a:prstGeom prst="rect">
            <a:avLst/>
          </a:prstGeom>
          <a:noFill/>
          <a:ln/>
        </p:spPr>
        <p:txBody>
          <a:bodyPr wrap="square" lIns="0" tIns="0" rIns="0" bIns="0" rtlCol="0" anchor="ctr"/>
          <a:lstStyle/>
          <a:p>
            <a:pPr indent="0" marL="0">
              <a:buNone/>
            </a:pPr>
            <a:r>
              <a:rPr lang="en-US" sz="1400" b="1" dirty="0">
                <a:solidFill>
                  <a:srgbClr val="CDFCE3"/>
                </a:solidFill>
                <a:latin typeface="Space Grotesk" pitchFamily="34" charset="0"/>
                <a:ea typeface="Space Grotesk" pitchFamily="34" charset="-122"/>
                <a:cs typeface="Space Grotesk" pitchFamily="34" charset="-120"/>
              </a:rPr>
              <a:t>209 NFI plots, grouped-tile split, calibration on train-735 only</a:t>
            </a:r>
            <a:endParaRPr lang="en-US" sz="1400" dirty="0"/>
          </a:p>
        </p:txBody>
      </p:sp>
      <p:graphicFrame>
        <p:nvGraphicFramePr>
          <p:cNvPr id="5" name="Chart 0" descr=""/>
          <p:cNvGraphicFramePr/>
          <p:nvPr/>
        </p:nvGraphicFramePr>
        <p:xfrm>
          <a:off x="502920" y="1691640"/>
          <a:ext cx="6675120" cy="4480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498080" y="1783080"/>
            <a:ext cx="4023360" cy="457200"/>
          </a:xfrm>
          <a:prstGeom prst="rect">
            <a:avLst/>
          </a:prstGeom>
          <a:noFill/>
          <a:ln/>
        </p:spPr>
        <p:txBody>
          <a:bodyPr wrap="square" lIns="0" tIns="0" rIns="0" bIns="0" rtlCol="0" anchor="ctr"/>
          <a:lstStyle/>
          <a:p>
            <a:pPr indent="0" marL="0">
              <a:buNone/>
            </a:pPr>
            <a:r>
              <a:rPr lang="en-US" sz="2000" b="1" dirty="0">
                <a:solidFill>
                  <a:srgbClr val="CDFCE3"/>
                </a:solidFill>
                <a:latin typeface="Space Grotesk" pitchFamily="34" charset="0"/>
                <a:ea typeface="Space Grotesk" pitchFamily="34" charset="-122"/>
                <a:cs typeface="Space Grotesk" pitchFamily="34" charset="-120"/>
              </a:rPr>
              <a:t>Honest evaluation</a:t>
            </a:r>
            <a:endParaRPr lang="en-US" sz="2000" dirty="0"/>
          </a:p>
        </p:txBody>
      </p:sp>
      <p:sp>
        <p:nvSpPr>
          <p:cNvPr id="7" name="Shape 4"/>
          <p:cNvSpPr/>
          <p:nvPr/>
        </p:nvSpPr>
        <p:spPr>
          <a:xfrm>
            <a:off x="7498080" y="2487168"/>
            <a:ext cx="137160" cy="137160"/>
          </a:xfrm>
          <a:prstGeom prst="ellipse">
            <a:avLst/>
          </a:prstGeom>
          <a:solidFill>
            <a:srgbClr val="FF826C"/>
          </a:solidFill>
          <a:ln/>
        </p:spPr>
      </p:sp>
      <p:sp>
        <p:nvSpPr>
          <p:cNvPr id="8" name="Text 5"/>
          <p:cNvSpPr/>
          <p:nvPr/>
        </p:nvSpPr>
        <p:spPr>
          <a:xfrm>
            <a:off x="7772400" y="2377440"/>
            <a:ext cx="3749040" cy="1143000"/>
          </a:xfrm>
          <a:prstGeom prst="rect">
            <a:avLst/>
          </a:prstGeom>
          <a:noFill/>
          <a:ln/>
        </p:spPr>
        <p:txBody>
          <a:bodyPr wrap="square" lIns="0" tIns="0" rIns="0" bIns="0" rtlCol="0" anchor="t"/>
          <a:lstStyle/>
          <a:p>
            <a:pPr indent="0" marL="0">
              <a:lnSpc>
                <a:spcPct val="110000"/>
              </a:lnSpc>
              <a:buNone/>
            </a:pPr>
            <a:r>
              <a:rPr lang="en-US" sz="1350" dirty="0">
                <a:solidFill>
                  <a:srgbClr val="FFFFFF"/>
                </a:solidFill>
                <a:latin typeface="Space Grotesk" pitchFamily="34" charset="0"/>
                <a:ea typeface="Space Grotesk" pitchFamily="34" charset="-122"/>
                <a:cs typeface="Space Grotesk" pitchFamily="34" charset="-120"/>
              </a:rPr>
              <a:t>Thresholds and head trained ONLY on the 735 train plots — the 209 are untouched.</a:t>
            </a:r>
            <a:endParaRPr lang="en-US" sz="1350" dirty="0"/>
          </a:p>
        </p:txBody>
      </p:sp>
      <p:sp>
        <p:nvSpPr>
          <p:cNvPr id="9" name="Shape 6"/>
          <p:cNvSpPr/>
          <p:nvPr/>
        </p:nvSpPr>
        <p:spPr>
          <a:xfrm>
            <a:off x="7498080" y="3721608"/>
            <a:ext cx="137160" cy="137160"/>
          </a:xfrm>
          <a:prstGeom prst="ellipse">
            <a:avLst/>
          </a:prstGeom>
          <a:solidFill>
            <a:srgbClr val="FF826C"/>
          </a:solidFill>
          <a:ln/>
        </p:spPr>
      </p:sp>
      <p:sp>
        <p:nvSpPr>
          <p:cNvPr id="10" name="Text 7"/>
          <p:cNvSpPr/>
          <p:nvPr/>
        </p:nvSpPr>
        <p:spPr>
          <a:xfrm>
            <a:off x="7772400" y="3611880"/>
            <a:ext cx="3749040" cy="1143000"/>
          </a:xfrm>
          <a:prstGeom prst="rect">
            <a:avLst/>
          </a:prstGeom>
          <a:noFill/>
          <a:ln/>
        </p:spPr>
        <p:txBody>
          <a:bodyPr wrap="square" lIns="0" tIns="0" rIns="0" bIns="0" rtlCol="0" anchor="t"/>
          <a:lstStyle/>
          <a:p>
            <a:pPr indent="0" marL="0">
              <a:lnSpc>
                <a:spcPct val="110000"/>
              </a:lnSpc>
              <a:buNone/>
            </a:pPr>
            <a:r>
              <a:rPr lang="en-US" sz="1350" dirty="0">
                <a:solidFill>
                  <a:srgbClr val="FFFFFF"/>
                </a:solidFill>
                <a:latin typeface="Space Grotesk" pitchFamily="34" charset="0"/>
                <a:ea typeface="Space Grotesk" pitchFamily="34" charset="-122"/>
                <a:cs typeface="Space Grotesk" pitchFamily="34" charset="-120"/>
              </a:rPr>
              <a:t>Distilled model = full 28-class product; every class is functional (+7.2 pp over NMD2023).</a:t>
            </a:r>
            <a:endParaRPr lang="en-US" sz="1350" dirty="0"/>
          </a:p>
        </p:txBody>
      </p:sp>
      <p:sp>
        <p:nvSpPr>
          <p:cNvPr id="11" name="Shape 8"/>
          <p:cNvSpPr/>
          <p:nvPr/>
        </p:nvSpPr>
        <p:spPr>
          <a:xfrm>
            <a:off x="7498080" y="4956048"/>
            <a:ext cx="137160" cy="137160"/>
          </a:xfrm>
          <a:prstGeom prst="ellipse">
            <a:avLst/>
          </a:prstGeom>
          <a:solidFill>
            <a:srgbClr val="FF826C"/>
          </a:solidFill>
          <a:ln/>
        </p:spPr>
      </p:sp>
      <p:sp>
        <p:nvSpPr>
          <p:cNvPr id="12" name="Text 9"/>
          <p:cNvSpPr/>
          <p:nvPr/>
        </p:nvSpPr>
        <p:spPr>
          <a:xfrm>
            <a:off x="7772400" y="4846320"/>
            <a:ext cx="3749040" cy="1143000"/>
          </a:xfrm>
          <a:prstGeom prst="rect">
            <a:avLst/>
          </a:prstGeom>
          <a:noFill/>
          <a:ln/>
        </p:spPr>
        <p:txBody>
          <a:bodyPr wrap="square" lIns="0" tIns="0" rIns="0" bIns="0" rtlCol="0" anchor="t"/>
          <a:lstStyle/>
          <a:p>
            <a:pPr indent="0" marL="0">
              <a:lnSpc>
                <a:spcPct val="110000"/>
              </a:lnSpc>
              <a:buNone/>
            </a:pPr>
            <a:r>
              <a:rPr lang="en-US" sz="1350" dirty="0">
                <a:solidFill>
                  <a:srgbClr val="FFFFFF"/>
                </a:solidFill>
                <a:latin typeface="Space Grotesk" pitchFamily="34" charset="0"/>
                <a:ea typeface="Space Grotesk" pitchFamily="34" charset="-122"/>
                <a:cs typeface="Space Grotesk" pitchFamily="34" charset="-120"/>
              </a:rPr>
              <a:t>The fraction layer reaches 57.9% on forest type — pine F1 0.74. Cohen's kappa rises 0.298 → 0.420.</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640080" y="384048"/>
            <a:ext cx="1088136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Space Grotesk" pitchFamily="34" charset="0"/>
                <a:ea typeface="Space Grotesk" pitchFamily="34" charset="-122"/>
                <a:cs typeface="Space Grotesk" pitchFamily="34" charset="-120"/>
              </a:rPr>
              <a:t>The student beats the teacher</a:t>
            </a:r>
            <a:endParaRPr lang="en-US" sz="3200" dirty="0"/>
          </a:p>
        </p:txBody>
      </p:sp>
      <p:sp>
        <p:nvSpPr>
          <p:cNvPr id="4" name="Text 2"/>
          <p:cNvSpPr/>
          <p:nvPr/>
        </p:nvSpPr>
        <p:spPr>
          <a:xfrm>
            <a:off x="640080" y="1143000"/>
            <a:ext cx="6858000" cy="594360"/>
          </a:xfrm>
          <a:prstGeom prst="rect">
            <a:avLst/>
          </a:prstGeom>
          <a:noFill/>
          <a:ln/>
        </p:spPr>
        <p:txBody>
          <a:bodyPr wrap="square" lIns="0" tIns="0" rIns="0" bIns="0" rtlCol="0" anchor="ctr"/>
          <a:lstStyle/>
          <a:p>
            <a:pPr indent="0" marL="0">
              <a:lnSpc>
                <a:spcPct val="115000"/>
              </a:lnSpc>
              <a:buNone/>
            </a:pPr>
            <a:r>
              <a:rPr lang="en-US" sz="1350" dirty="0">
                <a:solidFill>
                  <a:srgbClr val="CDFCE3"/>
                </a:solidFill>
                <a:latin typeface="Space Grotesk" pitchFamily="34" charset="0"/>
                <a:ea typeface="Space Grotesk" pitchFamily="34" charset="-122"/>
                <a:cs typeface="Space Grotesk" pitchFamily="34" charset="-120"/>
              </a:rPr>
              <a:t>In distillation a student normally cannot exceed its teacher. Trained ONLY on NMD2023 labels, on independent NFI field truth it does — and its forest-type layer more so.</a:t>
            </a:r>
            <a:endParaRPr lang="en-US" sz="1350" dirty="0"/>
          </a:p>
        </p:txBody>
      </p:sp>
      <p:graphicFrame>
        <p:nvGraphicFramePr>
          <p:cNvPr id="5" name="Chart 0" descr=""/>
          <p:cNvGraphicFramePr/>
          <p:nvPr/>
        </p:nvGraphicFramePr>
        <p:xfrm>
          <a:off x="457200" y="1874520"/>
          <a:ext cx="6812280" cy="39776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3447288" y="4343400"/>
            <a:ext cx="1188720" cy="402336"/>
          </a:xfrm>
          <a:prstGeom prst="roundRect">
            <a:avLst>
              <a:gd name="adj" fmla="val 50000"/>
            </a:avLst>
          </a:prstGeom>
          <a:solidFill>
            <a:srgbClr val="0A322C"/>
          </a:solidFill>
          <a:ln/>
        </p:spPr>
      </p:sp>
      <p:sp>
        <p:nvSpPr>
          <p:cNvPr id="7" name="Text 4"/>
          <p:cNvSpPr/>
          <p:nvPr/>
        </p:nvSpPr>
        <p:spPr>
          <a:xfrm>
            <a:off x="3447288" y="4343400"/>
            <a:ext cx="1188720"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Space Grotesk" pitchFamily="34" charset="0"/>
                <a:ea typeface="Space Grotesk" pitchFamily="34" charset="-122"/>
                <a:cs typeface="Space Grotesk" pitchFamily="34" charset="-120"/>
              </a:rPr>
              <a:t>+7.1 pp</a:t>
            </a:r>
            <a:endParaRPr lang="en-US" sz="1400" dirty="0"/>
          </a:p>
        </p:txBody>
      </p:sp>
      <p:sp>
        <p:nvSpPr>
          <p:cNvPr id="8" name="Shape 5"/>
          <p:cNvSpPr/>
          <p:nvPr/>
        </p:nvSpPr>
        <p:spPr>
          <a:xfrm>
            <a:off x="5513832" y="4160520"/>
            <a:ext cx="1188720" cy="402336"/>
          </a:xfrm>
          <a:prstGeom prst="roundRect">
            <a:avLst>
              <a:gd name="adj" fmla="val 50000"/>
            </a:avLst>
          </a:prstGeom>
          <a:solidFill>
            <a:srgbClr val="0A322C"/>
          </a:solidFill>
          <a:ln/>
        </p:spPr>
      </p:sp>
      <p:sp>
        <p:nvSpPr>
          <p:cNvPr id="9" name="Text 6"/>
          <p:cNvSpPr/>
          <p:nvPr/>
        </p:nvSpPr>
        <p:spPr>
          <a:xfrm>
            <a:off x="5513832" y="4160520"/>
            <a:ext cx="1188720"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Space Grotesk" pitchFamily="34" charset="0"/>
                <a:ea typeface="Space Grotesk" pitchFamily="34" charset="-122"/>
                <a:cs typeface="Space Grotesk" pitchFamily="34" charset="-120"/>
              </a:rPr>
              <a:t>+14.8 pp</a:t>
            </a:r>
            <a:endParaRPr lang="en-US" sz="1400" dirty="0"/>
          </a:p>
        </p:txBody>
      </p:sp>
      <p:sp>
        <p:nvSpPr>
          <p:cNvPr id="10" name="Text 7"/>
          <p:cNvSpPr/>
          <p:nvPr/>
        </p:nvSpPr>
        <p:spPr>
          <a:xfrm>
            <a:off x="457200" y="5943600"/>
            <a:ext cx="6812280" cy="320040"/>
          </a:xfrm>
          <a:prstGeom prst="rect">
            <a:avLst/>
          </a:prstGeom>
          <a:noFill/>
          <a:ln/>
        </p:spPr>
        <p:txBody>
          <a:bodyPr wrap="square" lIns="0" tIns="0" rIns="0" bIns="0" rtlCol="0" anchor="ctr"/>
          <a:lstStyle/>
          <a:p>
            <a:pPr algn="ctr" indent="0" marL="0">
              <a:buNone/>
            </a:pPr>
            <a:r>
              <a:rPr lang="en-US" sz="1200" i="1" dirty="0">
                <a:solidFill>
                  <a:srgbClr val="9DBDB0"/>
                </a:solidFill>
                <a:latin typeface="Space Grotesk" pitchFamily="34" charset="0"/>
                <a:ea typeface="Space Grotesk" pitchFamily="34" charset="-122"/>
                <a:cs typeface="Space Grotesk" pitchFamily="34" charset="-120"/>
              </a:rPr>
              <a:t>Cohen's kappa  0.298 → 0.371 → 0.420</a:t>
            </a:r>
            <a:endParaRPr lang="en-US" sz="1200" dirty="0"/>
          </a:p>
        </p:txBody>
      </p:sp>
      <p:sp>
        <p:nvSpPr>
          <p:cNvPr id="11" name="Shape 8"/>
          <p:cNvSpPr/>
          <p:nvPr/>
        </p:nvSpPr>
        <p:spPr>
          <a:xfrm>
            <a:off x="7543800" y="1417320"/>
            <a:ext cx="3931920" cy="1371600"/>
          </a:xfrm>
          <a:prstGeom prst="roundRect">
            <a:avLst>
              <a:gd name="adj" fmla="val 6667"/>
            </a:avLst>
          </a:prstGeom>
          <a:solidFill>
            <a:srgbClr val="145043"/>
          </a:solidFill>
          <a:ln/>
          <a:effectLst>
            <a:outerShdw sx="100000" sy="100000" kx="0" ky="0" algn="bl" rotWithShape="0" blurRad="101600" dist="38100" dir="5400000">
              <a:srgbClr val="000000">
                <a:alpha val="35000"/>
              </a:srgbClr>
            </a:outerShdw>
          </a:effectLst>
        </p:spPr>
      </p:sp>
      <p:sp>
        <p:nvSpPr>
          <p:cNvPr id="12" name="Text 9"/>
          <p:cNvSpPr/>
          <p:nvPr/>
        </p:nvSpPr>
        <p:spPr>
          <a:xfrm>
            <a:off x="7772400" y="1554480"/>
            <a:ext cx="3474720" cy="457200"/>
          </a:xfrm>
          <a:prstGeom prst="rect">
            <a:avLst/>
          </a:prstGeom>
          <a:noFill/>
          <a:ln/>
        </p:spPr>
        <p:txBody>
          <a:bodyPr wrap="square" lIns="0" tIns="0" rIns="0" bIns="0" rtlCol="0" anchor="t"/>
          <a:lstStyle/>
          <a:p>
            <a:pPr indent="0" marL="0">
              <a:buNone/>
            </a:pPr>
            <a:r>
              <a:rPr lang="en-US" sz="1550" b="1" dirty="0">
                <a:solidFill>
                  <a:srgbClr val="CDFCE3"/>
                </a:solidFill>
                <a:latin typeface="Space Grotesk" pitchFamily="34" charset="0"/>
                <a:ea typeface="Space Grotesk" pitchFamily="34" charset="-122"/>
                <a:cs typeface="Space Grotesk" pitchFamily="34" charset="-120"/>
              </a:rPr>
              <a:t>Label noise averages out</a:t>
            </a:r>
            <a:endParaRPr lang="en-US" sz="1550" dirty="0"/>
          </a:p>
        </p:txBody>
      </p:sp>
      <p:sp>
        <p:nvSpPr>
          <p:cNvPr id="13" name="Text 10"/>
          <p:cNvSpPr/>
          <p:nvPr/>
        </p:nvSpPr>
        <p:spPr>
          <a:xfrm>
            <a:off x="7772400" y="1984248"/>
            <a:ext cx="3474720" cy="685800"/>
          </a:xfrm>
          <a:prstGeom prst="rect">
            <a:avLst/>
          </a:prstGeom>
          <a:noFill/>
          <a:ln/>
        </p:spPr>
        <p:txBody>
          <a:bodyPr wrap="square" lIns="0" tIns="0" rIns="0" bIns="0" rtlCol="0" anchor="t"/>
          <a:lstStyle/>
          <a:p>
            <a:pPr indent="0" marL="0">
              <a:lnSpc>
                <a:spcPct val="110000"/>
              </a:lnSpc>
              <a:buNone/>
            </a:pPr>
            <a:r>
              <a:rPr lang="en-US" sz="1250" dirty="0">
                <a:solidFill>
                  <a:srgbClr val="FFFFFF"/>
                </a:solidFill>
                <a:latin typeface="Space Grotesk" pitchFamily="34" charset="0"/>
                <a:ea typeface="Space Grotesk" pitchFamily="34" charset="-122"/>
                <a:cs typeface="Space Grotesk" pitchFamily="34" charset="-120"/>
              </a:rPr>
              <a:t>Random per-pixel teacher errors regularize away over 7,882 tiles — denoising you can see.</a:t>
            </a:r>
            <a:endParaRPr lang="en-US" sz="1250" dirty="0"/>
          </a:p>
        </p:txBody>
      </p:sp>
      <p:sp>
        <p:nvSpPr>
          <p:cNvPr id="14" name="Shape 11"/>
          <p:cNvSpPr/>
          <p:nvPr/>
        </p:nvSpPr>
        <p:spPr>
          <a:xfrm>
            <a:off x="7543800" y="2935224"/>
            <a:ext cx="3931920" cy="1371600"/>
          </a:xfrm>
          <a:prstGeom prst="roundRect">
            <a:avLst>
              <a:gd name="adj" fmla="val 6667"/>
            </a:avLst>
          </a:prstGeom>
          <a:solidFill>
            <a:srgbClr val="145043"/>
          </a:solidFill>
          <a:ln/>
          <a:effectLst>
            <a:outerShdw sx="100000" sy="100000" kx="0" ky="0" algn="bl" rotWithShape="0" blurRad="101600" dist="38100" dir="5400000">
              <a:srgbClr val="000000">
                <a:alpha val="35000"/>
              </a:srgbClr>
            </a:outerShdw>
          </a:effectLst>
        </p:spPr>
      </p:sp>
      <p:sp>
        <p:nvSpPr>
          <p:cNvPr id="15" name="Text 12"/>
          <p:cNvSpPr/>
          <p:nvPr/>
        </p:nvSpPr>
        <p:spPr>
          <a:xfrm>
            <a:off x="7772400" y="3072384"/>
            <a:ext cx="3474720" cy="457200"/>
          </a:xfrm>
          <a:prstGeom prst="rect">
            <a:avLst/>
          </a:prstGeom>
          <a:noFill/>
          <a:ln/>
        </p:spPr>
        <p:txBody>
          <a:bodyPr wrap="square" lIns="0" tIns="0" rIns="0" bIns="0" rtlCol="0" anchor="t"/>
          <a:lstStyle/>
          <a:p>
            <a:pPr indent="0" marL="0">
              <a:buNone/>
            </a:pPr>
            <a:r>
              <a:rPr lang="en-US" sz="1550" b="1" dirty="0">
                <a:solidFill>
                  <a:srgbClr val="FF826C"/>
                </a:solidFill>
                <a:latin typeface="Space Grotesk" pitchFamily="34" charset="0"/>
                <a:ea typeface="Space Grotesk" pitchFamily="34" charset="-122"/>
                <a:cs typeface="Space Grotesk" pitchFamily="34" charset="-120"/>
              </a:rPr>
              <a:t>Field truth exposes the teacher</a:t>
            </a:r>
            <a:endParaRPr lang="en-US" sz="1550" dirty="0"/>
          </a:p>
        </p:txBody>
      </p:sp>
      <p:sp>
        <p:nvSpPr>
          <p:cNvPr id="16" name="Text 13"/>
          <p:cNvSpPr/>
          <p:nvPr/>
        </p:nvSpPr>
        <p:spPr>
          <a:xfrm>
            <a:off x="7772400" y="3502152"/>
            <a:ext cx="3474720" cy="685800"/>
          </a:xfrm>
          <a:prstGeom prst="rect">
            <a:avLst/>
          </a:prstGeom>
          <a:noFill/>
          <a:ln/>
        </p:spPr>
        <p:txBody>
          <a:bodyPr wrap="square" lIns="0" tIns="0" rIns="0" bIns="0" rtlCol="0" anchor="t"/>
          <a:lstStyle/>
          <a:p>
            <a:pPr indent="0" marL="0">
              <a:lnSpc>
                <a:spcPct val="110000"/>
              </a:lnSpc>
              <a:buNone/>
            </a:pPr>
            <a:r>
              <a:rPr lang="en-US" sz="1250" dirty="0">
                <a:solidFill>
                  <a:srgbClr val="FFFFFF"/>
                </a:solidFill>
                <a:latin typeface="Space Grotesk" pitchFamily="34" charset="0"/>
                <a:ea typeface="Space Grotesk" pitchFamily="34" charset="-122"/>
                <a:cs typeface="Space Grotesk" pitchFamily="34" charset="-120"/>
              </a:rPr>
              <a:t>NMD's own errors are invisible when it is scored against itself; NFI plots reveal them.</a:t>
            </a:r>
            <a:endParaRPr lang="en-US" sz="1250" dirty="0"/>
          </a:p>
        </p:txBody>
      </p:sp>
      <p:sp>
        <p:nvSpPr>
          <p:cNvPr id="17" name="Shape 14"/>
          <p:cNvSpPr/>
          <p:nvPr/>
        </p:nvSpPr>
        <p:spPr>
          <a:xfrm>
            <a:off x="7543800" y="4453128"/>
            <a:ext cx="3931920" cy="1371600"/>
          </a:xfrm>
          <a:prstGeom prst="roundRect">
            <a:avLst>
              <a:gd name="adj" fmla="val 6667"/>
            </a:avLst>
          </a:prstGeom>
          <a:solidFill>
            <a:srgbClr val="145043"/>
          </a:solidFill>
          <a:ln/>
          <a:effectLst>
            <a:outerShdw sx="100000" sy="100000" kx="0" ky="0" algn="bl" rotWithShape="0" blurRad="101600" dist="38100" dir="5400000">
              <a:srgbClr val="000000">
                <a:alpha val="35000"/>
              </a:srgbClr>
            </a:outerShdw>
          </a:effectLst>
        </p:spPr>
      </p:sp>
      <p:sp>
        <p:nvSpPr>
          <p:cNvPr id="18" name="Text 15"/>
          <p:cNvSpPr/>
          <p:nvPr/>
        </p:nvSpPr>
        <p:spPr>
          <a:xfrm>
            <a:off x="7772400" y="4590288"/>
            <a:ext cx="3474720" cy="457200"/>
          </a:xfrm>
          <a:prstGeom prst="rect">
            <a:avLst/>
          </a:prstGeom>
          <a:noFill/>
          <a:ln/>
        </p:spPr>
        <p:txBody>
          <a:bodyPr wrap="square" lIns="0" tIns="0" rIns="0" bIns="0" rtlCol="0" anchor="t"/>
          <a:lstStyle/>
          <a:p>
            <a:pPr indent="0" marL="0">
              <a:buNone/>
            </a:pPr>
            <a:r>
              <a:rPr lang="en-US" sz="1550" b="1" dirty="0">
                <a:solidFill>
                  <a:srgbClr val="CDFCE3"/>
                </a:solidFill>
                <a:latin typeface="Space Grotesk" pitchFamily="34" charset="0"/>
                <a:ea typeface="Space Grotesk" pitchFamily="34" charset="-122"/>
                <a:cs typeface="Space Grotesk" pitchFamily="34" charset="-120"/>
              </a:rPr>
              <a:t>Richer than the label</a:t>
            </a:r>
            <a:endParaRPr lang="en-US" sz="1550" dirty="0"/>
          </a:p>
        </p:txBody>
      </p:sp>
      <p:sp>
        <p:nvSpPr>
          <p:cNvPr id="19" name="Text 16"/>
          <p:cNvSpPr/>
          <p:nvPr/>
        </p:nvSpPr>
        <p:spPr>
          <a:xfrm>
            <a:off x="7772400" y="5020056"/>
            <a:ext cx="3474720" cy="685800"/>
          </a:xfrm>
          <a:prstGeom prst="rect">
            <a:avLst/>
          </a:prstGeom>
          <a:noFill/>
          <a:ln/>
        </p:spPr>
        <p:txBody>
          <a:bodyPr wrap="square" lIns="0" tIns="0" rIns="0" bIns="0" rtlCol="0" anchor="t"/>
          <a:lstStyle/>
          <a:p>
            <a:pPr indent="0" marL="0">
              <a:lnSpc>
                <a:spcPct val="110000"/>
              </a:lnSpc>
              <a:buNone/>
            </a:pPr>
            <a:r>
              <a:rPr lang="en-US" sz="1250" dirty="0">
                <a:solidFill>
                  <a:srgbClr val="FFFFFF"/>
                </a:solidFill>
                <a:latin typeface="Space Grotesk" pitchFamily="34" charset="0"/>
                <a:ea typeface="Space Grotesk" pitchFamily="34" charset="-122"/>
                <a:cs typeface="Space Grotesk" pitchFamily="34" charset="-120"/>
              </a:rPr>
              <a:t>4 temporal frames + 11 auxiliary channels carry what a single-date NMD label cannot.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640080" y="384048"/>
            <a:ext cx="1088136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Space Grotesk" pitchFamily="34" charset="0"/>
                <a:ea typeface="Space Grotesk" pitchFamily="34" charset="-122"/>
                <a:cs typeface="Space Grotesk" pitchFamily="34" charset="-120"/>
              </a:rPr>
              <a:t>Five views, same landscape</a:t>
            </a:r>
            <a:endParaRPr lang="en-US" sz="3200" dirty="0"/>
          </a:p>
        </p:txBody>
      </p:sp>
      <p:sp>
        <p:nvSpPr>
          <p:cNvPr id="4" name="Text 2"/>
          <p:cNvSpPr/>
          <p:nvPr/>
        </p:nvSpPr>
        <p:spPr>
          <a:xfrm>
            <a:off x="822960" y="1115568"/>
            <a:ext cx="10515600" cy="365760"/>
          </a:xfrm>
          <a:prstGeom prst="rect">
            <a:avLst/>
          </a:prstGeom>
          <a:noFill/>
          <a:ln/>
        </p:spPr>
        <p:txBody>
          <a:bodyPr wrap="square" lIns="0" tIns="0" rIns="0" bIns="0" rtlCol="0" anchor="ctr"/>
          <a:lstStyle/>
          <a:p>
            <a:pPr algn="ctr" indent="0" marL="0">
              <a:buNone/>
            </a:pPr>
            <a:r>
              <a:rPr lang="en-US" sz="1250" dirty="0">
                <a:solidFill>
                  <a:srgbClr val="9DBDB0"/>
                </a:solidFill>
                <a:latin typeface="Space Grotesk" pitchFamily="34" charset="0"/>
                <a:ea typeface="Space Grotesk" pitchFamily="34" charset="-122"/>
                <a:cs typeface="Space Grotesk" pitchFamily="34" charset="-120"/>
              </a:rPr>
              <a:t>One 5×5 km tile, identical extent and unified palette (tile_331280_6541280): the 2018/2023 label sources, and three models — v8b, the distilled Prithvi, and Tessera — each trained against the field-calibrated target.</a:t>
            </a:r>
            <a:endParaRPr lang="en-US" sz="1250" dirty="0"/>
          </a:p>
        </p:txBody>
      </p:sp>
      <p:pic>
        <p:nvPicPr>
          <p:cNvPr id="5" name="Image 0" descr="preencoded.png">    </p:cNvPr>
          <p:cNvPicPr>
            <a:picLocks noChangeAspect="1"/>
          </p:cNvPicPr>
          <p:nvPr/>
        </p:nvPicPr>
        <p:blipFill>
          <a:blip r:embed="rId1"/>
          <a:stretch>
            <a:fillRect/>
          </a:stretch>
        </p:blipFill>
        <p:spPr>
          <a:xfrm>
            <a:off x="598932" y="1783080"/>
            <a:ext cx="2103120" cy="2103120"/>
          </a:xfrm>
          <a:prstGeom prst="rect">
            <a:avLst/>
          </a:prstGeom>
        </p:spPr>
      </p:pic>
      <p:sp>
        <p:nvSpPr>
          <p:cNvPr id="6" name="Text 3"/>
          <p:cNvSpPr/>
          <p:nvPr/>
        </p:nvSpPr>
        <p:spPr>
          <a:xfrm>
            <a:off x="553212" y="3931920"/>
            <a:ext cx="2194560" cy="320040"/>
          </a:xfrm>
          <a:prstGeom prst="rect">
            <a:avLst/>
          </a:prstGeom>
          <a:noFill/>
          <a:ln/>
        </p:spPr>
        <p:txBody>
          <a:bodyPr wrap="square" lIns="0" tIns="0" rIns="0" bIns="0" rtlCol="0" anchor="ctr"/>
          <a:lstStyle/>
          <a:p>
            <a:pPr algn="ctr" indent="0" marL="0">
              <a:buNone/>
            </a:pPr>
            <a:r>
              <a:rPr lang="en-US" sz="1250" b="1" dirty="0">
                <a:solidFill>
                  <a:srgbClr val="9DBDB0"/>
                </a:solidFill>
                <a:latin typeface="Space Grotesk" pitchFamily="34" charset="0"/>
                <a:ea typeface="Space Grotesk" pitchFamily="34" charset="-122"/>
                <a:cs typeface="Space Grotesk" pitchFamily="34" charset="-120"/>
              </a:rPr>
              <a:t>NMD2018 label</a:t>
            </a:r>
            <a:endParaRPr lang="en-US" sz="1250" dirty="0"/>
          </a:p>
        </p:txBody>
      </p:sp>
      <p:pic>
        <p:nvPicPr>
          <p:cNvPr id="7" name="Image 1" descr="preencoded.png">    </p:cNvPr>
          <p:cNvPicPr>
            <a:picLocks noChangeAspect="1"/>
          </p:cNvPicPr>
          <p:nvPr/>
        </p:nvPicPr>
        <p:blipFill>
          <a:blip r:embed="rId2"/>
          <a:stretch>
            <a:fillRect/>
          </a:stretch>
        </p:blipFill>
        <p:spPr>
          <a:xfrm>
            <a:off x="2820924" y="1783080"/>
            <a:ext cx="2103120" cy="2103120"/>
          </a:xfrm>
          <a:prstGeom prst="rect">
            <a:avLst/>
          </a:prstGeom>
        </p:spPr>
      </p:pic>
      <p:sp>
        <p:nvSpPr>
          <p:cNvPr id="8" name="Text 4"/>
          <p:cNvSpPr/>
          <p:nvPr/>
        </p:nvSpPr>
        <p:spPr>
          <a:xfrm>
            <a:off x="2775204" y="3931920"/>
            <a:ext cx="2194560"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Space Grotesk" pitchFamily="34" charset="0"/>
                <a:ea typeface="Space Grotesk" pitchFamily="34" charset="-122"/>
                <a:cs typeface="Space Grotesk" pitchFamily="34" charset="-120"/>
              </a:rPr>
              <a:t>v8b (trained on 2018)</a:t>
            </a:r>
            <a:endParaRPr lang="en-US" sz="1250" dirty="0"/>
          </a:p>
        </p:txBody>
      </p:sp>
      <p:pic>
        <p:nvPicPr>
          <p:cNvPr id="9" name="Image 2" descr="preencoded.png">    </p:cNvPr>
          <p:cNvPicPr>
            <a:picLocks noChangeAspect="1"/>
          </p:cNvPicPr>
          <p:nvPr/>
        </p:nvPicPr>
        <p:blipFill>
          <a:blip r:embed="rId3"/>
          <a:stretch>
            <a:fillRect/>
          </a:stretch>
        </p:blipFill>
        <p:spPr>
          <a:xfrm>
            <a:off x="5042916" y="1783080"/>
            <a:ext cx="2103120" cy="2103120"/>
          </a:xfrm>
          <a:prstGeom prst="rect">
            <a:avLst/>
          </a:prstGeom>
        </p:spPr>
      </p:pic>
      <p:sp>
        <p:nvSpPr>
          <p:cNvPr id="10" name="Text 5"/>
          <p:cNvSpPr/>
          <p:nvPr/>
        </p:nvSpPr>
        <p:spPr>
          <a:xfrm>
            <a:off x="4997196" y="3931920"/>
            <a:ext cx="2194560" cy="320040"/>
          </a:xfrm>
          <a:prstGeom prst="rect">
            <a:avLst/>
          </a:prstGeom>
          <a:noFill/>
          <a:ln/>
        </p:spPr>
        <p:txBody>
          <a:bodyPr wrap="square" lIns="0" tIns="0" rIns="0" bIns="0" rtlCol="0" anchor="ctr"/>
          <a:lstStyle/>
          <a:p>
            <a:pPr algn="ctr" indent="0" marL="0">
              <a:buNone/>
            </a:pPr>
            <a:r>
              <a:rPr lang="en-US" sz="1250" b="1" dirty="0">
                <a:solidFill>
                  <a:srgbClr val="CDFCE3"/>
                </a:solidFill>
                <a:latin typeface="Space Grotesk" pitchFamily="34" charset="0"/>
                <a:ea typeface="Space Grotesk" pitchFamily="34" charset="-122"/>
                <a:cs typeface="Space Grotesk" pitchFamily="34" charset="-120"/>
              </a:rPr>
              <a:t>NMD2023 label</a:t>
            </a:r>
            <a:endParaRPr lang="en-US" sz="1250" dirty="0"/>
          </a:p>
        </p:txBody>
      </p:sp>
      <p:pic>
        <p:nvPicPr>
          <p:cNvPr id="11" name="Image 3" descr="preencoded.png">    </p:cNvPr>
          <p:cNvPicPr>
            <a:picLocks noChangeAspect="1"/>
          </p:cNvPicPr>
          <p:nvPr/>
        </p:nvPicPr>
        <p:blipFill>
          <a:blip r:embed="rId4"/>
          <a:stretch>
            <a:fillRect/>
          </a:stretch>
        </p:blipFill>
        <p:spPr>
          <a:xfrm>
            <a:off x="7264908" y="1783080"/>
            <a:ext cx="2103120" cy="2103120"/>
          </a:xfrm>
          <a:prstGeom prst="rect">
            <a:avLst/>
          </a:prstGeom>
        </p:spPr>
      </p:pic>
      <p:sp>
        <p:nvSpPr>
          <p:cNvPr id="12" name="Text 6"/>
          <p:cNvSpPr/>
          <p:nvPr/>
        </p:nvSpPr>
        <p:spPr>
          <a:xfrm>
            <a:off x="7219188" y="3931920"/>
            <a:ext cx="2194560" cy="320040"/>
          </a:xfrm>
          <a:prstGeom prst="rect">
            <a:avLst/>
          </a:prstGeom>
          <a:noFill/>
          <a:ln/>
        </p:spPr>
        <p:txBody>
          <a:bodyPr wrap="square" lIns="0" tIns="0" rIns="0" bIns="0" rtlCol="0" anchor="ctr"/>
          <a:lstStyle/>
          <a:p>
            <a:pPr algn="ctr" indent="0" marL="0">
              <a:buNone/>
            </a:pPr>
            <a:r>
              <a:rPr lang="en-US" sz="1250" b="1" dirty="0">
                <a:solidFill>
                  <a:srgbClr val="FF826C"/>
                </a:solidFill>
                <a:latin typeface="Space Grotesk" pitchFamily="34" charset="0"/>
                <a:ea typeface="Space Grotesk" pitchFamily="34" charset="-122"/>
                <a:cs typeface="Space Grotesk" pitchFamily="34" charset="-120"/>
              </a:rPr>
              <a:t>Distilled Prithvi</a:t>
            </a:r>
            <a:endParaRPr lang="en-US" sz="1250" dirty="0"/>
          </a:p>
        </p:txBody>
      </p:sp>
      <p:pic>
        <p:nvPicPr>
          <p:cNvPr id="13" name="Image 4" descr="preencoded.png">    </p:cNvPr>
          <p:cNvPicPr>
            <a:picLocks noChangeAspect="1"/>
          </p:cNvPicPr>
          <p:nvPr/>
        </p:nvPicPr>
        <p:blipFill>
          <a:blip r:embed="rId5"/>
          <a:stretch>
            <a:fillRect/>
          </a:stretch>
        </p:blipFill>
        <p:spPr>
          <a:xfrm>
            <a:off x="9486900" y="1783080"/>
            <a:ext cx="2103120" cy="2103120"/>
          </a:xfrm>
          <a:prstGeom prst="rect">
            <a:avLst/>
          </a:prstGeom>
        </p:spPr>
      </p:pic>
      <p:sp>
        <p:nvSpPr>
          <p:cNvPr id="14" name="Text 7"/>
          <p:cNvSpPr/>
          <p:nvPr/>
        </p:nvSpPr>
        <p:spPr>
          <a:xfrm>
            <a:off x="9441180" y="3931920"/>
            <a:ext cx="2194560" cy="320040"/>
          </a:xfrm>
          <a:prstGeom prst="rect">
            <a:avLst/>
          </a:prstGeom>
          <a:noFill/>
          <a:ln/>
        </p:spPr>
        <p:txBody>
          <a:bodyPr wrap="square" lIns="0" tIns="0" rIns="0" bIns="0" rtlCol="0" anchor="ctr"/>
          <a:lstStyle/>
          <a:p>
            <a:pPr algn="ctr" indent="0" marL="0">
              <a:buNone/>
            </a:pPr>
            <a:r>
              <a:rPr lang="en-US" sz="1250" b="1" dirty="0">
                <a:solidFill>
                  <a:srgbClr val="F2C879"/>
                </a:solidFill>
                <a:latin typeface="Space Grotesk" pitchFamily="34" charset="0"/>
                <a:ea typeface="Space Grotesk" pitchFamily="34" charset="-122"/>
                <a:cs typeface="Space Grotesk" pitchFamily="34" charset="-120"/>
              </a:rPr>
              <a:t>Tessera</a:t>
            </a:r>
            <a:endParaRPr lang="en-US" sz="1250" dirty="0"/>
          </a:p>
        </p:txBody>
      </p:sp>
      <p:sp>
        <p:nvSpPr>
          <p:cNvPr id="15" name="Shape 8"/>
          <p:cNvSpPr/>
          <p:nvPr/>
        </p:nvSpPr>
        <p:spPr>
          <a:xfrm>
            <a:off x="822960" y="5093208"/>
            <a:ext cx="182880" cy="182880"/>
          </a:xfrm>
          <a:prstGeom prst="rect">
            <a:avLst/>
          </a:prstGeom>
          <a:solidFill>
            <a:srgbClr val="006400"/>
          </a:solidFill>
          <a:ln/>
        </p:spPr>
      </p:sp>
      <p:sp>
        <p:nvSpPr>
          <p:cNvPr id="16" name="Text 9"/>
          <p:cNvSpPr/>
          <p:nvPr/>
        </p:nvSpPr>
        <p:spPr>
          <a:xfrm>
            <a:off x="1097280" y="5047488"/>
            <a:ext cx="2286000" cy="274320"/>
          </a:xfrm>
          <a:prstGeom prst="rect">
            <a:avLst/>
          </a:prstGeom>
          <a:noFill/>
          <a:ln/>
        </p:spPr>
        <p:txBody>
          <a:bodyPr wrap="square" lIns="0" tIns="0" rIns="0" bIns="0" rtlCol="0" anchor="ctr"/>
          <a:lstStyle/>
          <a:p>
            <a:pPr indent="0" marL="0">
              <a:buNone/>
            </a:pPr>
            <a:r>
              <a:rPr lang="en-US" sz="1150" dirty="0">
                <a:solidFill>
                  <a:srgbClr val="FFFFFF"/>
                </a:solidFill>
                <a:latin typeface="Space Grotesk" pitchFamily="34" charset="0"/>
                <a:ea typeface="Space Grotesk" pitchFamily="34" charset="-122"/>
                <a:cs typeface="Space Grotesk" pitchFamily="34" charset="-120"/>
              </a:rPr>
              <a:t>Pine</a:t>
            </a:r>
            <a:endParaRPr lang="en-US" sz="1150" dirty="0"/>
          </a:p>
        </p:txBody>
      </p:sp>
      <p:sp>
        <p:nvSpPr>
          <p:cNvPr id="17" name="Shape 10"/>
          <p:cNvSpPr/>
          <p:nvPr/>
        </p:nvSpPr>
        <p:spPr>
          <a:xfrm>
            <a:off x="3566160" y="5093208"/>
            <a:ext cx="182880" cy="182880"/>
          </a:xfrm>
          <a:prstGeom prst="rect">
            <a:avLst/>
          </a:prstGeom>
          <a:solidFill>
            <a:srgbClr val="228B22"/>
          </a:solidFill>
          <a:ln/>
        </p:spPr>
      </p:sp>
      <p:sp>
        <p:nvSpPr>
          <p:cNvPr id="18" name="Text 11"/>
          <p:cNvSpPr/>
          <p:nvPr/>
        </p:nvSpPr>
        <p:spPr>
          <a:xfrm>
            <a:off x="3840480" y="5047488"/>
            <a:ext cx="2286000" cy="274320"/>
          </a:xfrm>
          <a:prstGeom prst="rect">
            <a:avLst/>
          </a:prstGeom>
          <a:noFill/>
          <a:ln/>
        </p:spPr>
        <p:txBody>
          <a:bodyPr wrap="square" lIns="0" tIns="0" rIns="0" bIns="0" rtlCol="0" anchor="ctr"/>
          <a:lstStyle/>
          <a:p>
            <a:pPr indent="0" marL="0">
              <a:buNone/>
            </a:pPr>
            <a:r>
              <a:rPr lang="en-US" sz="1150" dirty="0">
                <a:solidFill>
                  <a:srgbClr val="FFFFFF"/>
                </a:solidFill>
                <a:latin typeface="Space Grotesk" pitchFamily="34" charset="0"/>
                <a:ea typeface="Space Grotesk" pitchFamily="34" charset="-122"/>
                <a:cs typeface="Space Grotesk" pitchFamily="34" charset="-120"/>
              </a:rPr>
              <a:t>Spruce</a:t>
            </a:r>
            <a:endParaRPr lang="en-US" sz="1150" dirty="0"/>
          </a:p>
        </p:txBody>
      </p:sp>
      <p:sp>
        <p:nvSpPr>
          <p:cNvPr id="19" name="Shape 12"/>
          <p:cNvSpPr/>
          <p:nvPr/>
        </p:nvSpPr>
        <p:spPr>
          <a:xfrm>
            <a:off x="6309360" y="5093208"/>
            <a:ext cx="182880" cy="182880"/>
          </a:xfrm>
          <a:prstGeom prst="rect">
            <a:avLst/>
          </a:prstGeom>
          <a:solidFill>
            <a:srgbClr val="32CD32"/>
          </a:solidFill>
          <a:ln/>
        </p:spPr>
      </p:sp>
      <p:sp>
        <p:nvSpPr>
          <p:cNvPr id="20" name="Text 13"/>
          <p:cNvSpPr/>
          <p:nvPr/>
        </p:nvSpPr>
        <p:spPr>
          <a:xfrm>
            <a:off x="6583680" y="5047488"/>
            <a:ext cx="2286000" cy="274320"/>
          </a:xfrm>
          <a:prstGeom prst="rect">
            <a:avLst/>
          </a:prstGeom>
          <a:noFill/>
          <a:ln/>
        </p:spPr>
        <p:txBody>
          <a:bodyPr wrap="square" lIns="0" tIns="0" rIns="0" bIns="0" rtlCol="0" anchor="ctr"/>
          <a:lstStyle/>
          <a:p>
            <a:pPr indent="0" marL="0">
              <a:buNone/>
            </a:pPr>
            <a:r>
              <a:rPr lang="en-US" sz="1150" dirty="0">
                <a:solidFill>
                  <a:srgbClr val="FFFFFF"/>
                </a:solidFill>
                <a:latin typeface="Space Grotesk" pitchFamily="34" charset="0"/>
                <a:ea typeface="Space Grotesk" pitchFamily="34" charset="-122"/>
                <a:cs typeface="Space Grotesk" pitchFamily="34" charset="-120"/>
              </a:rPr>
              <a:t>Deciduous</a:t>
            </a:r>
            <a:endParaRPr lang="en-US" sz="1150" dirty="0"/>
          </a:p>
        </p:txBody>
      </p:sp>
      <p:sp>
        <p:nvSpPr>
          <p:cNvPr id="21" name="Shape 14"/>
          <p:cNvSpPr/>
          <p:nvPr/>
        </p:nvSpPr>
        <p:spPr>
          <a:xfrm>
            <a:off x="9052560" y="5093208"/>
            <a:ext cx="182880" cy="182880"/>
          </a:xfrm>
          <a:prstGeom prst="rect">
            <a:avLst/>
          </a:prstGeom>
          <a:solidFill>
            <a:srgbClr val="3CB371"/>
          </a:solidFill>
          <a:ln/>
        </p:spPr>
      </p:sp>
      <p:sp>
        <p:nvSpPr>
          <p:cNvPr id="22" name="Text 15"/>
          <p:cNvSpPr/>
          <p:nvPr/>
        </p:nvSpPr>
        <p:spPr>
          <a:xfrm>
            <a:off x="9326880" y="5047488"/>
            <a:ext cx="2286000" cy="274320"/>
          </a:xfrm>
          <a:prstGeom prst="rect">
            <a:avLst/>
          </a:prstGeom>
          <a:noFill/>
          <a:ln/>
        </p:spPr>
        <p:txBody>
          <a:bodyPr wrap="square" lIns="0" tIns="0" rIns="0" bIns="0" rtlCol="0" anchor="ctr"/>
          <a:lstStyle/>
          <a:p>
            <a:pPr indent="0" marL="0">
              <a:buNone/>
            </a:pPr>
            <a:r>
              <a:rPr lang="en-US" sz="1150" dirty="0">
                <a:solidFill>
                  <a:srgbClr val="FFFFFF"/>
                </a:solidFill>
                <a:latin typeface="Space Grotesk" pitchFamily="34" charset="0"/>
                <a:ea typeface="Space Grotesk" pitchFamily="34" charset="-122"/>
                <a:cs typeface="Space Grotesk" pitchFamily="34" charset="-120"/>
              </a:rPr>
              <a:t>Mixed</a:t>
            </a:r>
            <a:endParaRPr lang="en-US" sz="1150" dirty="0"/>
          </a:p>
        </p:txBody>
      </p:sp>
      <p:sp>
        <p:nvSpPr>
          <p:cNvPr id="23" name="Shape 16"/>
          <p:cNvSpPr/>
          <p:nvPr/>
        </p:nvSpPr>
        <p:spPr>
          <a:xfrm>
            <a:off x="822960" y="5404104"/>
            <a:ext cx="182880" cy="182880"/>
          </a:xfrm>
          <a:prstGeom prst="rect">
            <a:avLst/>
          </a:prstGeom>
          <a:solidFill>
            <a:srgbClr val="2E4F2E"/>
          </a:solidFill>
          <a:ln/>
        </p:spPr>
      </p:sp>
      <p:sp>
        <p:nvSpPr>
          <p:cNvPr id="24" name="Text 17"/>
          <p:cNvSpPr/>
          <p:nvPr/>
        </p:nvSpPr>
        <p:spPr>
          <a:xfrm>
            <a:off x="1097280" y="5358384"/>
            <a:ext cx="2286000" cy="274320"/>
          </a:xfrm>
          <a:prstGeom prst="rect">
            <a:avLst/>
          </a:prstGeom>
          <a:noFill/>
          <a:ln/>
        </p:spPr>
        <p:txBody>
          <a:bodyPr wrap="square" lIns="0" tIns="0" rIns="0" bIns="0" rtlCol="0" anchor="ctr"/>
          <a:lstStyle/>
          <a:p>
            <a:pPr indent="0" marL="0">
              <a:buNone/>
            </a:pPr>
            <a:r>
              <a:rPr lang="en-US" sz="1150" dirty="0">
                <a:solidFill>
                  <a:srgbClr val="FFFFFF"/>
                </a:solidFill>
                <a:latin typeface="Space Grotesk" pitchFamily="34" charset="0"/>
                <a:ea typeface="Space Grotesk" pitchFamily="34" charset="-122"/>
                <a:cs typeface="Space Grotesk" pitchFamily="34" charset="-120"/>
              </a:rPr>
              <a:t>Swamp forest</a:t>
            </a:r>
            <a:endParaRPr lang="en-US" sz="1150" dirty="0"/>
          </a:p>
        </p:txBody>
      </p:sp>
      <p:sp>
        <p:nvSpPr>
          <p:cNvPr id="25" name="Shape 18"/>
          <p:cNvSpPr/>
          <p:nvPr/>
        </p:nvSpPr>
        <p:spPr>
          <a:xfrm>
            <a:off x="3566160" y="5404104"/>
            <a:ext cx="182880" cy="182880"/>
          </a:xfrm>
          <a:prstGeom prst="rect">
            <a:avLst/>
          </a:prstGeom>
          <a:solidFill>
            <a:srgbClr val="00CED1"/>
          </a:solidFill>
          <a:ln/>
        </p:spPr>
      </p:sp>
      <p:sp>
        <p:nvSpPr>
          <p:cNvPr id="26" name="Text 19"/>
          <p:cNvSpPr/>
          <p:nvPr/>
        </p:nvSpPr>
        <p:spPr>
          <a:xfrm>
            <a:off x="3840480" y="5358384"/>
            <a:ext cx="2286000" cy="274320"/>
          </a:xfrm>
          <a:prstGeom prst="rect">
            <a:avLst/>
          </a:prstGeom>
          <a:noFill/>
          <a:ln/>
        </p:spPr>
        <p:txBody>
          <a:bodyPr wrap="square" lIns="0" tIns="0" rIns="0" bIns="0" rtlCol="0" anchor="ctr"/>
          <a:lstStyle/>
          <a:p>
            <a:pPr indent="0" marL="0">
              <a:buNone/>
            </a:pPr>
            <a:r>
              <a:rPr lang="en-US" sz="1150" dirty="0">
                <a:solidFill>
                  <a:srgbClr val="FFFFFF"/>
                </a:solidFill>
                <a:latin typeface="Space Grotesk" pitchFamily="34" charset="0"/>
                <a:ea typeface="Space Grotesk" pitchFamily="34" charset="-122"/>
                <a:cs typeface="Space Grotesk" pitchFamily="34" charset="-120"/>
              </a:rPr>
              <a:t>Clear-cut</a:t>
            </a:r>
            <a:endParaRPr lang="en-US" sz="1150" dirty="0"/>
          </a:p>
        </p:txBody>
      </p:sp>
      <p:sp>
        <p:nvSpPr>
          <p:cNvPr id="27" name="Shape 20"/>
          <p:cNvSpPr/>
          <p:nvPr/>
        </p:nvSpPr>
        <p:spPr>
          <a:xfrm>
            <a:off x="6309360" y="5404104"/>
            <a:ext cx="182880" cy="182880"/>
          </a:xfrm>
          <a:prstGeom prst="rect">
            <a:avLst/>
          </a:prstGeom>
          <a:solidFill>
            <a:srgbClr val="D2B48C"/>
          </a:solidFill>
          <a:ln/>
        </p:spPr>
      </p:sp>
      <p:sp>
        <p:nvSpPr>
          <p:cNvPr id="28" name="Text 21"/>
          <p:cNvSpPr/>
          <p:nvPr/>
        </p:nvSpPr>
        <p:spPr>
          <a:xfrm>
            <a:off x="6583680" y="5358384"/>
            <a:ext cx="2286000" cy="274320"/>
          </a:xfrm>
          <a:prstGeom prst="rect">
            <a:avLst/>
          </a:prstGeom>
          <a:noFill/>
          <a:ln/>
        </p:spPr>
        <p:txBody>
          <a:bodyPr wrap="square" lIns="0" tIns="0" rIns="0" bIns="0" rtlCol="0" anchor="ctr"/>
          <a:lstStyle/>
          <a:p>
            <a:pPr indent="0" marL="0">
              <a:buNone/>
            </a:pPr>
            <a:r>
              <a:rPr lang="en-US" sz="1150" dirty="0">
                <a:solidFill>
                  <a:srgbClr val="FFFFFF"/>
                </a:solidFill>
                <a:latin typeface="Space Grotesk" pitchFamily="34" charset="0"/>
                <a:ea typeface="Space Grotesk" pitchFamily="34" charset="-122"/>
                <a:cs typeface="Space Grotesk" pitchFamily="34" charset="-120"/>
              </a:rPr>
              <a:t>Open land</a:t>
            </a:r>
            <a:endParaRPr lang="en-US" sz="1150" dirty="0"/>
          </a:p>
        </p:txBody>
      </p:sp>
      <p:sp>
        <p:nvSpPr>
          <p:cNvPr id="29" name="Shape 22"/>
          <p:cNvSpPr/>
          <p:nvPr/>
        </p:nvSpPr>
        <p:spPr>
          <a:xfrm>
            <a:off x="9052560" y="5404104"/>
            <a:ext cx="182880" cy="182880"/>
          </a:xfrm>
          <a:prstGeom prst="rect">
            <a:avLst/>
          </a:prstGeom>
          <a:solidFill>
            <a:srgbClr val="0000FF"/>
          </a:solidFill>
          <a:ln/>
        </p:spPr>
      </p:sp>
      <p:sp>
        <p:nvSpPr>
          <p:cNvPr id="30" name="Text 23"/>
          <p:cNvSpPr/>
          <p:nvPr/>
        </p:nvSpPr>
        <p:spPr>
          <a:xfrm>
            <a:off x="9326880" y="5358384"/>
            <a:ext cx="2286000" cy="274320"/>
          </a:xfrm>
          <a:prstGeom prst="rect">
            <a:avLst/>
          </a:prstGeom>
          <a:noFill/>
          <a:ln/>
        </p:spPr>
        <p:txBody>
          <a:bodyPr wrap="square" lIns="0" tIns="0" rIns="0" bIns="0" rtlCol="0" anchor="ctr"/>
          <a:lstStyle/>
          <a:p>
            <a:pPr indent="0" marL="0">
              <a:buNone/>
            </a:pPr>
            <a:r>
              <a:rPr lang="en-US" sz="1150" dirty="0">
                <a:solidFill>
                  <a:srgbClr val="FFFFFF"/>
                </a:solidFill>
                <a:latin typeface="Space Grotesk" pitchFamily="34" charset="0"/>
                <a:ea typeface="Space Grotesk" pitchFamily="34" charset="-122"/>
                <a:cs typeface="Space Grotesk" pitchFamily="34" charset="-120"/>
              </a:rPr>
              <a:t>Water</a:t>
            </a:r>
            <a:endParaRPr lang="en-US" sz="1150" dirty="0"/>
          </a:p>
        </p:txBody>
      </p:sp>
      <p:sp>
        <p:nvSpPr>
          <p:cNvPr id="31" name="Shape 24"/>
          <p:cNvSpPr/>
          <p:nvPr/>
        </p:nvSpPr>
        <p:spPr>
          <a:xfrm>
            <a:off x="822960" y="5715000"/>
            <a:ext cx="182880" cy="182880"/>
          </a:xfrm>
          <a:prstGeom prst="rect">
            <a:avLst/>
          </a:prstGeom>
          <a:solidFill>
            <a:srgbClr val="FF0000"/>
          </a:solidFill>
          <a:ln/>
        </p:spPr>
      </p:sp>
      <p:sp>
        <p:nvSpPr>
          <p:cNvPr id="32" name="Text 25"/>
          <p:cNvSpPr/>
          <p:nvPr/>
        </p:nvSpPr>
        <p:spPr>
          <a:xfrm>
            <a:off x="1097280" y="5669280"/>
            <a:ext cx="2286000" cy="274320"/>
          </a:xfrm>
          <a:prstGeom prst="rect">
            <a:avLst/>
          </a:prstGeom>
          <a:noFill/>
          <a:ln/>
        </p:spPr>
        <p:txBody>
          <a:bodyPr wrap="square" lIns="0" tIns="0" rIns="0" bIns="0" rtlCol="0" anchor="ctr"/>
          <a:lstStyle/>
          <a:p>
            <a:pPr indent="0" marL="0">
              <a:buNone/>
            </a:pPr>
            <a:r>
              <a:rPr lang="en-US" sz="1150" dirty="0">
                <a:solidFill>
                  <a:srgbClr val="FFFFFF"/>
                </a:solidFill>
                <a:latin typeface="Space Grotesk" pitchFamily="34" charset="0"/>
                <a:ea typeface="Space Grotesk" pitchFamily="34" charset="-122"/>
                <a:cs typeface="Space Grotesk" pitchFamily="34" charset="-120"/>
              </a:rPr>
              <a:t>Built-up</a:t>
            </a:r>
            <a:endParaRPr lang="en-US" sz="1150" dirty="0"/>
          </a:p>
        </p:txBody>
      </p:sp>
      <p:sp>
        <p:nvSpPr>
          <p:cNvPr id="33" name="Shape 26"/>
          <p:cNvSpPr/>
          <p:nvPr/>
        </p:nvSpPr>
        <p:spPr>
          <a:xfrm>
            <a:off x="3566160" y="5715000"/>
            <a:ext cx="182880" cy="182880"/>
          </a:xfrm>
          <a:prstGeom prst="rect">
            <a:avLst/>
          </a:prstGeom>
          <a:solidFill>
            <a:srgbClr val="FFD27E"/>
          </a:solidFill>
          <a:ln/>
        </p:spPr>
      </p:sp>
      <p:sp>
        <p:nvSpPr>
          <p:cNvPr id="34" name="Text 27"/>
          <p:cNvSpPr/>
          <p:nvPr/>
        </p:nvSpPr>
        <p:spPr>
          <a:xfrm>
            <a:off x="3840480" y="5669280"/>
            <a:ext cx="2286000" cy="274320"/>
          </a:xfrm>
          <a:prstGeom prst="rect">
            <a:avLst/>
          </a:prstGeom>
          <a:noFill/>
          <a:ln/>
        </p:spPr>
        <p:txBody>
          <a:bodyPr wrap="square" lIns="0" tIns="0" rIns="0" bIns="0" rtlCol="0" anchor="ctr"/>
          <a:lstStyle/>
          <a:p>
            <a:pPr indent="0" marL="0">
              <a:buNone/>
            </a:pPr>
            <a:r>
              <a:rPr lang="en-US" sz="1150" dirty="0">
                <a:solidFill>
                  <a:srgbClr val="FFFFFF"/>
                </a:solidFill>
                <a:latin typeface="Space Grotesk" pitchFamily="34" charset="0"/>
                <a:ea typeface="Space Grotesk" pitchFamily="34" charset="-122"/>
                <a:cs typeface="Space Grotesk" pitchFamily="34" charset="-120"/>
              </a:rPr>
              <a:t>Grass-dom.</a:t>
            </a:r>
            <a:endParaRPr lang="en-US" sz="1150" dirty="0"/>
          </a:p>
        </p:txBody>
      </p:sp>
      <p:sp>
        <p:nvSpPr>
          <p:cNvPr id="35" name="Shape 28"/>
          <p:cNvSpPr/>
          <p:nvPr/>
        </p:nvSpPr>
        <p:spPr>
          <a:xfrm>
            <a:off x="6309360" y="5715000"/>
            <a:ext cx="182880" cy="182880"/>
          </a:xfrm>
          <a:prstGeom prst="rect">
            <a:avLst/>
          </a:prstGeom>
          <a:solidFill>
            <a:srgbClr val="CDAA66"/>
          </a:solidFill>
          <a:ln/>
        </p:spPr>
      </p:sp>
      <p:sp>
        <p:nvSpPr>
          <p:cNvPr id="36" name="Text 29"/>
          <p:cNvSpPr/>
          <p:nvPr/>
        </p:nvSpPr>
        <p:spPr>
          <a:xfrm>
            <a:off x="6583680" y="5669280"/>
            <a:ext cx="2286000" cy="274320"/>
          </a:xfrm>
          <a:prstGeom prst="rect">
            <a:avLst/>
          </a:prstGeom>
          <a:noFill/>
          <a:ln/>
        </p:spPr>
        <p:txBody>
          <a:bodyPr wrap="square" lIns="0" tIns="0" rIns="0" bIns="0" rtlCol="0" anchor="ctr"/>
          <a:lstStyle/>
          <a:p>
            <a:pPr indent="0" marL="0">
              <a:buNone/>
            </a:pPr>
            <a:r>
              <a:rPr lang="en-US" sz="1150" dirty="0">
                <a:solidFill>
                  <a:srgbClr val="FFFFFF"/>
                </a:solidFill>
                <a:latin typeface="Space Grotesk" pitchFamily="34" charset="0"/>
                <a:ea typeface="Space Grotesk" pitchFamily="34" charset="-122"/>
                <a:cs typeface="Space Grotesk" pitchFamily="34" charset="-120"/>
              </a:rPr>
              <a:t>Dwarf-shrub</a:t>
            </a:r>
            <a:endParaRPr lang="en-US" sz="1150" dirty="0"/>
          </a:p>
        </p:txBody>
      </p:sp>
      <p:sp>
        <p:nvSpPr>
          <p:cNvPr id="37" name="Shape 30"/>
          <p:cNvSpPr/>
          <p:nvPr/>
        </p:nvSpPr>
        <p:spPr>
          <a:xfrm>
            <a:off x="9052560" y="5715000"/>
            <a:ext cx="182880" cy="182880"/>
          </a:xfrm>
          <a:prstGeom prst="rect">
            <a:avLst/>
          </a:prstGeom>
          <a:solidFill>
            <a:srgbClr val="ABC8A6"/>
          </a:solidFill>
          <a:ln/>
        </p:spPr>
      </p:sp>
      <p:sp>
        <p:nvSpPr>
          <p:cNvPr id="38" name="Text 31"/>
          <p:cNvSpPr/>
          <p:nvPr/>
        </p:nvSpPr>
        <p:spPr>
          <a:xfrm>
            <a:off x="9326880" y="5669280"/>
            <a:ext cx="2286000" cy="274320"/>
          </a:xfrm>
          <a:prstGeom prst="rect">
            <a:avLst/>
          </a:prstGeom>
          <a:noFill/>
          <a:ln/>
        </p:spPr>
        <p:txBody>
          <a:bodyPr wrap="square" lIns="0" tIns="0" rIns="0" bIns="0" rtlCol="0" anchor="ctr"/>
          <a:lstStyle/>
          <a:p>
            <a:pPr indent="0" marL="0">
              <a:buNone/>
            </a:pPr>
            <a:r>
              <a:rPr lang="en-US" sz="1150" dirty="0">
                <a:solidFill>
                  <a:srgbClr val="FFFFFF"/>
                </a:solidFill>
                <a:latin typeface="Space Grotesk" pitchFamily="34" charset="0"/>
                <a:ea typeface="Space Grotesk" pitchFamily="34" charset="-122"/>
                <a:cs typeface="Space Grotesk" pitchFamily="34" charset="-120"/>
              </a:rPr>
              <a:t>Shrub-dom.</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640080" y="384048"/>
            <a:ext cx="1088136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Space Grotesk" pitchFamily="34" charset="0"/>
                <a:ea typeface="Space Grotesk" pitchFamily="34" charset="-122"/>
                <a:cs typeface="Space Grotesk" pitchFamily="34" charset="-120"/>
              </a:rPr>
              <a:t>Per-class F1 on the held-out plots</a:t>
            </a:r>
            <a:endParaRPr lang="en-US" sz="3200" dirty="0"/>
          </a:p>
        </p:txBody>
      </p:sp>
      <p:sp>
        <p:nvSpPr>
          <p:cNvPr id="4" name="Text 2"/>
          <p:cNvSpPr/>
          <p:nvPr/>
        </p:nvSpPr>
        <p:spPr>
          <a:xfrm>
            <a:off x="822960" y="1170432"/>
            <a:ext cx="10515600" cy="457200"/>
          </a:xfrm>
          <a:prstGeom prst="rect">
            <a:avLst/>
          </a:prstGeom>
          <a:noFill/>
          <a:ln/>
        </p:spPr>
        <p:txBody>
          <a:bodyPr wrap="square" lIns="0" tIns="0" rIns="0" bIns="0" rtlCol="0" anchor="ctr"/>
          <a:lstStyle/>
          <a:p>
            <a:pPr algn="ctr" indent="0" marL="0">
              <a:buNone/>
            </a:pPr>
            <a:r>
              <a:rPr lang="en-US" sz="1400" dirty="0">
                <a:solidFill>
                  <a:srgbClr val="9DBDB0"/>
                </a:solidFill>
                <a:latin typeface="Space Grotesk" pitchFamily="34" charset="0"/>
                <a:ea typeface="Space Grotesk" pitchFamily="34" charset="-122"/>
                <a:cs typeface="Space Grotesk" pitchFamily="34" charset="-120"/>
              </a:rPr>
              <a:t>Three sources on the exact same 209 field plots</a:t>
            </a:r>
            <a:endParaRPr lang="en-US" sz="1400" dirty="0"/>
          </a:p>
        </p:txBody>
      </p:sp>
      <p:sp>
        <p:nvSpPr>
          <p:cNvPr id="5" name="Shape 3"/>
          <p:cNvSpPr/>
          <p:nvPr/>
        </p:nvSpPr>
        <p:spPr>
          <a:xfrm>
            <a:off x="731520" y="1737360"/>
            <a:ext cx="5349240" cy="914400"/>
          </a:xfrm>
          <a:prstGeom prst="roundRect">
            <a:avLst>
              <a:gd name="adj" fmla="val 8000"/>
            </a:avLst>
          </a:prstGeom>
          <a:solidFill>
            <a:srgbClr val="145043"/>
          </a:solidFill>
          <a:ln/>
        </p:spPr>
      </p:sp>
      <p:sp>
        <p:nvSpPr>
          <p:cNvPr id="6" name="Text 4"/>
          <p:cNvSpPr/>
          <p:nvPr/>
        </p:nvSpPr>
        <p:spPr>
          <a:xfrm>
            <a:off x="960120" y="1810512"/>
            <a:ext cx="4937760" cy="320040"/>
          </a:xfrm>
          <a:prstGeom prst="rect">
            <a:avLst/>
          </a:prstGeom>
          <a:noFill/>
          <a:ln/>
        </p:spPr>
        <p:txBody>
          <a:bodyPr wrap="square" lIns="0" tIns="0" rIns="0" bIns="0" rtlCol="0" anchor="ctr"/>
          <a:lstStyle/>
          <a:p>
            <a:pPr indent="0" marL="0">
              <a:buNone/>
            </a:pPr>
            <a:r>
              <a:rPr lang="en-US" sz="1300" b="1" dirty="0">
                <a:solidFill>
                  <a:srgbClr val="CDFCE3"/>
                </a:solidFill>
                <a:latin typeface="Space Grotesk" pitchFamily="34" charset="0"/>
                <a:ea typeface="Space Grotesk" pitchFamily="34" charset="-122"/>
                <a:cs typeface="Space Grotesk" pitchFamily="34" charset="-120"/>
              </a:rPr>
              <a:t>Overall accuracy</a:t>
            </a:r>
            <a:endParaRPr lang="en-US" sz="1300" dirty="0"/>
          </a:p>
        </p:txBody>
      </p:sp>
      <p:sp>
        <p:nvSpPr>
          <p:cNvPr id="7" name="Text 5"/>
          <p:cNvSpPr/>
          <p:nvPr/>
        </p:nvSpPr>
        <p:spPr>
          <a:xfrm>
            <a:off x="960120" y="2130552"/>
            <a:ext cx="5029200" cy="457200"/>
          </a:xfrm>
          <a:prstGeom prst="rect">
            <a:avLst/>
          </a:prstGeom>
          <a:noFill/>
          <a:ln/>
        </p:spPr>
        <p:txBody>
          <a:bodyPr wrap="square" lIns="0" tIns="0" rIns="0" bIns="0" rtlCol="0" anchor="ctr"/>
          <a:lstStyle/>
          <a:p>
            <a:pPr indent="0" marL="0">
              <a:buNone/>
            </a:pPr>
            <a:r>
              <a:rPr lang="en-US" sz="1200" dirty="0">
                <a:solidFill>
                  <a:srgbClr val="9DBDB0"/>
                </a:solidFill>
                <a:latin typeface="Space Grotesk" pitchFamily="34" charset="0"/>
                <a:ea typeface="Space Grotesk" pitchFamily="34" charset="-122"/>
                <a:cs typeface="Space Grotesk" pitchFamily="34" charset="-120"/>
              </a:rPr>
              <a:t>NMD2023 </a:t>
            </a:r>
            <a:pPr indent="0" marL="0">
              <a:buNone/>
            </a:pPr>
            <a:r>
              <a:rPr lang="en-US" sz="1800" b="1" dirty="0">
                <a:solidFill>
                  <a:srgbClr val="FFFFFF"/>
                </a:solidFill>
                <a:latin typeface="Space Grotesk" pitchFamily="34" charset="0"/>
                <a:ea typeface="Space Grotesk" pitchFamily="34" charset="-122"/>
                <a:cs typeface="Space Grotesk" pitchFamily="34" charset="-120"/>
              </a:rPr>
              <a:t>43.1%</a:t>
            </a:r>
            <a:pPr indent="0" marL="0">
              <a:buNone/>
            </a:pPr>
            <a:r>
              <a:rPr lang="en-US" sz="1200" dirty="0">
                <a:solidFill>
                  <a:srgbClr val="9DBDB0"/>
                </a:solidFill>
                <a:latin typeface="Space Grotesk" pitchFamily="34" charset="0"/>
                <a:ea typeface="Space Grotesk" pitchFamily="34" charset="-122"/>
                <a:cs typeface="Space Grotesk" pitchFamily="34" charset="-120"/>
              </a:rPr>
              <a:t>   Distilled </a:t>
            </a:r>
            <a:pPr indent="0" marL="0">
              <a:buNone/>
            </a:pPr>
            <a:r>
              <a:rPr lang="en-US" sz="1800" b="1" dirty="0">
                <a:solidFill>
                  <a:srgbClr val="FF826C"/>
                </a:solidFill>
                <a:latin typeface="Space Grotesk" pitchFamily="34" charset="0"/>
                <a:ea typeface="Space Grotesk" pitchFamily="34" charset="-122"/>
                <a:cs typeface="Space Grotesk" pitchFamily="34" charset="-120"/>
              </a:rPr>
              <a:t>50.2%</a:t>
            </a:r>
            <a:pPr indent="0" marL="0">
              <a:buNone/>
            </a:pPr>
            <a:r>
              <a:rPr lang="en-US" sz="1200" dirty="0">
                <a:solidFill>
                  <a:srgbClr val="9DBDB0"/>
                </a:solidFill>
                <a:latin typeface="Space Grotesk" pitchFamily="34" charset="0"/>
                <a:ea typeface="Space Grotesk" pitchFamily="34" charset="-122"/>
                <a:cs typeface="Space Grotesk" pitchFamily="34" charset="-120"/>
              </a:rPr>
              <a:t>   Fractions </a:t>
            </a:r>
            <a:pPr indent="0" marL="0">
              <a:buNone/>
            </a:pPr>
            <a:r>
              <a:rPr lang="en-US" sz="1800" b="1" dirty="0">
                <a:solidFill>
                  <a:srgbClr val="CDFCE3"/>
                </a:solidFill>
                <a:latin typeface="Space Grotesk" pitchFamily="34" charset="0"/>
                <a:ea typeface="Space Grotesk" pitchFamily="34" charset="-122"/>
                <a:cs typeface="Space Grotesk" pitchFamily="34" charset="-120"/>
              </a:rPr>
              <a:t>57.9%</a:t>
            </a:r>
            <a:endParaRPr lang="en-US" sz="1200" dirty="0"/>
          </a:p>
        </p:txBody>
      </p:sp>
      <p:sp>
        <p:nvSpPr>
          <p:cNvPr id="8" name="Shape 6"/>
          <p:cNvSpPr/>
          <p:nvPr/>
        </p:nvSpPr>
        <p:spPr>
          <a:xfrm>
            <a:off x="6263640" y="1737360"/>
            <a:ext cx="5349240" cy="914400"/>
          </a:xfrm>
          <a:prstGeom prst="roundRect">
            <a:avLst>
              <a:gd name="adj" fmla="val 8000"/>
            </a:avLst>
          </a:prstGeom>
          <a:solidFill>
            <a:srgbClr val="145043"/>
          </a:solidFill>
          <a:ln/>
        </p:spPr>
      </p:sp>
      <p:sp>
        <p:nvSpPr>
          <p:cNvPr id="9" name="Text 7"/>
          <p:cNvSpPr/>
          <p:nvPr/>
        </p:nvSpPr>
        <p:spPr>
          <a:xfrm>
            <a:off x="6492240" y="1810512"/>
            <a:ext cx="4937760" cy="320040"/>
          </a:xfrm>
          <a:prstGeom prst="rect">
            <a:avLst/>
          </a:prstGeom>
          <a:noFill/>
          <a:ln/>
        </p:spPr>
        <p:txBody>
          <a:bodyPr wrap="square" lIns="0" tIns="0" rIns="0" bIns="0" rtlCol="0" anchor="ctr"/>
          <a:lstStyle/>
          <a:p>
            <a:pPr indent="0" marL="0">
              <a:buNone/>
            </a:pPr>
            <a:r>
              <a:rPr lang="en-US" sz="1300" b="1" dirty="0">
                <a:solidFill>
                  <a:srgbClr val="CDFCE3"/>
                </a:solidFill>
                <a:latin typeface="Space Grotesk" pitchFamily="34" charset="0"/>
                <a:ea typeface="Space Grotesk" pitchFamily="34" charset="-122"/>
                <a:cs typeface="Space Grotesk" pitchFamily="34" charset="-120"/>
              </a:rPr>
              <a:t>Cohen's kappa</a:t>
            </a:r>
            <a:endParaRPr lang="en-US" sz="1300" dirty="0"/>
          </a:p>
        </p:txBody>
      </p:sp>
      <p:sp>
        <p:nvSpPr>
          <p:cNvPr id="10" name="Text 8"/>
          <p:cNvSpPr/>
          <p:nvPr/>
        </p:nvSpPr>
        <p:spPr>
          <a:xfrm>
            <a:off x="6492240" y="2130552"/>
            <a:ext cx="5029200" cy="457200"/>
          </a:xfrm>
          <a:prstGeom prst="rect">
            <a:avLst/>
          </a:prstGeom>
          <a:noFill/>
          <a:ln/>
        </p:spPr>
        <p:txBody>
          <a:bodyPr wrap="square" lIns="0" tIns="0" rIns="0" bIns="0" rtlCol="0" anchor="ctr"/>
          <a:lstStyle/>
          <a:p>
            <a:pPr indent="0" marL="0">
              <a:buNone/>
            </a:pPr>
            <a:r>
              <a:rPr lang="en-US" sz="1200" dirty="0">
                <a:solidFill>
                  <a:srgbClr val="9DBDB0"/>
                </a:solidFill>
                <a:latin typeface="Space Grotesk" pitchFamily="34" charset="0"/>
                <a:ea typeface="Space Grotesk" pitchFamily="34" charset="-122"/>
                <a:cs typeface="Space Grotesk" pitchFamily="34" charset="-120"/>
              </a:rPr>
              <a:t>NMD2023 </a:t>
            </a:r>
            <a:pPr indent="0" marL="0">
              <a:buNone/>
            </a:pPr>
            <a:r>
              <a:rPr lang="en-US" sz="1800" b="1" dirty="0">
                <a:solidFill>
                  <a:srgbClr val="FFFFFF"/>
                </a:solidFill>
                <a:latin typeface="Space Grotesk" pitchFamily="34" charset="0"/>
                <a:ea typeface="Space Grotesk" pitchFamily="34" charset="-122"/>
                <a:cs typeface="Space Grotesk" pitchFamily="34" charset="-120"/>
              </a:rPr>
              <a:t>0.298</a:t>
            </a:r>
            <a:pPr indent="0" marL="0">
              <a:buNone/>
            </a:pPr>
            <a:r>
              <a:rPr lang="en-US" sz="1200" dirty="0">
                <a:solidFill>
                  <a:srgbClr val="9DBDB0"/>
                </a:solidFill>
                <a:latin typeface="Space Grotesk" pitchFamily="34" charset="0"/>
                <a:ea typeface="Space Grotesk" pitchFamily="34" charset="-122"/>
                <a:cs typeface="Space Grotesk" pitchFamily="34" charset="-120"/>
              </a:rPr>
              <a:t>   Distilled </a:t>
            </a:r>
            <a:pPr indent="0" marL="0">
              <a:buNone/>
            </a:pPr>
            <a:r>
              <a:rPr lang="en-US" sz="1800" b="1" dirty="0">
                <a:solidFill>
                  <a:srgbClr val="FF826C"/>
                </a:solidFill>
                <a:latin typeface="Space Grotesk" pitchFamily="34" charset="0"/>
                <a:ea typeface="Space Grotesk" pitchFamily="34" charset="-122"/>
                <a:cs typeface="Space Grotesk" pitchFamily="34" charset="-120"/>
              </a:rPr>
              <a:t>0.371</a:t>
            </a:r>
            <a:pPr indent="0" marL="0">
              <a:buNone/>
            </a:pPr>
            <a:r>
              <a:rPr lang="en-US" sz="1200" dirty="0">
                <a:solidFill>
                  <a:srgbClr val="9DBDB0"/>
                </a:solidFill>
                <a:latin typeface="Space Grotesk" pitchFamily="34" charset="0"/>
                <a:ea typeface="Space Grotesk" pitchFamily="34" charset="-122"/>
                <a:cs typeface="Space Grotesk" pitchFamily="34" charset="-120"/>
              </a:rPr>
              <a:t>   Fractions </a:t>
            </a:r>
            <a:pPr indent="0" marL="0">
              <a:buNone/>
            </a:pPr>
            <a:r>
              <a:rPr lang="en-US" sz="1800" b="1" dirty="0">
                <a:solidFill>
                  <a:srgbClr val="CDFCE3"/>
                </a:solidFill>
                <a:latin typeface="Space Grotesk" pitchFamily="34" charset="0"/>
                <a:ea typeface="Space Grotesk" pitchFamily="34" charset="-122"/>
                <a:cs typeface="Space Grotesk" pitchFamily="34" charset="-120"/>
              </a:rPr>
              <a:t>0.420</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31520" y="2880360"/>
          <a:ext cx="10744200" cy="914400"/>
        </p:xfrm>
        <a:graphic>
          <a:graphicData uri="http://schemas.openxmlformats.org/drawingml/2006/table">
            <a:tbl>
              <a:tblPr/>
              <a:tblGrid>
                <a:gridCol w="2651760"/>
                <a:gridCol w="2697480"/>
                <a:gridCol w="2697480"/>
                <a:gridCol w="2697480"/>
              </a:tblGrid>
              <a:tr h="512064">
                <a:tc>
                  <a:txBody>
                    <a:bodyPr/>
                    <a:lstStyle/>
                    <a:p>
                      <a:pPr algn="l" indent="0" marL="0">
                        <a:buNone/>
                      </a:pPr>
                      <a:r>
                        <a:rPr lang="en-US" sz="1300" b="1" dirty="0">
                          <a:solidFill>
                            <a:srgbClr val="FFFFFF"/>
                          </a:solidFill>
                          <a:latin typeface="Space Grotesk" pitchFamily="34" charset="0"/>
                          <a:ea typeface="Space Grotesk" pitchFamily="34" charset="-122"/>
                          <a:cs typeface="Space Grotesk" pitchFamily="34" charset="-120"/>
                        </a:rPr>
                        <a:t>Class</a:t>
                      </a:r>
                      <a:endParaRPr lang="en-US" sz="13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A322C"/>
                    </a:solidFill>
                  </a:tcPr>
                </a:tc>
                <a:tc>
                  <a:txBody>
                    <a:bodyPr/>
                    <a:lstStyle/>
                    <a:p>
                      <a:pPr algn="ctr" indent="0" marL="0">
                        <a:buNone/>
                      </a:pPr>
                      <a:r>
                        <a:rPr lang="en-US" sz="1300" b="1" dirty="0">
                          <a:solidFill>
                            <a:srgbClr val="FFFFFF"/>
                          </a:solidFill>
                          <a:latin typeface="Space Grotesk" pitchFamily="34" charset="0"/>
                          <a:ea typeface="Space Grotesk" pitchFamily="34" charset="-122"/>
                          <a:cs typeface="Space Grotesk" pitchFamily="34" charset="-120"/>
                        </a:rPr>
                        <a:t>NMD2023</a:t>
                      </a:r>
                      <a:endParaRPr lang="en-US" sz="13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A322C"/>
                    </a:solidFill>
                  </a:tcPr>
                </a:tc>
                <a:tc>
                  <a:txBody>
                    <a:bodyPr/>
                    <a:lstStyle/>
                    <a:p>
                      <a:pPr algn="ctr" indent="0" marL="0">
                        <a:buNone/>
                      </a:pPr>
                      <a:r>
                        <a:rPr lang="en-US" sz="1300" b="1" dirty="0">
                          <a:solidFill>
                            <a:srgbClr val="FF826C"/>
                          </a:solidFill>
                          <a:latin typeface="Space Grotesk" pitchFamily="34" charset="0"/>
                          <a:ea typeface="Space Grotesk" pitchFamily="34" charset="-122"/>
                          <a:cs typeface="Space Grotesk" pitchFamily="34" charset="-120"/>
                        </a:rPr>
                        <a:t>Distilled</a:t>
                      </a:r>
                      <a:endParaRPr lang="en-US" sz="13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A322C"/>
                    </a:solidFill>
                  </a:tcPr>
                </a:tc>
                <a:tc>
                  <a:txBody>
                    <a:bodyPr/>
                    <a:lstStyle/>
                    <a:p>
                      <a:pPr algn="ctr" indent="0" marL="0">
                        <a:buNone/>
                      </a:pPr>
                      <a:r>
                        <a:rPr lang="en-US" sz="1300" b="1" dirty="0">
                          <a:solidFill>
                            <a:srgbClr val="CDFCE3"/>
                          </a:solidFill>
                          <a:latin typeface="Space Grotesk" pitchFamily="34" charset="0"/>
                          <a:ea typeface="Space Grotesk" pitchFamily="34" charset="-122"/>
                          <a:cs typeface="Space Grotesk" pitchFamily="34" charset="-120"/>
                        </a:rPr>
                        <a:t>Fractions</a:t>
                      </a:r>
                      <a:endParaRPr lang="en-US" sz="13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A322C"/>
                    </a:solidFill>
                  </a:tcPr>
                </a:tc>
              </a:tr>
              <a:tr h="512064">
                <a:tc>
                  <a:txBody>
                    <a:bodyPr/>
                    <a:lstStyle/>
                    <a:p>
                      <a:pPr algn="l" indent="0" marL="0">
                        <a:buNone/>
                      </a:pPr>
                      <a:r>
                        <a:rPr lang="en-US" sz="1400" b="1" dirty="0">
                          <a:solidFill>
                            <a:srgbClr val="FFFFFF"/>
                          </a:solidFill>
                          <a:latin typeface="Space Grotesk" pitchFamily="34" charset="0"/>
                          <a:ea typeface="Space Grotesk" pitchFamily="34" charset="-122"/>
                          <a:cs typeface="Space Grotesk" pitchFamily="34" charset="-120"/>
                        </a:rPr>
                        <a:t>Pine</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400" dirty="0">
                          <a:solidFill>
                            <a:srgbClr val="FFFFFF"/>
                          </a:solidFill>
                          <a:latin typeface="Space Grotesk" pitchFamily="34" charset="0"/>
                          <a:ea typeface="Space Grotesk" pitchFamily="34" charset="-122"/>
                          <a:cs typeface="Space Grotesk" pitchFamily="34" charset="-120"/>
                        </a:rPr>
                        <a:t>0.59</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400" dirty="0">
                          <a:solidFill>
                            <a:srgbClr val="FFFFFF"/>
                          </a:solidFill>
                          <a:latin typeface="Space Grotesk" pitchFamily="34" charset="0"/>
                          <a:ea typeface="Space Grotesk" pitchFamily="34" charset="-122"/>
                          <a:cs typeface="Space Grotesk" pitchFamily="34" charset="-120"/>
                        </a:rPr>
                        <a:t>0.61</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400" b="1" dirty="0">
                          <a:solidFill>
                            <a:srgbClr val="CDFCE3"/>
                          </a:solidFill>
                          <a:latin typeface="Space Grotesk" pitchFamily="34" charset="0"/>
                          <a:ea typeface="Space Grotesk" pitchFamily="34" charset="-122"/>
                          <a:cs typeface="Space Grotesk" pitchFamily="34" charset="-120"/>
                        </a:rPr>
                        <a:t>0.74</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E6B54"/>
                    </a:solidFill>
                  </a:tcPr>
                </a:tc>
              </a:tr>
              <a:tr h="512064">
                <a:tc>
                  <a:txBody>
                    <a:bodyPr/>
                    <a:lstStyle/>
                    <a:p>
                      <a:pPr algn="l" indent="0" marL="0">
                        <a:buNone/>
                      </a:pPr>
                      <a:r>
                        <a:rPr lang="en-US" sz="1400" b="1" dirty="0">
                          <a:solidFill>
                            <a:srgbClr val="FFFFFF"/>
                          </a:solidFill>
                          <a:latin typeface="Space Grotesk" pitchFamily="34" charset="0"/>
                          <a:ea typeface="Space Grotesk" pitchFamily="34" charset="-122"/>
                          <a:cs typeface="Space Grotesk" pitchFamily="34" charset="-120"/>
                        </a:rPr>
                        <a:t>Spruce</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c>
                  <a:txBody>
                    <a:bodyPr/>
                    <a:lstStyle/>
                    <a:p>
                      <a:pPr algn="ctr" indent="0" marL="0">
                        <a:buNone/>
                      </a:pPr>
                      <a:r>
                        <a:rPr lang="en-US" sz="1400" dirty="0">
                          <a:solidFill>
                            <a:srgbClr val="FFFFFF"/>
                          </a:solidFill>
                          <a:latin typeface="Space Grotesk" pitchFamily="34" charset="0"/>
                          <a:ea typeface="Space Grotesk" pitchFamily="34" charset="-122"/>
                          <a:cs typeface="Space Grotesk" pitchFamily="34" charset="-120"/>
                        </a:rPr>
                        <a:t>0.56</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c>
                  <a:txBody>
                    <a:bodyPr/>
                    <a:lstStyle/>
                    <a:p>
                      <a:pPr algn="ctr" indent="0" marL="0">
                        <a:buNone/>
                      </a:pPr>
                      <a:r>
                        <a:rPr lang="en-US" sz="1400" b="1" dirty="0">
                          <a:solidFill>
                            <a:srgbClr val="CDFCE3"/>
                          </a:solidFill>
                          <a:latin typeface="Space Grotesk" pitchFamily="34" charset="0"/>
                          <a:ea typeface="Space Grotesk" pitchFamily="34" charset="-122"/>
                          <a:cs typeface="Space Grotesk" pitchFamily="34" charset="-120"/>
                        </a:rPr>
                        <a:t>0.63</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E6B54"/>
                    </a:solidFill>
                  </a:tcPr>
                </a:tc>
                <a:tc>
                  <a:txBody>
                    <a:bodyPr/>
                    <a:lstStyle/>
                    <a:p>
                      <a:pPr algn="ctr" indent="0" marL="0">
                        <a:buNone/>
                      </a:pPr>
                      <a:r>
                        <a:rPr lang="en-US" sz="1400" dirty="0">
                          <a:solidFill>
                            <a:srgbClr val="FFFFFF"/>
                          </a:solidFill>
                          <a:latin typeface="Space Grotesk" pitchFamily="34" charset="0"/>
                          <a:ea typeface="Space Grotesk" pitchFamily="34" charset="-122"/>
                          <a:cs typeface="Space Grotesk" pitchFamily="34" charset="-120"/>
                        </a:rPr>
                        <a:t>0.55</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r>
              <a:tr h="512064">
                <a:tc>
                  <a:txBody>
                    <a:bodyPr/>
                    <a:lstStyle/>
                    <a:p>
                      <a:pPr algn="l" indent="0" marL="0">
                        <a:buNone/>
                      </a:pPr>
                      <a:r>
                        <a:rPr lang="en-US" sz="1400" b="1" dirty="0">
                          <a:solidFill>
                            <a:srgbClr val="FFFFFF"/>
                          </a:solidFill>
                          <a:latin typeface="Space Grotesk" pitchFamily="34" charset="0"/>
                          <a:ea typeface="Space Grotesk" pitchFamily="34" charset="-122"/>
                          <a:cs typeface="Space Grotesk" pitchFamily="34" charset="-120"/>
                        </a:rPr>
                        <a:t>Deciduous</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400" dirty="0">
                          <a:solidFill>
                            <a:srgbClr val="FFFFFF"/>
                          </a:solidFill>
                          <a:latin typeface="Space Grotesk" pitchFamily="34" charset="0"/>
                          <a:ea typeface="Space Grotesk" pitchFamily="34" charset="-122"/>
                          <a:cs typeface="Space Grotesk" pitchFamily="34" charset="-120"/>
                        </a:rPr>
                        <a:t>0.30</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400" dirty="0">
                          <a:solidFill>
                            <a:srgbClr val="FFFFFF"/>
                          </a:solidFill>
                          <a:latin typeface="Space Grotesk" pitchFamily="34" charset="0"/>
                          <a:ea typeface="Space Grotesk" pitchFamily="34" charset="-122"/>
                          <a:cs typeface="Space Grotesk" pitchFamily="34" charset="-120"/>
                        </a:rPr>
                        <a:t>0.43</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400" b="1" dirty="0">
                          <a:solidFill>
                            <a:srgbClr val="CDFCE3"/>
                          </a:solidFill>
                          <a:latin typeface="Space Grotesk" pitchFamily="34" charset="0"/>
                          <a:ea typeface="Space Grotesk" pitchFamily="34" charset="-122"/>
                          <a:cs typeface="Space Grotesk" pitchFamily="34" charset="-120"/>
                        </a:rPr>
                        <a:t>0.59</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E6B54"/>
                    </a:solidFill>
                  </a:tcPr>
                </a:tc>
              </a:tr>
              <a:tr h="512064">
                <a:tc>
                  <a:txBody>
                    <a:bodyPr/>
                    <a:lstStyle/>
                    <a:p>
                      <a:pPr algn="l" indent="0" marL="0">
                        <a:buNone/>
                      </a:pPr>
                      <a:r>
                        <a:rPr lang="en-US" sz="1400" b="1" dirty="0">
                          <a:solidFill>
                            <a:srgbClr val="FFFFFF"/>
                          </a:solidFill>
                          <a:latin typeface="Space Grotesk" pitchFamily="34" charset="0"/>
                          <a:ea typeface="Space Grotesk" pitchFamily="34" charset="-122"/>
                          <a:cs typeface="Space Grotesk" pitchFamily="34" charset="-120"/>
                        </a:rPr>
                        <a:t>Mixed</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c>
                  <a:txBody>
                    <a:bodyPr/>
                    <a:lstStyle/>
                    <a:p>
                      <a:pPr algn="ctr" indent="0" marL="0">
                        <a:buNone/>
                      </a:pPr>
                      <a:r>
                        <a:rPr lang="en-US" sz="1400" dirty="0">
                          <a:solidFill>
                            <a:srgbClr val="FFFFFF"/>
                          </a:solidFill>
                          <a:latin typeface="Space Grotesk" pitchFamily="34" charset="0"/>
                          <a:ea typeface="Space Grotesk" pitchFamily="34" charset="-122"/>
                          <a:cs typeface="Space Grotesk" pitchFamily="34" charset="-120"/>
                        </a:rPr>
                        <a:t>0.28</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c>
                  <a:txBody>
                    <a:bodyPr/>
                    <a:lstStyle/>
                    <a:p>
                      <a:pPr algn="ctr" indent="0" marL="0">
                        <a:buNone/>
                      </a:pPr>
                      <a:r>
                        <a:rPr lang="en-US" sz="1400" b="1" dirty="0">
                          <a:solidFill>
                            <a:srgbClr val="CDFCE3"/>
                          </a:solidFill>
                          <a:latin typeface="Space Grotesk" pitchFamily="34" charset="0"/>
                          <a:ea typeface="Space Grotesk" pitchFamily="34" charset="-122"/>
                          <a:cs typeface="Space Grotesk" pitchFamily="34" charset="-120"/>
                        </a:rPr>
                        <a:t>0.30</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E6B54"/>
                    </a:solidFill>
                  </a:tcPr>
                </a:tc>
                <a:tc>
                  <a:txBody>
                    <a:bodyPr/>
                    <a:lstStyle/>
                    <a:p>
                      <a:pPr algn="ctr" indent="0" marL="0">
                        <a:buNone/>
                      </a:pPr>
                      <a:r>
                        <a:rPr lang="en-US" sz="1400" dirty="0">
                          <a:solidFill>
                            <a:srgbClr val="FFFFFF"/>
                          </a:solidFill>
                          <a:latin typeface="Space Grotesk" pitchFamily="34" charset="0"/>
                          <a:ea typeface="Space Grotesk" pitchFamily="34" charset="-122"/>
                          <a:cs typeface="Space Grotesk" pitchFamily="34" charset="-120"/>
                        </a:rPr>
                        <a:t>0.29</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r>
              <a:tr h="512064">
                <a:tc>
                  <a:txBody>
                    <a:bodyPr/>
                    <a:lstStyle/>
                    <a:p>
                      <a:pPr algn="l" indent="0" marL="0">
                        <a:buNone/>
                      </a:pPr>
                      <a:r>
                        <a:rPr lang="en-US" sz="1400" b="1" dirty="0">
                          <a:solidFill>
                            <a:srgbClr val="FFFFFF"/>
                          </a:solidFill>
                          <a:latin typeface="Space Grotesk" pitchFamily="34" charset="0"/>
                          <a:ea typeface="Space Grotesk" pitchFamily="34" charset="-122"/>
                          <a:cs typeface="Space Grotesk" pitchFamily="34" charset="-120"/>
                        </a:rPr>
                        <a:t>Non-forest</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400" dirty="0">
                          <a:solidFill>
                            <a:srgbClr val="FFFFFF"/>
                          </a:solidFill>
                          <a:latin typeface="Space Grotesk" pitchFamily="34" charset="0"/>
                          <a:ea typeface="Space Grotesk" pitchFamily="34" charset="-122"/>
                          <a:cs typeface="Space Grotesk" pitchFamily="34" charset="-120"/>
                        </a:rPr>
                        <a:t>0.24</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400" b="1" dirty="0">
                          <a:solidFill>
                            <a:srgbClr val="CDFCE3"/>
                          </a:solidFill>
                          <a:latin typeface="Space Grotesk" pitchFamily="34" charset="0"/>
                          <a:ea typeface="Space Grotesk" pitchFamily="34" charset="-122"/>
                          <a:cs typeface="Space Grotesk" pitchFamily="34" charset="-120"/>
                        </a:rPr>
                        <a:t>0.32</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E6B54"/>
                    </a:solidFill>
                  </a:tcPr>
                </a:tc>
                <a:tc>
                  <a:txBody>
                    <a:bodyPr/>
                    <a:lstStyle/>
                    <a:p>
                      <a:pPr algn="ctr" indent="0" marL="0">
                        <a:buNone/>
                      </a:pPr>
                      <a:r>
                        <a:rPr lang="en-US" sz="1400" dirty="0">
                          <a:solidFill>
                            <a:srgbClr val="FFFFFF"/>
                          </a:solidFill>
                          <a:latin typeface="Space Grotesk" pitchFamily="34" charset="0"/>
                          <a:ea typeface="Space Grotesk" pitchFamily="34" charset="-122"/>
                          <a:cs typeface="Space Grotesk" pitchFamily="34" charset="-120"/>
                        </a:rPr>
                        <a:t>0.00</a:t>
                      </a:r>
                      <a:endParaRPr lang="en-US" sz="14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r>
            </a:tbl>
          </a:graphicData>
        </a:graphic>
      </p:graphicFrame>
      <p:sp>
        <p:nvSpPr>
          <p:cNvPr id="12" name="Text 9"/>
          <p:cNvSpPr/>
          <p:nvPr/>
        </p:nvSpPr>
        <p:spPr>
          <a:xfrm>
            <a:off x="731520" y="6080760"/>
            <a:ext cx="10744200" cy="548640"/>
          </a:xfrm>
          <a:prstGeom prst="rect">
            <a:avLst/>
          </a:prstGeom>
          <a:noFill/>
          <a:ln/>
        </p:spPr>
        <p:txBody>
          <a:bodyPr wrap="square" lIns="0" tIns="0" rIns="0" bIns="0" rtlCol="0" anchor="ctr"/>
          <a:lstStyle/>
          <a:p>
            <a:pPr indent="0" marL="0">
              <a:lnSpc>
                <a:spcPct val="110000"/>
              </a:lnSpc>
              <a:buNone/>
            </a:pPr>
            <a:r>
              <a:rPr lang="en-US" sz="1200" i="1" dirty="0">
                <a:solidFill>
                  <a:srgbClr val="9DBDB0"/>
                </a:solidFill>
                <a:latin typeface="Space Grotesk" pitchFamily="34" charset="0"/>
                <a:ea typeface="Space Grotesk" pitchFamily="34" charset="-122"/>
                <a:cs typeface="Space Grotesk" pitchFamily="34" charset="-120"/>
              </a:rPr>
              <a:t>Green = best F1 per row. Distilled wins spruce and non-forest; the fraction layer wins pine and deciduous. The fraction path cannot predict non-forest (0.00) — in production a hard mask decides forest/non-forest, fractions decide type.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640080" y="384048"/>
            <a:ext cx="1088136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Space Grotesk" pitchFamily="34" charset="0"/>
                <a:ea typeface="Space Grotesk" pitchFamily="34" charset="-122"/>
                <a:cs typeface="Space Grotesk" pitchFamily="34" charset="-120"/>
              </a:rPr>
              <a:t>Does combining models help?</a:t>
            </a:r>
            <a:endParaRPr lang="en-US" sz="3200" dirty="0"/>
          </a:p>
        </p:txBody>
      </p:sp>
      <p:sp>
        <p:nvSpPr>
          <p:cNvPr id="4" name="Text 2"/>
          <p:cNvSpPr/>
          <p:nvPr/>
        </p:nvSpPr>
        <p:spPr>
          <a:xfrm>
            <a:off x="822960" y="1170432"/>
            <a:ext cx="10515600" cy="365760"/>
          </a:xfrm>
          <a:prstGeom prst="rect">
            <a:avLst/>
          </a:prstGeom>
          <a:noFill/>
          <a:ln/>
        </p:spPr>
        <p:txBody>
          <a:bodyPr wrap="square" lIns="0" tIns="0" rIns="0" bIns="0" rtlCol="0" anchor="ctr"/>
          <a:lstStyle/>
          <a:p>
            <a:pPr algn="ctr" indent="0" marL="0">
              <a:buNone/>
            </a:pPr>
            <a:r>
              <a:rPr lang="en-US" sz="1400" dirty="0">
                <a:solidFill>
                  <a:srgbClr val="CDFCE3"/>
                </a:solidFill>
                <a:latin typeface="Space Grotesk" pitchFamily="34" charset="0"/>
                <a:ea typeface="Space Grotesk" pitchFamily="34" charset="-122"/>
                <a:cs typeface="Space Grotesk" pitchFamily="34" charset="-120"/>
              </a:rPr>
              <a:t>Ensemble of 6 members, evaluated on the 209 held-out plots</a:t>
            </a:r>
            <a:endParaRPr lang="en-US" sz="1400" dirty="0"/>
          </a:p>
        </p:txBody>
      </p:sp>
      <p:sp>
        <p:nvSpPr>
          <p:cNvPr id="5" name="Shape 3"/>
          <p:cNvSpPr/>
          <p:nvPr/>
        </p:nvSpPr>
        <p:spPr>
          <a:xfrm>
            <a:off x="731520" y="1691640"/>
            <a:ext cx="2651760" cy="1691640"/>
          </a:xfrm>
          <a:prstGeom prst="roundRect">
            <a:avLst>
              <a:gd name="adj" fmla="val 4865"/>
            </a:avLst>
          </a:prstGeom>
          <a:solidFill>
            <a:srgbClr val="145043"/>
          </a:solidFill>
          <a:ln/>
          <a:effectLst>
            <a:outerShdw sx="100000" sy="100000" kx="0" ky="0" algn="bl" rotWithShape="0" blurRad="101600" dist="38100" dir="5400000">
              <a:srgbClr val="000000">
                <a:alpha val="35000"/>
              </a:srgbClr>
            </a:outerShdw>
          </a:effectLst>
        </p:spPr>
      </p:sp>
      <p:sp>
        <p:nvSpPr>
          <p:cNvPr id="6" name="Text 4"/>
          <p:cNvSpPr/>
          <p:nvPr/>
        </p:nvSpPr>
        <p:spPr>
          <a:xfrm>
            <a:off x="822960" y="1828800"/>
            <a:ext cx="246888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Space Grotesk" pitchFamily="34" charset="0"/>
                <a:ea typeface="Space Grotesk" pitchFamily="34" charset="-122"/>
                <a:cs typeface="Space Grotesk" pitchFamily="34" charset="-120"/>
              </a:rPr>
              <a:t>0.579</a:t>
            </a:r>
            <a:endParaRPr lang="en-US" sz="2600" dirty="0"/>
          </a:p>
        </p:txBody>
      </p:sp>
      <p:sp>
        <p:nvSpPr>
          <p:cNvPr id="7" name="Text 5"/>
          <p:cNvSpPr/>
          <p:nvPr/>
        </p:nvSpPr>
        <p:spPr>
          <a:xfrm>
            <a:off x="841248" y="2395728"/>
            <a:ext cx="2432304"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pace Grotesk" pitchFamily="34" charset="0"/>
                <a:ea typeface="Space Grotesk" pitchFamily="34" charset="-122"/>
                <a:cs typeface="Space Grotesk" pitchFamily="34" charset="-120"/>
              </a:rPr>
              <a:t>Single best member</a:t>
            </a:r>
            <a:endParaRPr lang="en-US" sz="1300" dirty="0"/>
          </a:p>
        </p:txBody>
      </p:sp>
      <p:sp>
        <p:nvSpPr>
          <p:cNvPr id="8" name="Text 6"/>
          <p:cNvSpPr/>
          <p:nvPr/>
        </p:nvSpPr>
        <p:spPr>
          <a:xfrm>
            <a:off x="841248" y="2788920"/>
            <a:ext cx="2432304" cy="457200"/>
          </a:xfrm>
          <a:prstGeom prst="rect">
            <a:avLst/>
          </a:prstGeom>
          <a:noFill/>
          <a:ln/>
        </p:spPr>
        <p:txBody>
          <a:bodyPr wrap="square" lIns="0" tIns="0" rIns="0" bIns="0" rtlCol="0" anchor="ctr"/>
          <a:lstStyle/>
          <a:p>
            <a:pPr algn="ctr" indent="0" marL="0">
              <a:buNone/>
            </a:pPr>
            <a:r>
              <a:rPr lang="en-US" sz="1150" dirty="0">
                <a:solidFill>
                  <a:srgbClr val="9DBDB0"/>
                </a:solidFill>
                <a:latin typeface="Space Grotesk" pitchFamily="34" charset="0"/>
                <a:ea typeface="Space Grotesk" pitchFamily="34" charset="-122"/>
                <a:cs typeface="Space Grotesk" pitchFamily="34" charset="-120"/>
              </a:rPr>
              <a:t>(gate)</a:t>
            </a:r>
            <a:endParaRPr lang="en-US" sz="1150" dirty="0"/>
          </a:p>
        </p:txBody>
      </p:sp>
      <p:sp>
        <p:nvSpPr>
          <p:cNvPr id="9" name="Shape 7"/>
          <p:cNvSpPr/>
          <p:nvPr/>
        </p:nvSpPr>
        <p:spPr>
          <a:xfrm>
            <a:off x="3493008" y="1691640"/>
            <a:ext cx="2651760" cy="1691640"/>
          </a:xfrm>
          <a:prstGeom prst="roundRect">
            <a:avLst>
              <a:gd name="adj" fmla="val 4865"/>
            </a:avLst>
          </a:prstGeom>
          <a:solidFill>
            <a:srgbClr val="145043"/>
          </a:solidFill>
          <a:ln/>
          <a:effectLst>
            <a:outerShdw sx="100000" sy="100000" kx="0" ky="0" algn="bl" rotWithShape="0" blurRad="101600" dist="38100" dir="5400000">
              <a:srgbClr val="000000">
                <a:alpha val="35000"/>
              </a:srgbClr>
            </a:outerShdw>
          </a:effectLst>
        </p:spPr>
      </p:sp>
      <p:sp>
        <p:nvSpPr>
          <p:cNvPr id="10" name="Text 8"/>
          <p:cNvSpPr/>
          <p:nvPr/>
        </p:nvSpPr>
        <p:spPr>
          <a:xfrm>
            <a:off x="3584448" y="1828800"/>
            <a:ext cx="2468880" cy="548640"/>
          </a:xfrm>
          <a:prstGeom prst="rect">
            <a:avLst/>
          </a:prstGeom>
          <a:noFill/>
          <a:ln/>
        </p:spPr>
        <p:txBody>
          <a:bodyPr wrap="square" lIns="0" tIns="0" rIns="0" bIns="0" rtlCol="0" anchor="ctr"/>
          <a:lstStyle/>
          <a:p>
            <a:pPr algn="ctr" indent="0" marL="0">
              <a:buNone/>
            </a:pPr>
            <a:r>
              <a:rPr lang="en-US" sz="2600" b="1" dirty="0">
                <a:solidFill>
                  <a:srgbClr val="CDFCE3"/>
                </a:solidFill>
                <a:latin typeface="Space Grotesk" pitchFamily="34" charset="0"/>
                <a:ea typeface="Space Grotesk" pitchFamily="34" charset="-122"/>
                <a:cs typeface="Space Grotesk" pitchFamily="34" charset="-120"/>
              </a:rPr>
              <a:t>0.617</a:t>
            </a:r>
            <a:endParaRPr lang="en-US" sz="2600" dirty="0"/>
          </a:p>
        </p:txBody>
      </p:sp>
      <p:sp>
        <p:nvSpPr>
          <p:cNvPr id="11" name="Text 9"/>
          <p:cNvSpPr/>
          <p:nvPr/>
        </p:nvSpPr>
        <p:spPr>
          <a:xfrm>
            <a:off x="3602736" y="2395728"/>
            <a:ext cx="2432304"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pace Grotesk" pitchFamily="34" charset="0"/>
                <a:ea typeface="Space Grotesk" pitchFamily="34" charset="-122"/>
                <a:cs typeface="Space Grotesk" pitchFamily="34" charset="-120"/>
              </a:rPr>
              <a:t>Best stacked combiner</a:t>
            </a:r>
            <a:endParaRPr lang="en-US" sz="1300" dirty="0"/>
          </a:p>
        </p:txBody>
      </p:sp>
      <p:sp>
        <p:nvSpPr>
          <p:cNvPr id="12" name="Text 10"/>
          <p:cNvSpPr/>
          <p:nvPr/>
        </p:nvSpPr>
        <p:spPr>
          <a:xfrm>
            <a:off x="3602736" y="2788920"/>
            <a:ext cx="2432304" cy="457200"/>
          </a:xfrm>
          <a:prstGeom prst="rect">
            <a:avLst/>
          </a:prstGeom>
          <a:noFill/>
          <a:ln/>
        </p:spPr>
        <p:txBody>
          <a:bodyPr wrap="square" lIns="0" tIns="0" rIns="0" bIns="0" rtlCol="0" anchor="ctr"/>
          <a:lstStyle/>
          <a:p>
            <a:pPr algn="ctr" indent="0" marL="0">
              <a:buNone/>
            </a:pPr>
            <a:r>
              <a:rPr lang="en-US" sz="1150" dirty="0">
                <a:solidFill>
                  <a:srgbClr val="9DBDB0"/>
                </a:solidFill>
                <a:latin typeface="Space Grotesk" pitchFamily="34" charset="0"/>
                <a:ea typeface="Space Grotesk" pitchFamily="34" charset="-122"/>
                <a:cs typeface="Space Grotesk" pitchFamily="34" charset="-120"/>
              </a:rPr>
              <a:t>OOF-locked</a:t>
            </a:r>
            <a:endParaRPr lang="en-US" sz="1150" dirty="0"/>
          </a:p>
        </p:txBody>
      </p:sp>
      <p:sp>
        <p:nvSpPr>
          <p:cNvPr id="13" name="Shape 11"/>
          <p:cNvSpPr/>
          <p:nvPr/>
        </p:nvSpPr>
        <p:spPr>
          <a:xfrm>
            <a:off x="6254496" y="1691640"/>
            <a:ext cx="2651760" cy="1691640"/>
          </a:xfrm>
          <a:prstGeom prst="roundRect">
            <a:avLst>
              <a:gd name="adj" fmla="val 4865"/>
            </a:avLst>
          </a:prstGeom>
          <a:solidFill>
            <a:srgbClr val="145043"/>
          </a:solidFill>
          <a:ln/>
          <a:effectLst>
            <a:outerShdw sx="100000" sy="100000" kx="0" ky="0" algn="bl" rotWithShape="0" blurRad="101600" dist="38100" dir="5400000">
              <a:srgbClr val="000000">
                <a:alpha val="35000"/>
              </a:srgbClr>
            </a:outerShdw>
          </a:effectLst>
        </p:spPr>
      </p:sp>
      <p:sp>
        <p:nvSpPr>
          <p:cNvPr id="14" name="Text 12"/>
          <p:cNvSpPr/>
          <p:nvPr/>
        </p:nvSpPr>
        <p:spPr>
          <a:xfrm>
            <a:off x="6345936" y="1828800"/>
            <a:ext cx="2468880" cy="548640"/>
          </a:xfrm>
          <a:prstGeom prst="rect">
            <a:avLst/>
          </a:prstGeom>
          <a:noFill/>
          <a:ln/>
        </p:spPr>
        <p:txBody>
          <a:bodyPr wrap="square" lIns="0" tIns="0" rIns="0" bIns="0" rtlCol="0" anchor="ctr"/>
          <a:lstStyle/>
          <a:p>
            <a:pPr algn="ctr" indent="0" marL="0">
              <a:buNone/>
            </a:pPr>
            <a:r>
              <a:rPr lang="en-US" sz="2600" b="1" dirty="0">
                <a:solidFill>
                  <a:srgbClr val="FF826C"/>
                </a:solidFill>
                <a:latin typeface="Space Grotesk" pitchFamily="34" charset="0"/>
                <a:ea typeface="Space Grotesk" pitchFamily="34" charset="-122"/>
                <a:cs typeface="Space Grotesk" pitchFamily="34" charset="-120"/>
              </a:rPr>
              <a:t>p = 0.37</a:t>
            </a:r>
            <a:endParaRPr lang="en-US" sz="2600" dirty="0"/>
          </a:p>
        </p:txBody>
      </p:sp>
      <p:sp>
        <p:nvSpPr>
          <p:cNvPr id="15" name="Text 13"/>
          <p:cNvSpPr/>
          <p:nvPr/>
        </p:nvSpPr>
        <p:spPr>
          <a:xfrm>
            <a:off x="6364224" y="2395728"/>
            <a:ext cx="2432304"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pace Grotesk" pitchFamily="34" charset="0"/>
                <a:ea typeface="Space Grotesk" pitchFamily="34" charset="-122"/>
                <a:cs typeface="Space Grotesk" pitchFamily="34" charset="-120"/>
              </a:rPr>
              <a:t>McNemar on Δ</a:t>
            </a:r>
            <a:endParaRPr lang="en-US" sz="1300" dirty="0"/>
          </a:p>
        </p:txBody>
      </p:sp>
      <p:sp>
        <p:nvSpPr>
          <p:cNvPr id="16" name="Text 14"/>
          <p:cNvSpPr/>
          <p:nvPr/>
        </p:nvSpPr>
        <p:spPr>
          <a:xfrm>
            <a:off x="6364224" y="2788920"/>
            <a:ext cx="2432304" cy="457200"/>
          </a:xfrm>
          <a:prstGeom prst="rect">
            <a:avLst/>
          </a:prstGeom>
          <a:noFill/>
          <a:ln/>
        </p:spPr>
        <p:txBody>
          <a:bodyPr wrap="square" lIns="0" tIns="0" rIns="0" bIns="0" rtlCol="0" anchor="ctr"/>
          <a:lstStyle/>
          <a:p>
            <a:pPr algn="ctr" indent="0" marL="0">
              <a:buNone/>
            </a:pPr>
            <a:r>
              <a:rPr lang="en-US" sz="1150" dirty="0">
                <a:solidFill>
                  <a:srgbClr val="9DBDB0"/>
                </a:solidFill>
                <a:latin typeface="Space Grotesk" pitchFamily="34" charset="0"/>
                <a:ea typeface="Space Grotesk" pitchFamily="34" charset="-122"/>
                <a:cs typeface="Space Grotesk" pitchFamily="34" charset="-120"/>
              </a:rPr>
              <a:t>not significant</a:t>
            </a:r>
            <a:endParaRPr lang="en-US" sz="1150" dirty="0"/>
          </a:p>
        </p:txBody>
      </p:sp>
      <p:sp>
        <p:nvSpPr>
          <p:cNvPr id="17" name="Shape 15"/>
          <p:cNvSpPr/>
          <p:nvPr/>
        </p:nvSpPr>
        <p:spPr>
          <a:xfrm>
            <a:off x="9015984" y="1691640"/>
            <a:ext cx="2651760" cy="1691640"/>
          </a:xfrm>
          <a:prstGeom prst="roundRect">
            <a:avLst>
              <a:gd name="adj" fmla="val 4865"/>
            </a:avLst>
          </a:prstGeom>
          <a:solidFill>
            <a:srgbClr val="145043"/>
          </a:solidFill>
          <a:ln/>
          <a:effectLst>
            <a:outerShdw sx="100000" sy="100000" kx="0" ky="0" algn="bl" rotWithShape="0" blurRad="101600" dist="38100" dir="5400000">
              <a:srgbClr val="000000">
                <a:alpha val="35000"/>
              </a:srgbClr>
            </a:outerShdw>
          </a:effectLst>
        </p:spPr>
      </p:sp>
      <p:sp>
        <p:nvSpPr>
          <p:cNvPr id="18" name="Text 16"/>
          <p:cNvSpPr/>
          <p:nvPr/>
        </p:nvSpPr>
        <p:spPr>
          <a:xfrm>
            <a:off x="9107424" y="1828800"/>
            <a:ext cx="2468880" cy="548640"/>
          </a:xfrm>
          <a:prstGeom prst="rect">
            <a:avLst/>
          </a:prstGeom>
          <a:noFill/>
          <a:ln/>
        </p:spPr>
        <p:txBody>
          <a:bodyPr wrap="square" lIns="0" tIns="0" rIns="0" bIns="0" rtlCol="0" anchor="ctr"/>
          <a:lstStyle/>
          <a:p>
            <a:pPr algn="ctr" indent="0" marL="0">
              <a:buNone/>
            </a:pPr>
            <a:r>
              <a:rPr lang="en-US" sz="2600" b="1" dirty="0">
                <a:solidFill>
                  <a:srgbClr val="FF826C"/>
                </a:solidFill>
                <a:latin typeface="Space Grotesk" pitchFamily="34" charset="0"/>
                <a:ea typeface="Space Grotesk" pitchFamily="34" charset="-122"/>
                <a:cs typeface="Space Grotesk" pitchFamily="34" charset="-120"/>
              </a:rPr>
              <a:t>&lt; 0.03</a:t>
            </a:r>
            <a:endParaRPr lang="en-US" sz="2600" dirty="0"/>
          </a:p>
        </p:txBody>
      </p:sp>
      <p:sp>
        <p:nvSpPr>
          <p:cNvPr id="19" name="Text 17"/>
          <p:cNvSpPr/>
          <p:nvPr/>
        </p:nvSpPr>
        <p:spPr>
          <a:xfrm>
            <a:off x="9125712" y="2395728"/>
            <a:ext cx="2432304"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pace Grotesk" pitchFamily="34" charset="0"/>
                <a:ea typeface="Space Grotesk" pitchFamily="34" charset="-122"/>
                <a:cs typeface="Space Grotesk" pitchFamily="34" charset="-120"/>
              </a:rPr>
              <a:t>Tessera adds (G2)</a:t>
            </a:r>
            <a:endParaRPr lang="en-US" sz="1300" dirty="0"/>
          </a:p>
        </p:txBody>
      </p:sp>
      <p:sp>
        <p:nvSpPr>
          <p:cNvPr id="20" name="Text 18"/>
          <p:cNvSpPr/>
          <p:nvPr/>
        </p:nvSpPr>
        <p:spPr>
          <a:xfrm>
            <a:off x="9125712" y="2788920"/>
            <a:ext cx="2432304" cy="457200"/>
          </a:xfrm>
          <a:prstGeom prst="rect">
            <a:avLst/>
          </a:prstGeom>
          <a:noFill/>
          <a:ln/>
        </p:spPr>
        <p:txBody>
          <a:bodyPr wrap="square" lIns="0" tIns="0" rIns="0" bIns="0" rtlCol="0" anchor="ctr"/>
          <a:lstStyle/>
          <a:p>
            <a:pPr algn="ctr" indent="0" marL="0">
              <a:buNone/>
            </a:pPr>
            <a:r>
              <a:rPr lang="en-US" sz="1150" dirty="0">
                <a:solidFill>
                  <a:srgbClr val="9DBDB0"/>
                </a:solidFill>
                <a:latin typeface="Space Grotesk" pitchFamily="34" charset="0"/>
                <a:ea typeface="Space Grotesk" pitchFamily="34" charset="-122"/>
                <a:cs typeface="Space Grotesk" pitchFamily="34" charset="-120"/>
              </a:rPr>
              <a:t>encoder diversity</a:t>
            </a:r>
            <a:endParaRPr lang="en-US" sz="1150" dirty="0"/>
          </a:p>
        </p:txBody>
      </p:sp>
      <p:sp>
        <p:nvSpPr>
          <p:cNvPr id="21" name="Shape 19"/>
          <p:cNvSpPr/>
          <p:nvPr/>
        </p:nvSpPr>
        <p:spPr>
          <a:xfrm>
            <a:off x="731520" y="3657600"/>
            <a:ext cx="10744200" cy="2148840"/>
          </a:xfrm>
          <a:prstGeom prst="roundRect">
            <a:avLst>
              <a:gd name="adj" fmla="val 4255"/>
            </a:avLst>
          </a:prstGeom>
          <a:solidFill>
            <a:srgbClr val="145043"/>
          </a:solidFill>
          <a:ln/>
          <a:effectLst>
            <a:outerShdw sx="100000" sy="100000" kx="0" ky="0" algn="bl" rotWithShape="0" blurRad="101600" dist="38100" dir="5400000">
              <a:srgbClr val="000000">
                <a:alpha val="35000"/>
              </a:srgbClr>
            </a:outerShdw>
          </a:effectLst>
        </p:spPr>
      </p:sp>
      <p:sp>
        <p:nvSpPr>
          <p:cNvPr id="22" name="Text 20"/>
          <p:cNvSpPr/>
          <p:nvPr/>
        </p:nvSpPr>
        <p:spPr>
          <a:xfrm>
            <a:off x="960120" y="3794760"/>
            <a:ext cx="10287000" cy="457200"/>
          </a:xfrm>
          <a:prstGeom prst="rect">
            <a:avLst/>
          </a:prstGeom>
          <a:noFill/>
          <a:ln/>
        </p:spPr>
        <p:txBody>
          <a:bodyPr wrap="square" lIns="0" tIns="0" rIns="0" bIns="0" rtlCol="0" anchor="t"/>
          <a:lstStyle/>
          <a:p>
            <a:pPr indent="0" marL="0">
              <a:buNone/>
            </a:pPr>
            <a:r>
              <a:rPr lang="en-US" sz="1900" b="1" dirty="0">
                <a:solidFill>
                  <a:srgbClr val="FF826C"/>
                </a:solidFill>
                <a:latin typeface="Space Grotesk" pitchFamily="34" charset="0"/>
                <a:ea typeface="Space Grotesk" pitchFamily="34" charset="-122"/>
                <a:cs typeface="Space Grotesk" pitchFamily="34" charset="-120"/>
              </a:rPr>
              <a:t>Honest verdict: within noise</a:t>
            </a:r>
            <a:endParaRPr lang="en-US" sz="1900" dirty="0"/>
          </a:p>
        </p:txBody>
      </p:sp>
      <p:sp>
        <p:nvSpPr>
          <p:cNvPr id="23" name="Text 21"/>
          <p:cNvSpPr/>
          <p:nvPr/>
        </p:nvSpPr>
        <p:spPr>
          <a:xfrm>
            <a:off x="960120" y="4224528"/>
            <a:ext cx="10287000" cy="1463040"/>
          </a:xfrm>
          <a:prstGeom prst="rect">
            <a:avLst/>
          </a:prstGeom>
          <a:noFill/>
          <a:ln/>
        </p:spPr>
        <p:txBody>
          <a:bodyPr wrap="square" lIns="0" tIns="0" rIns="0" bIns="0" rtlCol="0" anchor="t"/>
          <a:lstStyle/>
          <a:p>
            <a:pPr indent="0" marL="0">
              <a:lnSpc>
                <a:spcPct val="110000"/>
              </a:lnSpc>
              <a:buNone/>
            </a:pPr>
            <a:r>
              <a:rPr lang="en-US" sz="1500" dirty="0">
                <a:solidFill>
                  <a:srgbClr val="FFFFFF"/>
                </a:solidFill>
                <a:latin typeface="Space Grotesk" pitchFamily="34" charset="0"/>
                <a:ea typeface="Space Grotesk" pitchFamily="34" charset="-122"/>
                <a:cs typeface="Space Grotesk" pitchFamily="34" charset="-120"/>
              </a:rPr>
              <a:t>The best stacked combiner (0.617) edges the single best member (0.579), but McNemar gives p = 0.37 and the bootstrap 95% CI on the difference is [−0.038, +0.11] — it spans zero. Encoder-diversity ablation G2 (adding the Tessera member) moved the combiner by less than 0.03. Conclusion: the ensemble does not significantly beat the single best member, and encoder diversity did not pay off.</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640080" y="384048"/>
            <a:ext cx="1088136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Space Grotesk" pitchFamily="34" charset="0"/>
                <a:ea typeface="Space Grotesk" pitchFamily="34" charset="-122"/>
                <a:cs typeface="Space Grotesk" pitchFamily="34" charset="-120"/>
              </a:rPr>
              <a:t>Prithvi vs Tessera: head to head</a:t>
            </a:r>
            <a:endParaRPr lang="en-US" sz="3200" dirty="0"/>
          </a:p>
        </p:txBody>
      </p:sp>
      <p:sp>
        <p:nvSpPr>
          <p:cNvPr id="4" name="Text 2"/>
          <p:cNvSpPr/>
          <p:nvPr/>
        </p:nvSpPr>
        <p:spPr>
          <a:xfrm>
            <a:off x="640080" y="1170432"/>
            <a:ext cx="10789920" cy="365760"/>
          </a:xfrm>
          <a:prstGeom prst="rect">
            <a:avLst/>
          </a:prstGeom>
          <a:noFill/>
          <a:ln/>
        </p:spPr>
        <p:txBody>
          <a:bodyPr wrap="square" lIns="0" tIns="0" rIns="0" bIns="0" rtlCol="0" anchor="ctr"/>
          <a:lstStyle/>
          <a:p>
            <a:pPr indent="0" marL="0">
              <a:buNone/>
            </a:pPr>
            <a:r>
              <a:rPr lang="en-US" sz="1400" b="1" dirty="0">
                <a:solidFill>
                  <a:srgbClr val="CDFCE3"/>
                </a:solidFill>
                <a:latin typeface="Space Grotesk" pitchFamily="34" charset="0"/>
                <a:ea typeface="Space Grotesk" pitchFamily="34" charset="-122"/>
                <a:cs typeface="Space Grotesk" pitchFamily="34" charset="-120"/>
              </a:rPr>
              <a:t>Two backbones, same field-calibrated target, raced on three independent truths — Tessera ≥ Prithvi on every one.</a:t>
            </a:r>
            <a:endParaRPr lang="en-US" sz="1400" dirty="0"/>
          </a:p>
        </p:txBody>
      </p:sp>
      <p:graphicFrame>
        <p:nvGraphicFramePr>
          <p:cNvPr id="5" name="Chart 0" descr=""/>
          <p:cNvGraphicFramePr/>
          <p:nvPr/>
        </p:nvGraphicFramePr>
        <p:xfrm>
          <a:off x="457200" y="1737360"/>
          <a:ext cx="6812280" cy="397764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498080" y="1737360"/>
          <a:ext cx="4023360" cy="914400"/>
        </p:xfrm>
        <a:graphic>
          <a:graphicData uri="http://schemas.openxmlformats.org/drawingml/2006/table">
            <a:tbl>
              <a:tblPr/>
              <a:tblGrid>
                <a:gridCol w="1554480"/>
                <a:gridCol w="1234440"/>
                <a:gridCol w="1234440"/>
              </a:tblGrid>
              <a:tr h="457200">
                <a:tc>
                  <a:txBody>
                    <a:bodyPr/>
                    <a:lstStyle/>
                    <a:p>
                      <a:pPr algn="l" indent="0" marL="0">
                        <a:buNone/>
                      </a:pP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A322C"/>
                    </a:solidFill>
                  </a:tcPr>
                </a:tc>
                <a:tc>
                  <a:txBody>
                    <a:bodyPr/>
                    <a:lstStyle/>
                    <a:p>
                      <a:pPr algn="ctr" indent="0" marL="0">
                        <a:buNone/>
                      </a:pPr>
                      <a:r>
                        <a:rPr lang="en-US" sz="1200" b="1" dirty="0">
                          <a:solidFill>
                            <a:srgbClr val="FFFFFF"/>
                          </a:solidFill>
                          <a:latin typeface="Space Grotesk" pitchFamily="34" charset="0"/>
                          <a:ea typeface="Space Grotesk" pitchFamily="34" charset="-122"/>
                          <a:cs typeface="Space Grotesk" pitchFamily="34" charset="-120"/>
                        </a:rPr>
                        <a:t>Prithvi-600M</a:t>
                      </a: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A322C"/>
                    </a:solidFill>
                  </a:tcPr>
                </a:tc>
                <a:tc>
                  <a:txBody>
                    <a:bodyPr/>
                    <a:lstStyle/>
                    <a:p>
                      <a:pPr algn="ctr" indent="0" marL="0">
                        <a:buNone/>
                      </a:pPr>
                      <a:r>
                        <a:rPr lang="en-US" sz="1200" b="1" dirty="0">
                          <a:solidFill>
                            <a:srgbClr val="CDFCE3"/>
                          </a:solidFill>
                          <a:latin typeface="Space Grotesk" pitchFamily="34" charset="0"/>
                          <a:ea typeface="Space Grotesk" pitchFamily="34" charset="-122"/>
                          <a:cs typeface="Space Grotesk" pitchFamily="34" charset="-120"/>
                        </a:rPr>
                        <a:t>Tessera</a:t>
                      </a: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A322C"/>
                    </a:solidFill>
                  </a:tcPr>
                </a:tc>
              </a:tr>
              <a:tr h="457200">
                <a:tc>
                  <a:txBody>
                    <a:bodyPr/>
                    <a:lstStyle/>
                    <a:p>
                      <a:pPr algn="l" indent="0" marL="0">
                        <a:buNone/>
                      </a:pPr>
                      <a:r>
                        <a:rPr lang="en-US" sz="1200" b="1" dirty="0">
                          <a:solidFill>
                            <a:srgbClr val="FFFFFF"/>
                          </a:solidFill>
                          <a:latin typeface="Space Grotesk" pitchFamily="34" charset="0"/>
                          <a:ea typeface="Space Grotesk" pitchFamily="34" charset="-122"/>
                          <a:cs typeface="Space Grotesk" pitchFamily="34" charset="-120"/>
                        </a:rPr>
                        <a:t>Encoder</a:t>
                      </a: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200" dirty="0">
                          <a:solidFill>
                            <a:srgbClr val="9DBDB0"/>
                          </a:solidFill>
                          <a:latin typeface="Space Grotesk" pitchFamily="34" charset="0"/>
                          <a:ea typeface="Space Grotesk" pitchFamily="34" charset="-122"/>
                          <a:cs typeface="Space Grotesk" pitchFamily="34" charset="-120"/>
                        </a:rPr>
                        <a:t>600M forward</a:t>
                      </a: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200" b="1" dirty="0">
                          <a:solidFill>
                            <a:srgbClr val="CDFCE3"/>
                          </a:solidFill>
                          <a:latin typeface="Space Grotesk" pitchFamily="34" charset="0"/>
                          <a:ea typeface="Space Grotesk" pitchFamily="34" charset="-122"/>
                          <a:cs typeface="Space Grotesk" pitchFamily="34" charset="-120"/>
                        </a:rPr>
                        <a:t>frozen 128-d</a:t>
                      </a: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E6B54"/>
                    </a:solidFill>
                  </a:tcPr>
                </a:tc>
              </a:tr>
              <a:tr h="457200">
                <a:tc>
                  <a:txBody>
                    <a:bodyPr/>
                    <a:lstStyle/>
                    <a:p>
                      <a:pPr algn="l" indent="0" marL="0">
                        <a:buNone/>
                      </a:pPr>
                      <a:r>
                        <a:rPr lang="en-US" sz="1200" b="1" dirty="0">
                          <a:solidFill>
                            <a:srgbClr val="FFFFFF"/>
                          </a:solidFill>
                          <a:latin typeface="Space Grotesk" pitchFamily="34" charset="0"/>
                          <a:ea typeface="Space Grotesk" pitchFamily="34" charset="-122"/>
                          <a:cs typeface="Space Grotesk" pitchFamily="34" charset="-120"/>
                        </a:rPr>
                        <a:t>Inference cost</a:t>
                      </a: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c>
                  <a:txBody>
                    <a:bodyPr/>
                    <a:lstStyle/>
                    <a:p>
                      <a:pPr algn="ctr" indent="0" marL="0">
                        <a:buNone/>
                      </a:pPr>
                      <a:r>
                        <a:rPr lang="en-US" sz="1200" dirty="0">
                          <a:solidFill>
                            <a:srgbClr val="9DBDB0"/>
                          </a:solidFill>
                          <a:latin typeface="Space Grotesk" pitchFamily="34" charset="0"/>
                          <a:ea typeface="Space Grotesk" pitchFamily="34" charset="-122"/>
                          <a:cs typeface="Space Grotesk" pitchFamily="34" charset="-120"/>
                        </a:rPr>
                        <a:t>heavy</a:t>
                      </a: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c>
                  <a:txBody>
                    <a:bodyPr/>
                    <a:lstStyle/>
                    <a:p>
                      <a:pPr algn="ctr" indent="0" marL="0">
                        <a:buNone/>
                      </a:pPr>
                      <a:r>
                        <a:rPr lang="en-US" sz="1200" b="1" dirty="0">
                          <a:solidFill>
                            <a:srgbClr val="CDFCE3"/>
                          </a:solidFill>
                          <a:latin typeface="Space Grotesk" pitchFamily="34" charset="0"/>
                          <a:ea typeface="Space Grotesk" pitchFamily="34" charset="-122"/>
                          <a:cs typeface="Space Grotesk" pitchFamily="34" charset="-120"/>
                        </a:rPr>
                        <a:t>~ free</a:t>
                      </a: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E6B54"/>
                    </a:solidFill>
                  </a:tcPr>
                </a:tc>
              </a:tr>
              <a:tr h="457200">
                <a:tc>
                  <a:txBody>
                    <a:bodyPr/>
                    <a:lstStyle/>
                    <a:p>
                      <a:pPr algn="l" indent="0" marL="0">
                        <a:buNone/>
                      </a:pPr>
                      <a:r>
                        <a:rPr lang="en-US" sz="1200" b="1" dirty="0">
                          <a:solidFill>
                            <a:srgbClr val="FFFFFF"/>
                          </a:solidFill>
                          <a:latin typeface="Space Grotesk" pitchFamily="34" charset="0"/>
                          <a:ea typeface="Space Grotesk" pitchFamily="34" charset="-122"/>
                          <a:cs typeface="Space Grotesk" pitchFamily="34" charset="-120"/>
                        </a:rPr>
                        <a:t>NFI-209 type</a:t>
                      </a: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200" dirty="0">
                          <a:solidFill>
                            <a:srgbClr val="9DBDB0"/>
                          </a:solidFill>
                          <a:latin typeface="Space Grotesk" pitchFamily="34" charset="0"/>
                          <a:ea typeface="Space Grotesk" pitchFamily="34" charset="-122"/>
                          <a:cs typeface="Space Grotesk" pitchFamily="34" charset="-120"/>
                        </a:rPr>
                        <a:t>0.579</a:t>
                      </a: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200" b="1" dirty="0">
                          <a:solidFill>
                            <a:srgbClr val="CDFCE3"/>
                          </a:solidFill>
                          <a:latin typeface="Space Grotesk" pitchFamily="34" charset="0"/>
                          <a:ea typeface="Space Grotesk" pitchFamily="34" charset="-122"/>
                          <a:cs typeface="Space Grotesk" pitchFamily="34" charset="-120"/>
                        </a:rPr>
                        <a:t>0.589</a:t>
                      </a: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E6B54"/>
                    </a:solidFill>
                  </a:tcPr>
                </a:tc>
              </a:tr>
              <a:tr h="457200">
                <a:tc>
                  <a:txBody>
                    <a:bodyPr/>
                    <a:lstStyle/>
                    <a:p>
                      <a:pPr algn="l" indent="0" marL="0">
                        <a:buNone/>
                      </a:pPr>
                      <a:r>
                        <a:rPr lang="en-US" sz="1200" b="1" dirty="0">
                          <a:solidFill>
                            <a:srgbClr val="FFFFFF"/>
                          </a:solidFill>
                          <a:latin typeface="Space Grotesk" pitchFamily="34" charset="0"/>
                          <a:ea typeface="Space Grotesk" pitchFamily="34" charset="-122"/>
                          <a:cs typeface="Space Grotesk" pitchFamily="34" charset="-120"/>
                        </a:rPr>
                        <a:t>LUCAS-28</a:t>
                      </a: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c>
                  <a:txBody>
                    <a:bodyPr/>
                    <a:lstStyle/>
                    <a:p>
                      <a:pPr algn="ctr" indent="0" marL="0">
                        <a:buNone/>
                      </a:pPr>
                      <a:r>
                        <a:rPr lang="en-US" sz="1200" dirty="0">
                          <a:solidFill>
                            <a:srgbClr val="9DBDB0"/>
                          </a:solidFill>
                          <a:latin typeface="Space Grotesk" pitchFamily="34" charset="0"/>
                          <a:ea typeface="Space Grotesk" pitchFamily="34" charset="-122"/>
                          <a:cs typeface="Space Grotesk" pitchFamily="34" charset="-120"/>
                        </a:rPr>
                        <a:t>0.477</a:t>
                      </a: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c>
                  <a:txBody>
                    <a:bodyPr/>
                    <a:lstStyle/>
                    <a:p>
                      <a:pPr algn="ctr" indent="0" marL="0">
                        <a:buNone/>
                      </a:pPr>
                      <a:r>
                        <a:rPr lang="en-US" sz="1200" b="1" dirty="0">
                          <a:solidFill>
                            <a:srgbClr val="CDFCE3"/>
                          </a:solidFill>
                          <a:latin typeface="Space Grotesk" pitchFamily="34" charset="0"/>
                          <a:ea typeface="Space Grotesk" pitchFamily="34" charset="-122"/>
                          <a:cs typeface="Space Grotesk" pitchFamily="34" charset="-120"/>
                        </a:rPr>
                        <a:t>0.499</a:t>
                      </a: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E6B54"/>
                    </a:solidFill>
                  </a:tcPr>
                </a:tc>
              </a:tr>
              <a:tr h="457200">
                <a:tc>
                  <a:txBody>
                    <a:bodyPr/>
                    <a:lstStyle/>
                    <a:p>
                      <a:pPr algn="l" indent="0" marL="0">
                        <a:buNone/>
                      </a:pPr>
                      <a:r>
                        <a:rPr lang="en-US" sz="1200" b="1" dirty="0">
                          <a:solidFill>
                            <a:srgbClr val="FFFFFF"/>
                          </a:solidFill>
                          <a:latin typeface="Space Grotesk" pitchFamily="34" charset="0"/>
                          <a:ea typeface="Space Grotesk" pitchFamily="34" charset="-122"/>
                          <a:cs typeface="Space Grotesk" pitchFamily="34" charset="-120"/>
                        </a:rPr>
                        <a:t>LUCAS-frac</a:t>
                      </a: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200" dirty="0">
                          <a:solidFill>
                            <a:srgbClr val="9DBDB0"/>
                          </a:solidFill>
                          <a:latin typeface="Space Grotesk" pitchFamily="34" charset="0"/>
                          <a:ea typeface="Space Grotesk" pitchFamily="34" charset="-122"/>
                          <a:cs typeface="Space Grotesk" pitchFamily="34" charset="-120"/>
                        </a:rPr>
                        <a:t>0.784</a:t>
                      </a: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200" b="1" dirty="0">
                          <a:solidFill>
                            <a:srgbClr val="CDFCE3"/>
                          </a:solidFill>
                          <a:latin typeface="Space Grotesk" pitchFamily="34" charset="0"/>
                          <a:ea typeface="Space Grotesk" pitchFamily="34" charset="-122"/>
                          <a:cs typeface="Space Grotesk" pitchFamily="34" charset="-120"/>
                        </a:rPr>
                        <a:t>0.809</a:t>
                      </a: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E6B54"/>
                    </a:solidFill>
                  </a:tcPr>
                </a:tc>
              </a:tr>
            </a:tbl>
          </a:graphicData>
        </a:graphic>
      </p:graphicFrame>
      <p:sp>
        <p:nvSpPr>
          <p:cNvPr id="7" name="Shape 3"/>
          <p:cNvSpPr/>
          <p:nvPr/>
        </p:nvSpPr>
        <p:spPr>
          <a:xfrm>
            <a:off x="7498080" y="4572000"/>
            <a:ext cx="4023360" cy="1325880"/>
          </a:xfrm>
          <a:prstGeom prst="roundRect">
            <a:avLst>
              <a:gd name="adj" fmla="val 6897"/>
            </a:avLst>
          </a:prstGeom>
          <a:solidFill>
            <a:srgbClr val="145043"/>
          </a:solidFill>
          <a:ln/>
          <a:effectLst>
            <a:outerShdw sx="100000" sy="100000" kx="0" ky="0" algn="bl" rotWithShape="0" blurRad="101600" dist="38100" dir="5400000">
              <a:srgbClr val="000000">
                <a:alpha val="35000"/>
              </a:srgbClr>
            </a:outerShdw>
          </a:effectLst>
        </p:spPr>
      </p:sp>
      <p:sp>
        <p:nvSpPr>
          <p:cNvPr id="8" name="Text 4"/>
          <p:cNvSpPr/>
          <p:nvPr/>
        </p:nvSpPr>
        <p:spPr>
          <a:xfrm>
            <a:off x="7726680" y="4709160"/>
            <a:ext cx="3566160" cy="457200"/>
          </a:xfrm>
          <a:prstGeom prst="rect">
            <a:avLst/>
          </a:prstGeom>
          <a:noFill/>
          <a:ln/>
        </p:spPr>
        <p:txBody>
          <a:bodyPr wrap="square" lIns="0" tIns="0" rIns="0" bIns="0" rtlCol="0" anchor="t"/>
          <a:lstStyle/>
          <a:p>
            <a:pPr indent="0" marL="0">
              <a:buNone/>
            </a:pPr>
            <a:r>
              <a:rPr lang="en-US" sz="1600" b="1" dirty="0">
                <a:solidFill>
                  <a:srgbClr val="FF826C"/>
                </a:solidFill>
                <a:latin typeface="Space Grotesk" pitchFamily="34" charset="0"/>
                <a:ea typeface="Space Grotesk" pitchFamily="34" charset="-122"/>
                <a:cs typeface="Space Grotesk" pitchFamily="34" charset="-120"/>
              </a:rPr>
              <a:t>Deployment winner: Tessera</a:t>
            </a:r>
            <a:endParaRPr lang="en-US" sz="1600" dirty="0"/>
          </a:p>
        </p:txBody>
      </p:sp>
      <p:sp>
        <p:nvSpPr>
          <p:cNvPr id="9" name="Text 5"/>
          <p:cNvSpPr/>
          <p:nvPr/>
        </p:nvSpPr>
        <p:spPr>
          <a:xfrm>
            <a:off x="7726680" y="5138928"/>
            <a:ext cx="3566160" cy="640080"/>
          </a:xfrm>
          <a:prstGeom prst="rect">
            <a:avLst/>
          </a:prstGeom>
          <a:noFill/>
          <a:ln/>
        </p:spPr>
        <p:txBody>
          <a:bodyPr wrap="square" lIns="0" tIns="0" rIns="0" bIns="0" rtlCol="0" anchor="t"/>
          <a:lstStyle/>
          <a:p>
            <a:pPr indent="0" marL="0">
              <a:lnSpc>
                <a:spcPct val="110000"/>
              </a:lnSpc>
              <a:buNone/>
            </a:pPr>
            <a:r>
              <a:rPr lang="en-US" sz="1300" dirty="0">
                <a:solidFill>
                  <a:srgbClr val="FFFFFF"/>
                </a:solidFill>
                <a:latin typeface="Space Grotesk" pitchFamily="34" charset="0"/>
                <a:ea typeface="Space Grotesk" pitchFamily="34" charset="-122"/>
                <a:cs typeface="Space Grotesk" pitchFamily="34" charset="-120"/>
              </a:rPr>
              <a:t>Statistical tie on accuracy across three independent truths (NFI McNemar p = 0.88) — Tessera wins decisively on compute.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640080" y="384048"/>
            <a:ext cx="1088136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Space Grotesk" pitchFamily="34" charset="0"/>
                <a:ea typeface="Space Grotesk" pitchFamily="34" charset="-122"/>
                <a:cs typeface="Space Grotesk" pitchFamily="34" charset="-120"/>
              </a:rPr>
              <a:t>The foundation-model race: what gates accuracy?</a:t>
            </a:r>
            <a:endParaRPr lang="en-US" sz="3200" dirty="0"/>
          </a:p>
        </p:txBody>
      </p:sp>
      <p:sp>
        <p:nvSpPr>
          <p:cNvPr id="4" name="Text 2"/>
          <p:cNvSpPr/>
          <p:nvPr/>
        </p:nvSpPr>
        <p:spPr>
          <a:xfrm>
            <a:off x="640080" y="1170432"/>
            <a:ext cx="10789920" cy="365760"/>
          </a:xfrm>
          <a:prstGeom prst="rect">
            <a:avLst/>
          </a:prstGeom>
          <a:noFill/>
          <a:ln/>
        </p:spPr>
        <p:txBody>
          <a:bodyPr wrap="square" lIns="0" tIns="0" rIns="0" bIns="0" rtlCol="0" anchor="ctr"/>
          <a:lstStyle/>
          <a:p>
            <a:pPr indent="0" marL="0">
              <a:buNone/>
            </a:pPr>
            <a:r>
              <a:rPr lang="en-US" sz="1400" b="1" dirty="0">
                <a:solidFill>
                  <a:srgbClr val="CDFCE3"/>
                </a:solidFill>
                <a:latin typeface="Space Grotesk" pitchFamily="34" charset="0"/>
                <a:ea typeface="Space Grotesk" pitchFamily="34" charset="-122"/>
                <a:cs typeface="Space Grotesk" pitchFamily="34" charset="-120"/>
              </a:rPr>
              <a:t>Five geospatial encoders, one field-calibrated target, scored on the same NFI truth — finer resolution alone does not predict the winner.</a:t>
            </a:r>
            <a:endParaRPr lang="en-US" sz="1400" dirty="0"/>
          </a:p>
        </p:txBody>
      </p:sp>
      <p:graphicFrame>
        <p:nvGraphicFramePr>
          <p:cNvPr id="5" name="Chart 0" descr=""/>
          <p:cNvGraphicFramePr/>
          <p:nvPr/>
        </p:nvGraphicFramePr>
        <p:xfrm>
          <a:off x="457200" y="1783080"/>
          <a:ext cx="681228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5742432"/>
            <a:ext cx="6812280" cy="274320"/>
          </a:xfrm>
          <a:prstGeom prst="rect">
            <a:avLst/>
          </a:prstGeom>
          <a:noFill/>
          <a:ln/>
        </p:spPr>
        <p:txBody>
          <a:bodyPr wrap="square" lIns="0" tIns="0" rIns="0" bIns="0" rtlCol="0" anchor="ctr"/>
          <a:lstStyle/>
          <a:p>
            <a:pPr algn="ctr" indent="0" marL="0">
              <a:buNone/>
            </a:pPr>
            <a:r>
              <a:rPr lang="en-US" sz="1000" i="1" dirty="0">
                <a:solidFill>
                  <a:srgbClr val="9DBDB0"/>
                </a:solidFill>
                <a:latin typeface="Space Grotesk" pitchFamily="34" charset="0"/>
                <a:ea typeface="Space Grotesk" pitchFamily="34" charset="-122"/>
                <a:cs typeface="Space Grotesk" pitchFamily="34" charset="-120"/>
              </a:rPr>
              <a:t>bars ordered by ViT patch size →  finer            coarser</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498080" y="1783080"/>
          <a:ext cx="4023360" cy="914400"/>
        </p:xfrm>
        <a:graphic>
          <a:graphicData uri="http://schemas.openxmlformats.org/drawingml/2006/table">
            <a:tbl>
              <a:tblPr/>
              <a:tblGrid>
                <a:gridCol w="1417320"/>
                <a:gridCol w="640080"/>
                <a:gridCol w="1234440"/>
                <a:gridCol w="731520"/>
              </a:tblGrid>
              <a:tr h="384048">
                <a:tc>
                  <a:txBody>
                    <a:bodyPr/>
                    <a:lstStyle/>
                    <a:p>
                      <a:pPr algn="l" indent="0" marL="0">
                        <a:buNone/>
                      </a:pPr>
                      <a:r>
                        <a:rPr lang="en-US" sz="1100" b="1" dirty="0">
                          <a:solidFill>
                            <a:srgbClr val="FFFFFF"/>
                          </a:solidFill>
                          <a:latin typeface="Space Grotesk" pitchFamily="34" charset="0"/>
                          <a:ea typeface="Space Grotesk" pitchFamily="34" charset="-122"/>
                          <a:cs typeface="Space Grotesk" pitchFamily="34" charset="-120"/>
                        </a:rPr>
                        <a:t>Backbone</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A322C"/>
                    </a:solidFill>
                  </a:tcPr>
                </a:tc>
                <a:tc>
                  <a:txBody>
                    <a:bodyPr/>
                    <a:lstStyle/>
                    <a:p>
                      <a:pPr algn="ctr" indent="0" marL="0">
                        <a:buNone/>
                      </a:pPr>
                      <a:r>
                        <a:rPr lang="en-US" sz="1100" b="1" dirty="0">
                          <a:solidFill>
                            <a:srgbClr val="FFFFFF"/>
                          </a:solidFill>
                          <a:latin typeface="Space Grotesk" pitchFamily="34" charset="0"/>
                          <a:ea typeface="Space Grotesk" pitchFamily="34" charset="-122"/>
                          <a:cs typeface="Space Grotesk" pitchFamily="34" charset="-120"/>
                        </a:rPr>
                        <a:t>Patch</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A322C"/>
                    </a:solidFill>
                  </a:tcPr>
                </a:tc>
                <a:tc>
                  <a:txBody>
                    <a:bodyPr/>
                    <a:lstStyle/>
                    <a:p>
                      <a:pPr algn="ctr" indent="0" marL="0">
                        <a:buNone/>
                      </a:pPr>
                      <a:r>
                        <a:rPr lang="en-US" sz="1100" b="1" dirty="0">
                          <a:solidFill>
                            <a:srgbClr val="FFFFFF"/>
                          </a:solidFill>
                          <a:latin typeface="Space Grotesk" pitchFamily="34" charset="0"/>
                          <a:ea typeface="Space Grotesk" pitchFamily="34" charset="-122"/>
                          <a:cs typeface="Space Grotesk" pitchFamily="34" charset="-120"/>
                        </a:rPr>
                        <a:t>Encoder</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A322C"/>
                    </a:solidFill>
                  </a:tcPr>
                </a:tc>
                <a:tc>
                  <a:txBody>
                    <a:bodyPr/>
                    <a:lstStyle/>
                    <a:p>
                      <a:pPr algn="ctr" indent="0" marL="0">
                        <a:buNone/>
                      </a:pPr>
                      <a:r>
                        <a:rPr lang="en-US" sz="1100" b="1" dirty="0">
                          <a:solidFill>
                            <a:srgbClr val="CDFCE3"/>
                          </a:solidFill>
                          <a:latin typeface="Space Grotesk" pitchFamily="34" charset="0"/>
                          <a:ea typeface="Space Grotesk" pitchFamily="34" charset="-122"/>
                          <a:cs typeface="Space Grotesk" pitchFamily="34" charset="-120"/>
                        </a:rPr>
                        <a:t>NFI OA</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A322C"/>
                    </a:solidFill>
                  </a:tcPr>
                </a:tc>
              </a:tr>
              <a:tr h="384048">
                <a:tc>
                  <a:txBody>
                    <a:bodyPr/>
                    <a:lstStyle/>
                    <a:p>
                      <a:pPr algn="l" indent="0" marL="0">
                        <a:buNone/>
                      </a:pPr>
                      <a:r>
                        <a:rPr lang="en-US" sz="1100" b="1" dirty="0">
                          <a:solidFill>
                            <a:srgbClr val="FFFFFF"/>
                          </a:solidFill>
                          <a:latin typeface="Space Grotesk" pitchFamily="34" charset="0"/>
                          <a:ea typeface="Space Grotesk" pitchFamily="34" charset="-122"/>
                          <a:cs typeface="Space Grotesk" pitchFamily="34" charset="-120"/>
                        </a:rPr>
                        <a:t>Tessera</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100" dirty="0">
                          <a:solidFill>
                            <a:srgbClr val="9DBDB0"/>
                          </a:solidFill>
                          <a:latin typeface="Space Grotesk" pitchFamily="34" charset="0"/>
                          <a:ea typeface="Space Grotesk" pitchFamily="34" charset="-122"/>
                          <a:cs typeface="Space Grotesk" pitchFamily="34" charset="-120"/>
                        </a:rPr>
                        <a:t>1</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100" dirty="0">
                          <a:solidFill>
                            <a:srgbClr val="9DBDB0"/>
                          </a:solidFill>
                          <a:latin typeface="Space Grotesk" pitchFamily="34" charset="0"/>
                          <a:ea typeface="Space Grotesk" pitchFamily="34" charset="-122"/>
                          <a:cs typeface="Space Grotesk" pitchFamily="34" charset="-120"/>
                        </a:rPr>
                        <a:t>frozen 128-d</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100" b="1" dirty="0">
                          <a:solidFill>
                            <a:srgbClr val="CDFCE3"/>
                          </a:solidFill>
                          <a:latin typeface="Space Grotesk" pitchFamily="34" charset="0"/>
                          <a:ea typeface="Space Grotesk" pitchFamily="34" charset="-122"/>
                          <a:cs typeface="Space Grotesk" pitchFamily="34" charset="-120"/>
                        </a:rPr>
                        <a:t>0.589</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E6B54"/>
                    </a:solidFill>
                  </a:tcPr>
                </a:tc>
              </a:tr>
              <a:tr h="384048">
                <a:tc>
                  <a:txBody>
                    <a:bodyPr/>
                    <a:lstStyle/>
                    <a:p>
                      <a:pPr algn="l" indent="0" marL="0">
                        <a:buNone/>
                      </a:pPr>
                      <a:r>
                        <a:rPr lang="en-US" sz="1100" b="1" dirty="0">
                          <a:solidFill>
                            <a:srgbClr val="FFFFFF"/>
                          </a:solidFill>
                          <a:latin typeface="Space Grotesk" pitchFamily="34" charset="0"/>
                          <a:ea typeface="Space Grotesk" pitchFamily="34" charset="-122"/>
                          <a:cs typeface="Space Grotesk" pitchFamily="34" charset="-120"/>
                        </a:rPr>
                        <a:t>Clay</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c>
                  <a:txBody>
                    <a:bodyPr/>
                    <a:lstStyle/>
                    <a:p>
                      <a:pPr algn="ctr" indent="0" marL="0">
                        <a:buNone/>
                      </a:pPr>
                      <a:r>
                        <a:rPr lang="en-US" sz="1100" dirty="0">
                          <a:solidFill>
                            <a:srgbClr val="9DBDB0"/>
                          </a:solidFill>
                          <a:latin typeface="Space Grotesk" pitchFamily="34" charset="0"/>
                          <a:ea typeface="Space Grotesk" pitchFamily="34" charset="-122"/>
                          <a:cs typeface="Space Grotesk" pitchFamily="34" charset="-120"/>
                        </a:rPr>
                        <a:t>8</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c>
                  <a:txBody>
                    <a:bodyPr/>
                    <a:lstStyle/>
                    <a:p>
                      <a:pPr algn="ctr" indent="0" marL="0">
                        <a:buNone/>
                      </a:pPr>
                      <a:r>
                        <a:rPr lang="en-US" sz="1100" dirty="0">
                          <a:solidFill>
                            <a:srgbClr val="9DBDB0"/>
                          </a:solidFill>
                          <a:latin typeface="Space Grotesk" pitchFamily="34" charset="0"/>
                          <a:ea typeface="Space Grotesk" pitchFamily="34" charset="-122"/>
                          <a:cs typeface="Space Grotesk" pitchFamily="34" charset="-120"/>
                        </a:rPr>
                        <a:t>ViT SSL</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c>
                  <a:txBody>
                    <a:bodyPr/>
                    <a:lstStyle/>
                    <a:p>
                      <a:pPr algn="ctr" indent="0" marL="0">
                        <a:buNone/>
                      </a:pPr>
                      <a:r>
                        <a:rPr lang="en-US" sz="1100" b="1" dirty="0">
                          <a:solidFill>
                            <a:srgbClr val="CDFCE3"/>
                          </a:solidFill>
                          <a:latin typeface="Space Grotesk" pitchFamily="34" charset="0"/>
                          <a:ea typeface="Space Grotesk" pitchFamily="34" charset="-122"/>
                          <a:cs typeface="Space Grotesk" pitchFamily="34" charset="-120"/>
                        </a:rPr>
                        <a:t>0.435</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E6B54"/>
                    </a:solidFill>
                  </a:tcPr>
                </a:tc>
              </a:tr>
              <a:tr h="384048">
                <a:tc>
                  <a:txBody>
                    <a:bodyPr/>
                    <a:lstStyle/>
                    <a:p>
                      <a:pPr algn="l" indent="0" marL="0">
                        <a:buNone/>
                      </a:pPr>
                      <a:r>
                        <a:rPr lang="en-US" sz="1100" b="1" dirty="0">
                          <a:solidFill>
                            <a:srgbClr val="FFFFFF"/>
                          </a:solidFill>
                          <a:latin typeface="Space Grotesk" pitchFamily="34" charset="0"/>
                          <a:ea typeface="Space Grotesk" pitchFamily="34" charset="-122"/>
                          <a:cs typeface="Space Grotesk" pitchFamily="34" charset="-120"/>
                        </a:rPr>
                        <a:t>Prithvi-600M</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100" dirty="0">
                          <a:solidFill>
                            <a:srgbClr val="9DBDB0"/>
                          </a:solidFill>
                          <a:latin typeface="Space Grotesk" pitchFamily="34" charset="0"/>
                          <a:ea typeface="Space Grotesk" pitchFamily="34" charset="-122"/>
                          <a:cs typeface="Space Grotesk" pitchFamily="34" charset="-120"/>
                        </a:rPr>
                        <a:t>14</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100" dirty="0">
                          <a:solidFill>
                            <a:srgbClr val="9DBDB0"/>
                          </a:solidFill>
                          <a:latin typeface="Space Grotesk" pitchFamily="34" charset="0"/>
                          <a:ea typeface="Space Grotesk" pitchFamily="34" charset="-122"/>
                          <a:cs typeface="Space Grotesk" pitchFamily="34" charset="-120"/>
                        </a:rPr>
                        <a:t>600M ViT</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100" b="1" dirty="0">
                          <a:solidFill>
                            <a:srgbClr val="CDFCE3"/>
                          </a:solidFill>
                          <a:latin typeface="Space Grotesk" pitchFamily="34" charset="0"/>
                          <a:ea typeface="Space Grotesk" pitchFamily="34" charset="-122"/>
                          <a:cs typeface="Space Grotesk" pitchFamily="34" charset="-120"/>
                        </a:rPr>
                        <a:t>0.579</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E6B54"/>
                    </a:solidFill>
                  </a:tcPr>
                </a:tc>
              </a:tr>
              <a:tr h="384048">
                <a:tc>
                  <a:txBody>
                    <a:bodyPr/>
                    <a:lstStyle/>
                    <a:p>
                      <a:pPr algn="l" indent="0" marL="0">
                        <a:buNone/>
                      </a:pPr>
                      <a:r>
                        <a:rPr lang="en-US" sz="1100" b="1" dirty="0">
                          <a:solidFill>
                            <a:srgbClr val="FFFFFF"/>
                          </a:solidFill>
                          <a:latin typeface="Space Grotesk" pitchFamily="34" charset="0"/>
                          <a:ea typeface="Space Grotesk" pitchFamily="34" charset="-122"/>
                          <a:cs typeface="Space Grotesk" pitchFamily="34" charset="-120"/>
                        </a:rPr>
                        <a:t>Prithvi-300M</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c>
                  <a:txBody>
                    <a:bodyPr/>
                    <a:lstStyle/>
                    <a:p>
                      <a:pPr algn="ctr" indent="0" marL="0">
                        <a:buNone/>
                      </a:pPr>
                      <a:r>
                        <a:rPr lang="en-US" sz="1100" dirty="0">
                          <a:solidFill>
                            <a:srgbClr val="9DBDB0"/>
                          </a:solidFill>
                          <a:latin typeface="Space Grotesk" pitchFamily="34" charset="0"/>
                          <a:ea typeface="Space Grotesk" pitchFamily="34" charset="-122"/>
                          <a:cs typeface="Space Grotesk" pitchFamily="34" charset="-120"/>
                        </a:rPr>
                        <a:t>16</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c>
                  <a:txBody>
                    <a:bodyPr/>
                    <a:lstStyle/>
                    <a:p>
                      <a:pPr algn="ctr" indent="0" marL="0">
                        <a:buNone/>
                      </a:pPr>
                      <a:r>
                        <a:rPr lang="en-US" sz="1100" dirty="0">
                          <a:solidFill>
                            <a:srgbClr val="9DBDB0"/>
                          </a:solidFill>
                          <a:latin typeface="Space Grotesk" pitchFamily="34" charset="0"/>
                          <a:ea typeface="Space Grotesk" pitchFamily="34" charset="-122"/>
                          <a:cs typeface="Space Grotesk" pitchFamily="34" charset="-120"/>
                        </a:rPr>
                        <a:t>300M ViT</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c>
                  <a:txBody>
                    <a:bodyPr/>
                    <a:lstStyle/>
                    <a:p>
                      <a:pPr algn="ctr" indent="0" marL="0">
                        <a:buNone/>
                      </a:pPr>
                      <a:r>
                        <a:rPr lang="en-US" sz="1100" b="1" dirty="0">
                          <a:solidFill>
                            <a:srgbClr val="CDFCE3"/>
                          </a:solidFill>
                          <a:latin typeface="Space Grotesk" pitchFamily="34" charset="0"/>
                          <a:ea typeface="Space Grotesk" pitchFamily="34" charset="-122"/>
                          <a:cs typeface="Space Grotesk" pitchFamily="34" charset="-120"/>
                        </a:rPr>
                        <a:t>0.545</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E6B54"/>
                    </a:solidFill>
                  </a:tcPr>
                </a:tc>
              </a:tr>
              <a:tr h="384048">
                <a:tc>
                  <a:txBody>
                    <a:bodyPr/>
                    <a:lstStyle/>
                    <a:p>
                      <a:pPr algn="l" indent="0" marL="0">
                        <a:buNone/>
                      </a:pPr>
                      <a:r>
                        <a:rPr lang="en-US" sz="1100" b="1" dirty="0">
                          <a:solidFill>
                            <a:srgbClr val="FFFFFF"/>
                          </a:solidFill>
                          <a:latin typeface="Space Grotesk" pitchFamily="34" charset="0"/>
                          <a:ea typeface="Space Grotesk" pitchFamily="34" charset="-122"/>
                          <a:cs typeface="Space Grotesk" pitchFamily="34" charset="-120"/>
                        </a:rPr>
                        <a:t>CROMA</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100" dirty="0">
                          <a:solidFill>
                            <a:srgbClr val="9DBDB0"/>
                          </a:solidFill>
                          <a:latin typeface="Space Grotesk" pitchFamily="34" charset="0"/>
                          <a:ea typeface="Space Grotesk" pitchFamily="34" charset="-122"/>
                          <a:cs typeface="Space Grotesk" pitchFamily="34" charset="-120"/>
                        </a:rPr>
                        <a:t>8</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100" dirty="0">
                          <a:solidFill>
                            <a:srgbClr val="9DBDB0"/>
                          </a:solidFill>
                          <a:latin typeface="Space Grotesk" pitchFamily="34" charset="0"/>
                          <a:ea typeface="Space Grotesk" pitchFamily="34" charset="-122"/>
                          <a:cs typeface="Space Grotesk" pitchFamily="34" charset="-120"/>
                        </a:rPr>
                        <a:t>ViT+SAR</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100" i="1" dirty="0">
                          <a:solidFill>
                            <a:srgbClr val="9DBDB0"/>
                          </a:solidFill>
                          <a:latin typeface="Space Grotesk" pitchFamily="34" charset="0"/>
                          <a:ea typeface="Space Grotesk" pitchFamily="34" charset="-122"/>
                          <a:cs typeface="Space Grotesk" pitchFamily="34" charset="-120"/>
                        </a:rPr>
                        <a:t>pending</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r>
              <a:tr h="384048">
                <a:tc>
                  <a:txBody>
                    <a:bodyPr/>
                    <a:lstStyle/>
                    <a:p>
                      <a:pPr algn="l" indent="0" marL="0">
                        <a:buNone/>
                      </a:pPr>
                      <a:r>
                        <a:rPr lang="en-US" sz="1100" b="1" dirty="0">
                          <a:solidFill>
                            <a:srgbClr val="FFFFFF"/>
                          </a:solidFill>
                          <a:latin typeface="Space Grotesk" pitchFamily="34" charset="0"/>
                          <a:ea typeface="Space Grotesk" pitchFamily="34" charset="-122"/>
                          <a:cs typeface="Space Grotesk" pitchFamily="34" charset="-120"/>
                        </a:rPr>
                        <a:t>TerraMind</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c>
                  <a:txBody>
                    <a:bodyPr/>
                    <a:lstStyle/>
                    <a:p>
                      <a:pPr algn="ctr" indent="0" marL="0">
                        <a:buNone/>
                      </a:pPr>
                      <a:r>
                        <a:rPr lang="en-US" sz="1100" dirty="0">
                          <a:solidFill>
                            <a:srgbClr val="9DBDB0"/>
                          </a:solidFill>
                          <a:latin typeface="Space Grotesk" pitchFamily="34" charset="0"/>
                          <a:ea typeface="Space Grotesk" pitchFamily="34" charset="-122"/>
                          <a:cs typeface="Space Grotesk" pitchFamily="34" charset="-120"/>
                        </a:rPr>
                        <a:t>16</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c>
                  <a:txBody>
                    <a:bodyPr/>
                    <a:lstStyle/>
                    <a:p>
                      <a:pPr algn="ctr" indent="0" marL="0">
                        <a:buNone/>
                      </a:pPr>
                      <a:r>
                        <a:rPr lang="en-US" sz="1100" dirty="0">
                          <a:solidFill>
                            <a:srgbClr val="9DBDB0"/>
                          </a:solidFill>
                          <a:latin typeface="Space Grotesk" pitchFamily="34" charset="0"/>
                          <a:ea typeface="Space Grotesk" pitchFamily="34" charset="-122"/>
                          <a:cs typeface="Space Grotesk" pitchFamily="34" charset="-120"/>
                        </a:rPr>
                        <a:t>multimodal</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c>
                  <a:txBody>
                    <a:bodyPr/>
                    <a:lstStyle/>
                    <a:p>
                      <a:pPr algn="ctr" indent="0" marL="0">
                        <a:buNone/>
                      </a:pPr>
                      <a:r>
                        <a:rPr lang="en-US" sz="1100" i="1" dirty="0">
                          <a:solidFill>
                            <a:srgbClr val="9DBDB0"/>
                          </a:solidFill>
                          <a:latin typeface="Space Grotesk" pitchFamily="34" charset="0"/>
                          <a:ea typeface="Space Grotesk" pitchFamily="34" charset="-122"/>
                          <a:cs typeface="Space Grotesk" pitchFamily="34" charset="-120"/>
                        </a:rPr>
                        <a:t>pending</a:t>
                      </a:r>
                      <a:endParaRPr lang="en-US" sz="11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r>
            </a:tbl>
          </a:graphicData>
        </a:graphic>
      </p:graphicFrame>
      <p:sp>
        <p:nvSpPr>
          <p:cNvPr id="8" name="Shape 4"/>
          <p:cNvSpPr/>
          <p:nvPr/>
        </p:nvSpPr>
        <p:spPr>
          <a:xfrm>
            <a:off x="7498080" y="4553712"/>
            <a:ext cx="4023360" cy="1371600"/>
          </a:xfrm>
          <a:prstGeom prst="roundRect">
            <a:avLst>
              <a:gd name="adj" fmla="val 6667"/>
            </a:avLst>
          </a:prstGeom>
          <a:solidFill>
            <a:srgbClr val="145043"/>
          </a:solidFill>
          <a:ln/>
          <a:effectLst>
            <a:outerShdw sx="100000" sy="100000" kx="0" ky="0" algn="bl" rotWithShape="0" blurRad="101600" dist="38100" dir="5400000">
              <a:srgbClr val="000000">
                <a:alpha val="35000"/>
              </a:srgbClr>
            </a:outerShdw>
          </a:effectLst>
        </p:spPr>
      </p:sp>
      <p:sp>
        <p:nvSpPr>
          <p:cNvPr id="9" name="Text 5"/>
          <p:cNvSpPr/>
          <p:nvPr/>
        </p:nvSpPr>
        <p:spPr>
          <a:xfrm>
            <a:off x="7726680" y="4690872"/>
            <a:ext cx="3566160" cy="457200"/>
          </a:xfrm>
          <a:prstGeom prst="rect">
            <a:avLst/>
          </a:prstGeom>
          <a:noFill/>
          <a:ln/>
        </p:spPr>
        <p:txBody>
          <a:bodyPr wrap="square" lIns="0" tIns="0" rIns="0" bIns="0" rtlCol="0" anchor="t"/>
          <a:lstStyle/>
          <a:p>
            <a:pPr indent="0" marL="0">
              <a:buNone/>
            </a:pPr>
            <a:r>
              <a:rPr lang="en-US" sz="1500" b="1" dirty="0">
                <a:solidFill>
                  <a:srgbClr val="FF826C"/>
                </a:solidFill>
                <a:latin typeface="Space Grotesk" pitchFamily="34" charset="0"/>
                <a:ea typeface="Space Grotesk" pitchFamily="34" charset="-122"/>
                <a:cs typeface="Space Grotesk" pitchFamily="34" charset="-120"/>
              </a:rPr>
              <a:t>The reversal: encoder gates resolution</a:t>
            </a:r>
            <a:endParaRPr lang="en-US" sz="1500" dirty="0"/>
          </a:p>
        </p:txBody>
      </p:sp>
      <p:sp>
        <p:nvSpPr>
          <p:cNvPr id="10" name="Text 6"/>
          <p:cNvSpPr/>
          <p:nvPr/>
        </p:nvSpPr>
        <p:spPr>
          <a:xfrm>
            <a:off x="7726680" y="5120640"/>
            <a:ext cx="3566160" cy="685800"/>
          </a:xfrm>
          <a:prstGeom prst="rect">
            <a:avLst/>
          </a:prstGeom>
          <a:noFill/>
          <a:ln/>
        </p:spPr>
        <p:txBody>
          <a:bodyPr wrap="square" lIns="0" tIns="0" rIns="0" bIns="0" rtlCol="0" anchor="t"/>
          <a:lstStyle/>
          <a:p>
            <a:pPr indent="0" marL="0">
              <a:lnSpc>
                <a:spcPct val="110000"/>
              </a:lnSpc>
              <a:buNone/>
            </a:pPr>
            <a:r>
              <a:rPr lang="en-US" sz="1200" dirty="0">
                <a:solidFill>
                  <a:srgbClr val="FFFFFF"/>
                </a:solidFill>
                <a:latin typeface="Space Grotesk" pitchFamily="34" charset="0"/>
                <a:ea typeface="Space Grotesk" pitchFamily="34" charset="-122"/>
                <a:cs typeface="Space Grotesk" pitchFamily="34" charset="-120"/>
              </a:rPr>
              <a:t>If finer patches drove accuracy, Clay (p8) would beat both Prithvis (p14/p16). It lands last (0.435). Tessera wins by being p1 AND a strong encoder. CROMA/TerraMind retrain on S1 v3 — pending.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640080" y="384048"/>
            <a:ext cx="1088136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Space Grotesk" pitchFamily="34" charset="0"/>
                <a:ea typeface="Space Grotesk" pitchFamily="34" charset="-122"/>
                <a:cs typeface="Space Grotesk" pitchFamily="34" charset="-120"/>
              </a:rPr>
              <a:t>Independent validation: LUCAS</a:t>
            </a:r>
            <a:endParaRPr lang="en-US" sz="3200" dirty="0"/>
          </a:p>
        </p:txBody>
      </p:sp>
      <p:sp>
        <p:nvSpPr>
          <p:cNvPr id="4" name="Text 2"/>
          <p:cNvSpPr/>
          <p:nvPr/>
        </p:nvSpPr>
        <p:spPr>
          <a:xfrm>
            <a:off x="822960" y="1170432"/>
            <a:ext cx="10515600" cy="457200"/>
          </a:xfrm>
          <a:prstGeom prst="rect">
            <a:avLst/>
          </a:prstGeom>
          <a:noFill/>
          <a:ln/>
        </p:spPr>
        <p:txBody>
          <a:bodyPr wrap="square" lIns="0" tIns="0" rIns="0" bIns="0" rtlCol="0" anchor="ctr"/>
          <a:lstStyle/>
          <a:p>
            <a:pPr algn="ctr" indent="0" marL="0">
              <a:buNone/>
            </a:pPr>
            <a:r>
              <a:rPr lang="en-US" sz="1400" dirty="0">
                <a:solidFill>
                  <a:srgbClr val="9DBDB0"/>
                </a:solidFill>
                <a:latin typeface="Space Grotesk" pitchFamily="34" charset="0"/>
                <a:ea typeface="Space Grotesk" pitchFamily="34" charset="-122"/>
                <a:cs typeface="Space Grotesk" pitchFamily="34" charset="-120"/>
              </a:rPr>
              <a:t>10,108 year-matched field points, never trained on</a:t>
            </a:r>
            <a:endParaRPr lang="en-US" sz="1400" dirty="0"/>
          </a:p>
        </p:txBody>
      </p:sp>
      <p:sp>
        <p:nvSpPr>
          <p:cNvPr id="5" name="Text 3"/>
          <p:cNvSpPr/>
          <p:nvPr/>
        </p:nvSpPr>
        <p:spPr>
          <a:xfrm>
            <a:off x="731520" y="1691640"/>
            <a:ext cx="5120640" cy="320040"/>
          </a:xfrm>
          <a:prstGeom prst="rect">
            <a:avLst/>
          </a:prstGeom>
          <a:noFill/>
          <a:ln/>
        </p:spPr>
        <p:txBody>
          <a:bodyPr wrap="square" lIns="0" tIns="0" rIns="0" bIns="0" rtlCol="0" anchor="ctr"/>
          <a:lstStyle/>
          <a:p>
            <a:pPr indent="0" marL="0">
              <a:buNone/>
            </a:pPr>
            <a:r>
              <a:rPr lang="en-US" sz="1400" b="1" dirty="0">
                <a:solidFill>
                  <a:srgbClr val="CDFCE3"/>
                </a:solidFill>
                <a:latin typeface="Space Grotesk" pitchFamily="34" charset="0"/>
                <a:ea typeface="Space Grotesk" pitchFamily="34" charset="-122"/>
                <a:cs typeface="Space Grotesk" pitchFamily="34" charset="-120"/>
              </a:rPr>
              <a:t>L2b — 28-class overall</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31520" y="2057400"/>
          <a:ext cx="5120640" cy="914400"/>
        </p:xfrm>
        <a:graphic>
          <a:graphicData uri="http://schemas.openxmlformats.org/drawingml/2006/table">
            <a:tbl>
              <a:tblPr/>
              <a:tblGrid>
                <a:gridCol w="3474720"/>
                <a:gridCol w="1645920"/>
              </a:tblGrid>
              <a:tr h="475488">
                <a:tc>
                  <a:txBody>
                    <a:bodyPr/>
                    <a:lstStyle/>
                    <a:p>
                      <a:pPr algn="l" indent="0" marL="0">
                        <a:buNone/>
                      </a:pPr>
                      <a:r>
                        <a:rPr lang="en-US" sz="1200" b="1" dirty="0">
                          <a:solidFill>
                            <a:srgbClr val="FFFFFF"/>
                          </a:solidFill>
                          <a:latin typeface="Space Grotesk" pitchFamily="34" charset="0"/>
                          <a:ea typeface="Space Grotesk" pitchFamily="34" charset="-122"/>
                          <a:cs typeface="Space Grotesk" pitchFamily="34" charset="-120"/>
                        </a:rPr>
                        <a:t>Backbone</a:t>
                      </a: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A322C"/>
                    </a:solidFill>
                  </a:tcPr>
                </a:tc>
                <a:tc>
                  <a:txBody>
                    <a:bodyPr/>
                    <a:lstStyle/>
                    <a:p>
                      <a:pPr algn="ctr" indent="0" marL="0">
                        <a:buNone/>
                      </a:pPr>
                      <a:r>
                        <a:rPr lang="en-US" sz="1200" b="1" dirty="0">
                          <a:solidFill>
                            <a:srgbClr val="FFFFFF"/>
                          </a:solidFill>
                          <a:latin typeface="Space Grotesk" pitchFamily="34" charset="0"/>
                          <a:ea typeface="Space Grotesk" pitchFamily="34" charset="-122"/>
                          <a:cs typeface="Space Grotesk" pitchFamily="34" charset="-120"/>
                        </a:rPr>
                        <a:t>Overall</a:t>
                      </a:r>
                      <a:endParaRPr lang="en-US" sz="12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A322C"/>
                    </a:solidFill>
                  </a:tcPr>
                </a:tc>
              </a:tr>
              <a:tr h="475488">
                <a:tc>
                  <a:txBody>
                    <a:bodyPr/>
                    <a:lstStyle/>
                    <a:p>
                      <a:pPr algn="l" indent="0" marL="0">
                        <a:buNone/>
                      </a:pPr>
                      <a:r>
                        <a:rPr lang="en-US" sz="1300" b="1" dirty="0">
                          <a:solidFill>
                            <a:srgbClr val="CDFCE3"/>
                          </a:solidFill>
                          <a:latin typeface="Space Grotesk" pitchFamily="34" charset="0"/>
                          <a:ea typeface="Space Grotesk" pitchFamily="34" charset="-122"/>
                          <a:cs typeface="Space Grotesk" pitchFamily="34" charset="-120"/>
                        </a:rPr>
                        <a:t>Tessera</a:t>
                      </a:r>
                      <a:endParaRPr lang="en-US" sz="13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E6B54"/>
                    </a:solidFill>
                  </a:tcPr>
                </a:tc>
                <a:tc>
                  <a:txBody>
                    <a:bodyPr/>
                    <a:lstStyle/>
                    <a:p>
                      <a:pPr algn="ctr" indent="0" marL="0">
                        <a:buNone/>
                      </a:pPr>
                      <a:r>
                        <a:rPr lang="en-US" sz="1300" b="1" dirty="0">
                          <a:solidFill>
                            <a:srgbClr val="CDFCE3"/>
                          </a:solidFill>
                          <a:latin typeface="Space Grotesk" pitchFamily="34" charset="0"/>
                          <a:ea typeface="Space Grotesk" pitchFamily="34" charset="-122"/>
                          <a:cs typeface="Space Grotesk" pitchFamily="34" charset="-120"/>
                        </a:rPr>
                        <a:t>0.499</a:t>
                      </a:r>
                      <a:endParaRPr lang="en-US" sz="13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E6B54"/>
                    </a:solidFill>
                  </a:tcPr>
                </a:tc>
              </a:tr>
              <a:tr h="475488">
                <a:tc>
                  <a:txBody>
                    <a:bodyPr/>
                    <a:lstStyle/>
                    <a:p>
                      <a:pPr algn="l" indent="0" marL="0">
                        <a:buNone/>
                      </a:pPr>
                      <a:r>
                        <a:rPr lang="en-US" sz="1300" dirty="0">
                          <a:solidFill>
                            <a:srgbClr val="FFFFFF"/>
                          </a:solidFill>
                          <a:latin typeface="Space Grotesk" pitchFamily="34" charset="0"/>
                          <a:ea typeface="Space Grotesk" pitchFamily="34" charset="-122"/>
                          <a:cs typeface="Space Grotesk" pitchFamily="34" charset="-120"/>
                        </a:rPr>
                        <a:t>Distilled</a:t>
                      </a:r>
                      <a:endParaRPr lang="en-US" sz="13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c>
                  <a:txBody>
                    <a:bodyPr/>
                    <a:lstStyle/>
                    <a:p>
                      <a:pPr algn="ctr" indent="0" marL="0">
                        <a:buNone/>
                      </a:pPr>
                      <a:r>
                        <a:rPr lang="en-US" sz="1300" dirty="0">
                          <a:solidFill>
                            <a:srgbClr val="FFFFFF"/>
                          </a:solidFill>
                          <a:latin typeface="Space Grotesk" pitchFamily="34" charset="0"/>
                          <a:ea typeface="Space Grotesk" pitchFamily="34" charset="-122"/>
                          <a:cs typeface="Space Grotesk" pitchFamily="34" charset="-120"/>
                        </a:rPr>
                        <a:t>0.484</a:t>
                      </a:r>
                      <a:endParaRPr lang="en-US" sz="13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0C3A33"/>
                    </a:solidFill>
                  </a:tcPr>
                </a:tc>
              </a:tr>
              <a:tr h="475488">
                <a:tc>
                  <a:txBody>
                    <a:bodyPr/>
                    <a:lstStyle/>
                    <a:p>
                      <a:pPr algn="l" indent="0" marL="0">
                        <a:buNone/>
                      </a:pPr>
                      <a:r>
                        <a:rPr lang="en-US" sz="1300" dirty="0">
                          <a:solidFill>
                            <a:srgbClr val="FFFFFF"/>
                          </a:solidFill>
                          <a:latin typeface="Space Grotesk" pitchFamily="34" charset="0"/>
                          <a:ea typeface="Space Grotesk" pitchFamily="34" charset="-122"/>
                          <a:cs typeface="Space Grotesk" pitchFamily="34" charset="-120"/>
                        </a:rPr>
                        <a:t>Prithvi-600M / tradslag</a:t>
                      </a:r>
                      <a:endParaRPr lang="en-US" sz="13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c>
                  <a:txBody>
                    <a:bodyPr/>
                    <a:lstStyle/>
                    <a:p>
                      <a:pPr algn="ctr" indent="0" marL="0">
                        <a:buNone/>
                      </a:pPr>
                      <a:r>
                        <a:rPr lang="en-US" sz="1300" dirty="0">
                          <a:solidFill>
                            <a:srgbClr val="FFFFFF"/>
                          </a:solidFill>
                          <a:latin typeface="Space Grotesk" pitchFamily="34" charset="0"/>
                          <a:ea typeface="Space Grotesk" pitchFamily="34" charset="-122"/>
                          <a:cs typeface="Space Grotesk" pitchFamily="34" charset="-120"/>
                        </a:rPr>
                        <a:t>0.477</a:t>
                      </a:r>
                      <a:endParaRPr lang="en-US" sz="1300" dirty="0">
                        <a:latin typeface="Space Grotesk" charset="0"/>
                        <a:ea typeface="Space Grotesk" charset="0"/>
                        <a:cs typeface="Space Grotesk" charset="0"/>
                      </a:endParaRPr>
                    </a:p>
                  </a:txBody>
                  <a:tcPr marL="91440" marR="91440" marT="45720" marB="45720" anchor="ctr">
                    <a:lnL w="12700" cap="flat" cmpd="sng" algn="ctr">
                      <a:solidFill>
                        <a:srgbClr val="1C5248"/>
                      </a:solidFill>
                      <a:prstDash val="solid"/>
                      <a:round/>
                      <a:headEnd type="none" w="med" len="med"/>
                      <a:tailEnd type="none" w="med" len="med"/>
                    </a:lnL>
                    <a:lnR w="12700" cap="flat" cmpd="sng" algn="ctr">
                      <a:solidFill>
                        <a:srgbClr val="1C5248"/>
                      </a:solidFill>
                      <a:prstDash val="solid"/>
                      <a:round/>
                      <a:headEnd type="none" w="med" len="med"/>
                      <a:tailEnd type="none" w="med" len="med"/>
                    </a:lnR>
                    <a:lnT w="12700" cap="flat" cmpd="sng" algn="ctr">
                      <a:solidFill>
                        <a:srgbClr val="1C5248"/>
                      </a:solidFill>
                      <a:prstDash val="solid"/>
                      <a:round/>
                      <a:headEnd type="none" w="med" len="med"/>
                      <a:tailEnd type="none" w="med" len="med"/>
                    </a:lnT>
                    <a:lnB w="12700" cap="flat" cmpd="sng" algn="ctr">
                      <a:solidFill>
                        <a:srgbClr val="1C5248"/>
                      </a:solidFill>
                      <a:prstDash val="solid"/>
                      <a:round/>
                      <a:headEnd type="none" w="med" len="med"/>
                      <a:tailEnd type="none" w="med" len="med"/>
                    </a:lnB>
                    <a:solidFill>
                      <a:srgbClr val="123F38"/>
                    </a:solidFill>
                  </a:tcPr>
                </a:tc>
              </a:tr>
            </a:tbl>
          </a:graphicData>
        </a:graphic>
      </p:graphicFrame>
      <p:sp>
        <p:nvSpPr>
          <p:cNvPr id="7" name="Text 4"/>
          <p:cNvSpPr/>
          <p:nvPr/>
        </p:nvSpPr>
        <p:spPr>
          <a:xfrm>
            <a:off x="6172200" y="1691640"/>
            <a:ext cx="5303520" cy="320040"/>
          </a:xfrm>
          <a:prstGeom prst="rect">
            <a:avLst/>
          </a:prstGeom>
          <a:noFill/>
          <a:ln/>
        </p:spPr>
        <p:txBody>
          <a:bodyPr wrap="square" lIns="0" tIns="0" rIns="0" bIns="0" rtlCol="0" anchor="ctr"/>
          <a:lstStyle/>
          <a:p>
            <a:pPr indent="0" marL="0">
              <a:buNone/>
            </a:pPr>
            <a:r>
              <a:rPr lang="en-US" sz="1400" b="1" dirty="0">
                <a:solidFill>
                  <a:srgbClr val="FF826C"/>
                </a:solidFill>
                <a:latin typeface="Space Grotesk" pitchFamily="34" charset="0"/>
                <a:ea typeface="Space Grotesk" pitchFamily="34" charset="-122"/>
                <a:cs typeface="Space Grotesk" pitchFamily="34" charset="-120"/>
              </a:rPr>
              <a:t>L2a — forest fraction (dominant-species agreement)</a:t>
            </a:r>
            <a:endParaRPr lang="en-US" sz="1400" dirty="0"/>
          </a:p>
        </p:txBody>
      </p:sp>
      <p:graphicFrame>
        <p:nvGraphicFramePr>
          <p:cNvPr id="8" name="Chart 0" descr=""/>
          <p:cNvGraphicFramePr/>
          <p:nvPr/>
        </p:nvGraphicFramePr>
        <p:xfrm>
          <a:off x="5989320" y="2057400"/>
          <a:ext cx="5486400" cy="196596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731520" y="4251960"/>
            <a:ext cx="5349240" cy="1691640"/>
          </a:xfrm>
          <a:prstGeom prst="roundRect">
            <a:avLst>
              <a:gd name="adj" fmla="val 5405"/>
            </a:avLst>
          </a:prstGeom>
          <a:solidFill>
            <a:srgbClr val="145043"/>
          </a:solidFill>
          <a:ln/>
          <a:effectLst>
            <a:outerShdw sx="100000" sy="100000" kx="0" ky="0" algn="bl" rotWithShape="0" blurRad="101600" dist="38100" dir="5400000">
              <a:srgbClr val="000000">
                <a:alpha val="35000"/>
              </a:srgbClr>
            </a:outerShdw>
          </a:effectLst>
        </p:spPr>
      </p:sp>
      <p:sp>
        <p:nvSpPr>
          <p:cNvPr id="10" name="Text 6"/>
          <p:cNvSpPr/>
          <p:nvPr/>
        </p:nvSpPr>
        <p:spPr>
          <a:xfrm>
            <a:off x="960120" y="4389120"/>
            <a:ext cx="4892040" cy="457200"/>
          </a:xfrm>
          <a:prstGeom prst="rect">
            <a:avLst/>
          </a:prstGeom>
          <a:noFill/>
          <a:ln/>
        </p:spPr>
        <p:txBody>
          <a:bodyPr wrap="square" lIns="0" tIns="0" rIns="0" bIns="0" rtlCol="0" anchor="t"/>
          <a:lstStyle/>
          <a:p>
            <a:pPr indent="0" marL="0">
              <a:buNone/>
            </a:pPr>
            <a:r>
              <a:rPr lang="en-US" sz="1600" b="1" dirty="0">
                <a:solidFill>
                  <a:srgbClr val="CDFCE3"/>
                </a:solidFill>
                <a:latin typeface="Space Grotesk" pitchFamily="34" charset="0"/>
                <a:ea typeface="Space Grotesk" pitchFamily="34" charset="-122"/>
                <a:cs typeface="Space Grotesk" pitchFamily="34" charset="-120"/>
              </a:rPr>
              <a:t>Spruce is the hard axis — for both</a:t>
            </a:r>
            <a:endParaRPr lang="en-US" sz="1600" dirty="0"/>
          </a:p>
        </p:txBody>
      </p:sp>
      <p:sp>
        <p:nvSpPr>
          <p:cNvPr id="11" name="Text 7"/>
          <p:cNvSpPr/>
          <p:nvPr/>
        </p:nvSpPr>
        <p:spPr>
          <a:xfrm>
            <a:off x="960120" y="4818888"/>
            <a:ext cx="4892040" cy="1005840"/>
          </a:xfrm>
          <a:prstGeom prst="rect">
            <a:avLst/>
          </a:prstGeom>
          <a:noFill/>
          <a:ln/>
        </p:spPr>
        <p:txBody>
          <a:bodyPr wrap="square" lIns="0" tIns="0" rIns="0" bIns="0" rtlCol="0" anchor="t"/>
          <a:lstStyle/>
          <a:p>
            <a:pPr indent="0" marL="0">
              <a:lnSpc>
                <a:spcPct val="110000"/>
              </a:lnSpc>
              <a:buNone/>
            </a:pPr>
            <a:r>
              <a:rPr lang="en-US" sz="1300" dirty="0">
                <a:solidFill>
                  <a:srgbClr val="FFFFFF"/>
                </a:solidFill>
                <a:latin typeface="Space Grotesk" pitchFamily="34" charset="0"/>
                <a:ea typeface="Space Grotesk" pitchFamily="34" charset="-122"/>
                <a:cs typeface="Space Grotesk" pitchFamily="34" charset="-120"/>
              </a:rPr>
              <a:t>Per species: pine 0.83/0.81, deciduous 0.95/0.92, but spruce only 0.55/0.53. The spruce weakness is shared across backbones — a task/data limit, not a model-specific failure.</a:t>
            </a:r>
            <a:endParaRPr lang="en-US" sz="1300" dirty="0"/>
          </a:p>
        </p:txBody>
      </p:sp>
      <p:sp>
        <p:nvSpPr>
          <p:cNvPr id="12" name="Shape 8"/>
          <p:cNvSpPr/>
          <p:nvPr/>
        </p:nvSpPr>
        <p:spPr>
          <a:xfrm>
            <a:off x="6172200" y="4251960"/>
            <a:ext cx="5303520" cy="1691640"/>
          </a:xfrm>
          <a:prstGeom prst="roundRect">
            <a:avLst>
              <a:gd name="adj" fmla="val 5405"/>
            </a:avLst>
          </a:prstGeom>
          <a:solidFill>
            <a:srgbClr val="145043"/>
          </a:solidFill>
          <a:ln/>
          <a:effectLst>
            <a:outerShdw sx="100000" sy="100000" kx="0" ky="0" algn="bl" rotWithShape="0" blurRad="101600" dist="38100" dir="5400000">
              <a:srgbClr val="000000">
                <a:alpha val="35000"/>
              </a:srgbClr>
            </a:outerShdw>
          </a:effectLst>
        </p:spPr>
      </p:sp>
      <p:sp>
        <p:nvSpPr>
          <p:cNvPr id="13" name="Text 9"/>
          <p:cNvSpPr/>
          <p:nvPr/>
        </p:nvSpPr>
        <p:spPr>
          <a:xfrm>
            <a:off x="6400800" y="4389120"/>
            <a:ext cx="4846320" cy="457200"/>
          </a:xfrm>
          <a:prstGeom prst="rect">
            <a:avLst/>
          </a:prstGeom>
          <a:noFill/>
          <a:ln/>
        </p:spPr>
        <p:txBody>
          <a:bodyPr wrap="square" lIns="0" tIns="0" rIns="0" bIns="0" rtlCol="0" anchor="t"/>
          <a:lstStyle/>
          <a:p>
            <a:pPr indent="0" marL="0">
              <a:buNone/>
            </a:pPr>
            <a:r>
              <a:rPr lang="en-US" sz="1600" b="1" dirty="0">
                <a:solidFill>
                  <a:srgbClr val="FF826C"/>
                </a:solidFill>
                <a:latin typeface="Space Grotesk" pitchFamily="34" charset="0"/>
                <a:ea typeface="Space Grotesk" pitchFamily="34" charset="-122"/>
                <a:cs typeface="Space Grotesk" pitchFamily="34" charset="-120"/>
              </a:rPr>
              <a:t>Breadth: strong vs weak (LUCAS F1)</a:t>
            </a:r>
            <a:endParaRPr lang="en-US" sz="1600" dirty="0"/>
          </a:p>
        </p:txBody>
      </p:sp>
      <p:sp>
        <p:nvSpPr>
          <p:cNvPr id="14" name="Text 10"/>
          <p:cNvSpPr/>
          <p:nvPr/>
        </p:nvSpPr>
        <p:spPr>
          <a:xfrm>
            <a:off x="6400800" y="4818888"/>
            <a:ext cx="4846320" cy="1005840"/>
          </a:xfrm>
          <a:prstGeom prst="rect">
            <a:avLst/>
          </a:prstGeom>
          <a:noFill/>
          <a:ln/>
        </p:spPr>
        <p:txBody>
          <a:bodyPr wrap="square" lIns="0" tIns="0" rIns="0" bIns="0" rtlCol="0" anchor="t"/>
          <a:lstStyle/>
          <a:p>
            <a:pPr indent="0" marL="0">
              <a:lnSpc>
                <a:spcPct val="110000"/>
              </a:lnSpc>
              <a:buNone/>
            </a:pPr>
            <a:r>
              <a:rPr lang="en-US" sz="1300" dirty="0">
                <a:solidFill>
                  <a:srgbClr val="FFFFFF"/>
                </a:solidFill>
                <a:latin typeface="Space Grotesk" pitchFamily="34" charset="0"/>
                <a:ea typeface="Space Grotesk" pitchFamily="34" charset="-122"/>
                <a:cs typeface="Space Grotesk" pitchFamily="34" charset="-120"/>
              </a:rPr>
              <a:t>Strong: water 0.96, maize 0.94, sugar-beet 0.93, wheat 0.78. Weak: open land 0.02, shrub 0.07, mixed forest 0.21. Both corroborate NFI: Tessera ≥ best Prithvi on independent truth.</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640080" y="384048"/>
            <a:ext cx="1088136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Space Grotesk" pitchFamily="34" charset="0"/>
                <a:ea typeface="Space Grotesk" pitchFamily="34" charset="-122"/>
                <a:cs typeface="Space Grotesk" pitchFamily="34" charset="-120"/>
              </a:rPr>
              <a:t>Label cross-check: LUCAS × LPIS</a:t>
            </a:r>
            <a:endParaRPr lang="en-US" sz="3200" dirty="0"/>
          </a:p>
        </p:txBody>
      </p:sp>
      <p:sp>
        <p:nvSpPr>
          <p:cNvPr id="4" name="Text 2"/>
          <p:cNvSpPr/>
          <p:nvPr/>
        </p:nvSpPr>
        <p:spPr>
          <a:xfrm>
            <a:off x="822960" y="1170432"/>
            <a:ext cx="10515600" cy="457200"/>
          </a:xfrm>
          <a:prstGeom prst="rect">
            <a:avLst/>
          </a:prstGeom>
          <a:noFill/>
          <a:ln/>
        </p:spPr>
        <p:txBody>
          <a:bodyPr wrap="square" lIns="0" tIns="0" rIns="0" bIns="0" rtlCol="0" anchor="ctr"/>
          <a:lstStyle/>
          <a:p>
            <a:pPr algn="ctr" indent="0" marL="0">
              <a:buNone/>
            </a:pPr>
            <a:r>
              <a:rPr lang="en-US" sz="1400" dirty="0">
                <a:solidFill>
                  <a:srgbClr val="9DBDB0"/>
                </a:solidFill>
                <a:latin typeface="Space Grotesk" pitchFamily="34" charset="0"/>
                <a:ea typeface="Space Grotesk" pitchFamily="34" charset="-122"/>
                <a:cs typeface="Space Grotesk" pitchFamily="34" charset="-120"/>
              </a:rPr>
              <a:t>Year-matched crop truth, no model in the loop</a:t>
            </a:r>
            <a:endParaRPr lang="en-US" sz="1400" dirty="0"/>
          </a:p>
        </p:txBody>
      </p:sp>
      <p:sp>
        <p:nvSpPr>
          <p:cNvPr id="5" name="Shape 3"/>
          <p:cNvSpPr/>
          <p:nvPr/>
        </p:nvSpPr>
        <p:spPr>
          <a:xfrm>
            <a:off x="731520" y="1691640"/>
            <a:ext cx="3493008" cy="1463040"/>
          </a:xfrm>
          <a:prstGeom prst="roundRect">
            <a:avLst>
              <a:gd name="adj" fmla="val 5625"/>
            </a:avLst>
          </a:prstGeom>
          <a:solidFill>
            <a:srgbClr val="145043"/>
          </a:solidFill>
          <a:ln/>
          <a:effectLst>
            <a:outerShdw sx="100000" sy="100000" kx="0" ky="0" algn="bl" rotWithShape="0" blurRad="101600" dist="38100" dir="5400000">
              <a:srgbClr val="000000">
                <a:alpha val="35000"/>
              </a:srgbClr>
            </a:outerShdw>
          </a:effectLst>
        </p:spPr>
      </p:sp>
      <p:sp>
        <p:nvSpPr>
          <p:cNvPr id="6" name="Text 4"/>
          <p:cNvSpPr/>
          <p:nvPr/>
        </p:nvSpPr>
        <p:spPr>
          <a:xfrm>
            <a:off x="822960" y="1810512"/>
            <a:ext cx="3310128"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Space Grotesk" pitchFamily="34" charset="0"/>
                <a:ea typeface="Space Grotesk" pitchFamily="34" charset="-122"/>
                <a:cs typeface="Space Grotesk" pitchFamily="34" charset="-120"/>
              </a:rPr>
              <a:t>79.8%</a:t>
            </a:r>
            <a:endParaRPr lang="en-US" sz="2800" dirty="0"/>
          </a:p>
        </p:txBody>
      </p:sp>
      <p:sp>
        <p:nvSpPr>
          <p:cNvPr id="7" name="Text 5"/>
          <p:cNvSpPr/>
          <p:nvPr/>
        </p:nvSpPr>
        <p:spPr>
          <a:xfrm>
            <a:off x="841248" y="2395728"/>
            <a:ext cx="3273552" cy="640080"/>
          </a:xfrm>
          <a:prstGeom prst="rect">
            <a:avLst/>
          </a:prstGeom>
          <a:noFill/>
          <a:ln/>
        </p:spPr>
        <p:txBody>
          <a:bodyPr wrap="square" lIns="0" tIns="0" rIns="0" bIns="0" rtlCol="0" anchor="ctr"/>
          <a:lstStyle/>
          <a:p>
            <a:pPr algn="ctr" indent="0" marL="0">
              <a:lnSpc>
                <a:spcPct val="100000"/>
              </a:lnSpc>
              <a:buNone/>
            </a:pPr>
            <a:r>
              <a:rPr lang="en-US" sz="1250" dirty="0">
                <a:solidFill>
                  <a:srgbClr val="9DBDB0"/>
                </a:solidFill>
                <a:latin typeface="Space Grotesk" pitchFamily="34" charset="0"/>
                <a:ea typeface="Space Grotesk" pitchFamily="34" charset="-122"/>
                <a:cs typeface="Space Grotesk" pitchFamily="34" charset="-120"/>
              </a:rPr>
              <a:t>LUCAS crop points on a</a:t>
            </a:r>
            <a:endParaRPr lang="en-US" sz="1250" dirty="0"/>
          </a:p>
          <a:p>
            <a:pPr algn="ctr" indent="0" marL="0">
              <a:lnSpc>
                <a:spcPct val="100000"/>
              </a:lnSpc>
              <a:buNone/>
            </a:pPr>
            <a:r>
              <a:rPr lang="en-US" sz="1250" dirty="0">
                <a:solidFill>
                  <a:srgbClr val="9DBDB0"/>
                </a:solidFill>
                <a:latin typeface="Space Grotesk" pitchFamily="34" charset="0"/>
                <a:ea typeface="Space Grotesk" pitchFamily="34" charset="-122"/>
                <a:cs typeface="Space Grotesk" pitchFamily="34" charset="-120"/>
              </a:rPr>
              <a:t>year-matched LPIS parcel</a:t>
            </a:r>
            <a:endParaRPr lang="en-US" sz="1250" dirty="0"/>
          </a:p>
        </p:txBody>
      </p:sp>
      <p:sp>
        <p:nvSpPr>
          <p:cNvPr id="8" name="Shape 6"/>
          <p:cNvSpPr/>
          <p:nvPr/>
        </p:nvSpPr>
        <p:spPr>
          <a:xfrm>
            <a:off x="4361688" y="1691640"/>
            <a:ext cx="3493008" cy="1463040"/>
          </a:xfrm>
          <a:prstGeom prst="roundRect">
            <a:avLst>
              <a:gd name="adj" fmla="val 5625"/>
            </a:avLst>
          </a:prstGeom>
          <a:solidFill>
            <a:srgbClr val="145043"/>
          </a:solidFill>
          <a:ln/>
          <a:effectLst>
            <a:outerShdw sx="100000" sy="100000" kx="0" ky="0" algn="bl" rotWithShape="0" blurRad="101600" dist="38100" dir="5400000">
              <a:srgbClr val="000000">
                <a:alpha val="35000"/>
              </a:srgbClr>
            </a:outerShdw>
          </a:effectLst>
        </p:spPr>
      </p:sp>
      <p:sp>
        <p:nvSpPr>
          <p:cNvPr id="9" name="Text 7"/>
          <p:cNvSpPr/>
          <p:nvPr/>
        </p:nvSpPr>
        <p:spPr>
          <a:xfrm>
            <a:off x="4453128" y="1810512"/>
            <a:ext cx="3310128" cy="548640"/>
          </a:xfrm>
          <a:prstGeom prst="rect">
            <a:avLst/>
          </a:prstGeom>
          <a:noFill/>
          <a:ln/>
        </p:spPr>
        <p:txBody>
          <a:bodyPr wrap="square" lIns="0" tIns="0" rIns="0" bIns="0" rtlCol="0" anchor="ctr"/>
          <a:lstStyle/>
          <a:p>
            <a:pPr algn="ctr" indent="0" marL="0">
              <a:buNone/>
            </a:pPr>
            <a:r>
              <a:rPr lang="en-US" sz="2800" b="1" dirty="0">
                <a:solidFill>
                  <a:srgbClr val="CDFCE3"/>
                </a:solidFill>
                <a:latin typeface="Space Grotesk" pitchFamily="34" charset="0"/>
                <a:ea typeface="Space Grotesk" pitchFamily="34" charset="-122"/>
                <a:cs typeface="Space Grotesk" pitchFamily="34" charset="-120"/>
              </a:rPr>
              <a:t>0.81</a:t>
            </a:r>
            <a:endParaRPr lang="en-US" sz="2800" dirty="0"/>
          </a:p>
        </p:txBody>
      </p:sp>
      <p:sp>
        <p:nvSpPr>
          <p:cNvPr id="10" name="Text 8"/>
          <p:cNvSpPr/>
          <p:nvPr/>
        </p:nvSpPr>
        <p:spPr>
          <a:xfrm>
            <a:off x="4471416" y="2395728"/>
            <a:ext cx="3273552" cy="640080"/>
          </a:xfrm>
          <a:prstGeom prst="rect">
            <a:avLst/>
          </a:prstGeom>
          <a:noFill/>
          <a:ln/>
        </p:spPr>
        <p:txBody>
          <a:bodyPr wrap="square" lIns="0" tIns="0" rIns="0" bIns="0" rtlCol="0" anchor="ctr"/>
          <a:lstStyle/>
          <a:p>
            <a:pPr algn="ctr" indent="0" marL="0">
              <a:lnSpc>
                <a:spcPct val="100000"/>
              </a:lnSpc>
              <a:buNone/>
            </a:pPr>
            <a:r>
              <a:rPr lang="en-US" sz="1250" dirty="0">
                <a:solidFill>
                  <a:srgbClr val="9DBDB0"/>
                </a:solidFill>
                <a:latin typeface="Space Grotesk" pitchFamily="34" charset="0"/>
                <a:ea typeface="Space Grotesk" pitchFamily="34" charset="-122"/>
                <a:cs typeface="Space Grotesk" pitchFamily="34" charset="-120"/>
              </a:rPr>
              <a:t>agreement excluding</a:t>
            </a:r>
            <a:endParaRPr lang="en-US" sz="1250" dirty="0"/>
          </a:p>
          <a:p>
            <a:pPr algn="ctr" indent="0" marL="0">
              <a:lnSpc>
                <a:spcPct val="100000"/>
              </a:lnSpc>
              <a:buNone/>
            </a:pPr>
            <a:r>
              <a:rPr lang="en-US" sz="1250" dirty="0">
                <a:solidFill>
                  <a:srgbClr val="9DBDB0"/>
                </a:solidFill>
                <a:latin typeface="Space Grotesk" pitchFamily="34" charset="0"/>
                <a:ea typeface="Space Grotesk" pitchFamily="34" charset="-122"/>
                <a:cs typeface="Space Grotesk" pitchFamily="34" charset="-120"/>
              </a:rPr>
              <a:t>pasture</a:t>
            </a:r>
            <a:endParaRPr lang="en-US" sz="1250" dirty="0"/>
          </a:p>
        </p:txBody>
      </p:sp>
      <p:sp>
        <p:nvSpPr>
          <p:cNvPr id="11" name="Shape 9"/>
          <p:cNvSpPr/>
          <p:nvPr/>
        </p:nvSpPr>
        <p:spPr>
          <a:xfrm>
            <a:off x="7991856" y="1691640"/>
            <a:ext cx="3493008" cy="1463040"/>
          </a:xfrm>
          <a:prstGeom prst="roundRect">
            <a:avLst>
              <a:gd name="adj" fmla="val 5625"/>
            </a:avLst>
          </a:prstGeom>
          <a:solidFill>
            <a:srgbClr val="145043"/>
          </a:solidFill>
          <a:ln/>
          <a:effectLst>
            <a:outerShdw sx="100000" sy="100000" kx="0" ky="0" algn="bl" rotWithShape="0" blurRad="101600" dist="38100" dir="5400000">
              <a:srgbClr val="000000">
                <a:alpha val="35000"/>
              </a:srgbClr>
            </a:outerShdw>
          </a:effectLst>
        </p:spPr>
      </p:sp>
      <p:sp>
        <p:nvSpPr>
          <p:cNvPr id="12" name="Text 10"/>
          <p:cNvSpPr/>
          <p:nvPr/>
        </p:nvSpPr>
        <p:spPr>
          <a:xfrm>
            <a:off x="8083296" y="1810512"/>
            <a:ext cx="3310128" cy="548640"/>
          </a:xfrm>
          <a:prstGeom prst="rect">
            <a:avLst/>
          </a:prstGeom>
          <a:noFill/>
          <a:ln/>
        </p:spPr>
        <p:txBody>
          <a:bodyPr wrap="square" lIns="0" tIns="0" rIns="0" bIns="0" rtlCol="0" anchor="ctr"/>
          <a:lstStyle/>
          <a:p>
            <a:pPr algn="ctr" indent="0" marL="0">
              <a:buNone/>
            </a:pPr>
            <a:r>
              <a:rPr lang="en-US" sz="2800" b="1" dirty="0">
                <a:solidFill>
                  <a:srgbClr val="FF826C"/>
                </a:solidFill>
                <a:latin typeface="Space Grotesk" pitchFamily="34" charset="0"/>
                <a:ea typeface="Space Grotesk" pitchFamily="34" charset="-122"/>
                <a:cs typeface="Space Grotesk" pitchFamily="34" charset="-120"/>
              </a:rPr>
              <a:t>0.25</a:t>
            </a:r>
            <a:endParaRPr lang="en-US" sz="2800" dirty="0"/>
          </a:p>
        </p:txBody>
      </p:sp>
      <p:sp>
        <p:nvSpPr>
          <p:cNvPr id="13" name="Text 11"/>
          <p:cNvSpPr/>
          <p:nvPr/>
        </p:nvSpPr>
        <p:spPr>
          <a:xfrm>
            <a:off x="8101584" y="2395728"/>
            <a:ext cx="3273552" cy="640080"/>
          </a:xfrm>
          <a:prstGeom prst="rect">
            <a:avLst/>
          </a:prstGeom>
          <a:noFill/>
          <a:ln/>
        </p:spPr>
        <p:txBody>
          <a:bodyPr wrap="square" lIns="0" tIns="0" rIns="0" bIns="0" rtlCol="0" anchor="ctr"/>
          <a:lstStyle/>
          <a:p>
            <a:pPr algn="ctr" indent="0" marL="0">
              <a:lnSpc>
                <a:spcPct val="100000"/>
              </a:lnSpc>
              <a:buNone/>
            </a:pPr>
            <a:r>
              <a:rPr lang="en-US" sz="1250" dirty="0">
                <a:solidFill>
                  <a:srgbClr val="9DBDB0"/>
                </a:solidFill>
                <a:latin typeface="Space Grotesk" pitchFamily="34" charset="0"/>
                <a:ea typeface="Space Grotesk" pitchFamily="34" charset="-122"/>
                <a:cs typeface="Space Grotesk" pitchFamily="34" charset="-120"/>
              </a:rPr>
              <a:t>pasture agreement, but</a:t>
            </a:r>
            <a:endParaRPr lang="en-US" sz="1250" dirty="0"/>
          </a:p>
          <a:p>
            <a:pPr algn="ctr" indent="0" marL="0">
              <a:lnSpc>
                <a:spcPct val="100000"/>
              </a:lnSpc>
              <a:buNone/>
            </a:pPr>
            <a:r>
              <a:rPr lang="en-US" sz="1250" dirty="0">
                <a:solidFill>
                  <a:srgbClr val="9DBDB0"/>
                </a:solidFill>
                <a:latin typeface="Space Grotesk" pitchFamily="34" charset="0"/>
                <a:ea typeface="Space Grotesk" pitchFamily="34" charset="-122"/>
                <a:cs typeface="Space Grotesk" pitchFamily="34" charset="-120"/>
              </a:rPr>
              <a:t>87% still LPIS grass</a:t>
            </a:r>
            <a:endParaRPr lang="en-US" sz="1250" dirty="0"/>
          </a:p>
        </p:txBody>
      </p:sp>
      <p:sp>
        <p:nvSpPr>
          <p:cNvPr id="14" name="Text 12"/>
          <p:cNvSpPr/>
          <p:nvPr/>
        </p:nvSpPr>
        <p:spPr>
          <a:xfrm>
            <a:off x="731520" y="3429000"/>
            <a:ext cx="5486400" cy="365760"/>
          </a:xfrm>
          <a:prstGeom prst="rect">
            <a:avLst/>
          </a:prstGeom>
          <a:noFill/>
          <a:ln/>
        </p:spPr>
        <p:txBody>
          <a:bodyPr wrap="square" lIns="0" tIns="0" rIns="0" bIns="0" rtlCol="0" anchor="ctr"/>
          <a:lstStyle/>
          <a:p>
            <a:pPr indent="0" marL="0">
              <a:buNone/>
            </a:pPr>
            <a:r>
              <a:rPr lang="en-US" sz="1400" b="1" dirty="0">
                <a:solidFill>
                  <a:srgbClr val="CDFCE3"/>
                </a:solidFill>
                <a:latin typeface="Space Grotesk" pitchFamily="34" charset="0"/>
                <a:ea typeface="Space Grotesk" pitchFamily="34" charset="-122"/>
                <a:cs typeface="Space Grotesk" pitchFamily="34" charset="-120"/>
              </a:rPr>
              <a:t>Crop agreement (cereals &amp; roots)</a:t>
            </a:r>
            <a:endParaRPr lang="en-US" sz="1400" dirty="0"/>
          </a:p>
        </p:txBody>
      </p:sp>
      <p:graphicFrame>
        <p:nvGraphicFramePr>
          <p:cNvPr id="15" name="Chart 0" descr=""/>
          <p:cNvGraphicFramePr/>
          <p:nvPr/>
        </p:nvGraphicFramePr>
        <p:xfrm>
          <a:off x="502920" y="3794760"/>
          <a:ext cx="5760720" cy="2331720"/>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6492240" y="3794760"/>
            <a:ext cx="4983480" cy="2331720"/>
          </a:xfrm>
          <a:prstGeom prst="roundRect">
            <a:avLst>
              <a:gd name="adj" fmla="val 3922"/>
            </a:avLst>
          </a:prstGeom>
          <a:solidFill>
            <a:srgbClr val="145043"/>
          </a:solidFill>
          <a:ln/>
          <a:effectLst>
            <a:outerShdw sx="100000" sy="100000" kx="0" ky="0" algn="bl" rotWithShape="0" blurRad="101600" dist="38100" dir="5400000">
              <a:srgbClr val="000000">
                <a:alpha val="35000"/>
              </a:srgbClr>
            </a:outerShdw>
          </a:effectLst>
        </p:spPr>
      </p:sp>
      <p:sp>
        <p:nvSpPr>
          <p:cNvPr id="17" name="Text 14"/>
          <p:cNvSpPr/>
          <p:nvPr/>
        </p:nvSpPr>
        <p:spPr>
          <a:xfrm>
            <a:off x="6720840" y="3931920"/>
            <a:ext cx="4526280" cy="457200"/>
          </a:xfrm>
          <a:prstGeom prst="rect">
            <a:avLst/>
          </a:prstGeom>
          <a:noFill/>
          <a:ln/>
        </p:spPr>
        <p:txBody>
          <a:bodyPr wrap="square" lIns="0" tIns="0" rIns="0" bIns="0" rtlCol="0" anchor="t"/>
          <a:lstStyle/>
          <a:p>
            <a:pPr indent="0" marL="0">
              <a:buNone/>
            </a:pPr>
            <a:r>
              <a:rPr lang="en-US" sz="1700" b="1" dirty="0">
                <a:solidFill>
                  <a:srgbClr val="CDFCE3"/>
                </a:solidFill>
                <a:latin typeface="Space Grotesk" pitchFamily="34" charset="0"/>
                <a:ea typeface="Space Grotesk" pitchFamily="34" charset="-122"/>
                <a:cs typeface="Space Grotesk" pitchFamily="34" charset="-120"/>
              </a:rPr>
              <a:t>Labels are well-founded</a:t>
            </a:r>
            <a:endParaRPr lang="en-US" sz="1700" dirty="0"/>
          </a:p>
        </p:txBody>
      </p:sp>
      <p:sp>
        <p:nvSpPr>
          <p:cNvPr id="18" name="Text 15"/>
          <p:cNvSpPr/>
          <p:nvPr/>
        </p:nvSpPr>
        <p:spPr>
          <a:xfrm>
            <a:off x="6720840" y="4361688"/>
            <a:ext cx="4526280" cy="1645920"/>
          </a:xfrm>
          <a:prstGeom prst="rect">
            <a:avLst/>
          </a:prstGeom>
          <a:noFill/>
          <a:ln/>
        </p:spPr>
        <p:txBody>
          <a:bodyPr wrap="square" lIns="0" tIns="0" rIns="0" bIns="0" rtlCol="0" anchor="t"/>
          <a:lstStyle/>
          <a:p>
            <a:pPr indent="0" marL="0">
              <a:lnSpc>
                <a:spcPct val="110000"/>
              </a:lnSpc>
              <a:buNone/>
            </a:pPr>
            <a:r>
              <a:rPr lang="en-US" sz="1400" dirty="0">
                <a:solidFill>
                  <a:srgbClr val="FFFFFF"/>
                </a:solidFill>
                <a:latin typeface="Space Grotesk" pitchFamily="34" charset="0"/>
                <a:ea typeface="Space Grotesk" pitchFamily="34" charset="-122"/>
                <a:cs typeface="Space Grotesk" pitchFamily="34" charset="-120"/>
              </a:rPr>
              <a:t>3,496 of 4,382 LUCAS crop points fall on a year-matched LPIS parcel. Cereals and roots agree 0.69–0.91. The pasture split is a ley-vs-pasture boundary the two surveys draw differently — not an error. Year-matching is essential: crops rotate annually.</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640080" y="384048"/>
            <a:ext cx="1088136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Space Grotesk" pitchFamily="34" charset="0"/>
                <a:ea typeface="Space Grotesk" pitchFamily="34" charset="-122"/>
                <a:cs typeface="Space Grotesk" pitchFamily="34" charset="-120"/>
              </a:rPr>
              <a:t>Discussion: four takeaways</a:t>
            </a:r>
            <a:endParaRPr lang="en-US" sz="3200" dirty="0"/>
          </a:p>
        </p:txBody>
      </p:sp>
      <p:sp>
        <p:nvSpPr>
          <p:cNvPr id="4" name="Shape 2"/>
          <p:cNvSpPr/>
          <p:nvPr/>
        </p:nvSpPr>
        <p:spPr>
          <a:xfrm>
            <a:off x="731520" y="1463040"/>
            <a:ext cx="5212080" cy="1965960"/>
          </a:xfrm>
          <a:prstGeom prst="roundRect">
            <a:avLst>
              <a:gd name="adj" fmla="val 4651"/>
            </a:avLst>
          </a:prstGeom>
          <a:solidFill>
            <a:srgbClr val="145043"/>
          </a:solidFill>
          <a:ln/>
          <a:effectLst>
            <a:outerShdw sx="100000" sy="100000" kx="0" ky="0" algn="bl" rotWithShape="0" blurRad="101600" dist="38100" dir="5400000">
              <a:srgbClr val="000000">
                <a:alpha val="35000"/>
              </a:srgbClr>
            </a:outerShdw>
          </a:effectLst>
        </p:spPr>
      </p:sp>
      <p:sp>
        <p:nvSpPr>
          <p:cNvPr id="5" name="Text 3"/>
          <p:cNvSpPr/>
          <p:nvPr/>
        </p:nvSpPr>
        <p:spPr>
          <a:xfrm>
            <a:off x="960120" y="1600200"/>
            <a:ext cx="4754880" cy="457200"/>
          </a:xfrm>
          <a:prstGeom prst="rect">
            <a:avLst/>
          </a:prstGeom>
          <a:noFill/>
          <a:ln/>
        </p:spPr>
        <p:txBody>
          <a:bodyPr wrap="square" lIns="0" tIns="0" rIns="0" bIns="0" rtlCol="0" anchor="t"/>
          <a:lstStyle/>
          <a:p>
            <a:pPr indent="0" marL="0">
              <a:buNone/>
            </a:pPr>
            <a:r>
              <a:rPr lang="en-US" sz="1800" b="1" dirty="0">
                <a:solidFill>
                  <a:srgbClr val="CDFCE3"/>
                </a:solidFill>
                <a:latin typeface="Space Grotesk" pitchFamily="34" charset="0"/>
                <a:ea typeface="Space Grotesk" pitchFamily="34" charset="-122"/>
                <a:cs typeface="Space Grotesk" pitchFamily="34" charset="-120"/>
              </a:rPr>
              <a:t>The TARGET was the ceiling</a:t>
            </a:r>
            <a:endParaRPr lang="en-US" sz="1800" dirty="0"/>
          </a:p>
        </p:txBody>
      </p:sp>
      <p:sp>
        <p:nvSpPr>
          <p:cNvPr id="6" name="Text 4"/>
          <p:cNvSpPr/>
          <p:nvPr/>
        </p:nvSpPr>
        <p:spPr>
          <a:xfrm>
            <a:off x="960120" y="2029968"/>
            <a:ext cx="4754880" cy="1280160"/>
          </a:xfrm>
          <a:prstGeom prst="rect">
            <a:avLst/>
          </a:prstGeom>
          <a:noFill/>
          <a:ln/>
        </p:spPr>
        <p:txBody>
          <a:bodyPr wrap="square" lIns="0" tIns="0" rIns="0" bIns="0" rtlCol="0" anchor="t"/>
          <a:lstStyle/>
          <a:p>
            <a:pPr indent="0" marL="0">
              <a:lnSpc>
                <a:spcPct val="110000"/>
              </a:lnSpc>
              <a:buNone/>
            </a:pPr>
            <a:r>
              <a:rPr lang="en-US" sz="1500" dirty="0">
                <a:solidFill>
                  <a:srgbClr val="FFFFFF"/>
                </a:solidFill>
                <a:latin typeface="Space Grotesk" pitchFamily="34" charset="0"/>
                <a:ea typeface="Space Grotesk" pitchFamily="34" charset="-122"/>
                <a:cs typeface="Space Grotesk" pitchFamily="34" charset="-120"/>
              </a:rPr>
              <a:t>Not the representation. Hard NMD labels cap accuracy near 46%; NFI supervision on the same features reaches 63.7%.</a:t>
            </a:r>
            <a:endParaRPr lang="en-US" sz="1500" dirty="0"/>
          </a:p>
        </p:txBody>
      </p:sp>
      <p:sp>
        <p:nvSpPr>
          <p:cNvPr id="7" name="Shape 5"/>
          <p:cNvSpPr/>
          <p:nvPr/>
        </p:nvSpPr>
        <p:spPr>
          <a:xfrm>
            <a:off x="6263640" y="1463040"/>
            <a:ext cx="5212080" cy="1965960"/>
          </a:xfrm>
          <a:prstGeom prst="roundRect">
            <a:avLst>
              <a:gd name="adj" fmla="val 4651"/>
            </a:avLst>
          </a:prstGeom>
          <a:solidFill>
            <a:srgbClr val="145043"/>
          </a:solidFill>
          <a:ln/>
          <a:effectLst>
            <a:outerShdw sx="100000" sy="100000" kx="0" ky="0" algn="bl" rotWithShape="0" blurRad="101600" dist="38100" dir="5400000">
              <a:srgbClr val="000000">
                <a:alpha val="35000"/>
              </a:srgbClr>
            </a:outerShdw>
          </a:effectLst>
        </p:spPr>
      </p:sp>
      <p:sp>
        <p:nvSpPr>
          <p:cNvPr id="8" name="Text 6"/>
          <p:cNvSpPr/>
          <p:nvPr/>
        </p:nvSpPr>
        <p:spPr>
          <a:xfrm>
            <a:off x="6492240" y="1600200"/>
            <a:ext cx="4754880" cy="457200"/>
          </a:xfrm>
          <a:prstGeom prst="rect">
            <a:avLst/>
          </a:prstGeom>
          <a:noFill/>
          <a:ln/>
        </p:spPr>
        <p:txBody>
          <a:bodyPr wrap="square" lIns="0" tIns="0" rIns="0" bIns="0" rtlCol="0" anchor="t"/>
          <a:lstStyle/>
          <a:p>
            <a:pPr indent="0" marL="0">
              <a:buNone/>
            </a:pPr>
            <a:r>
              <a:rPr lang="en-US" sz="1800" b="1" dirty="0">
                <a:solidFill>
                  <a:srgbClr val="CDFCE3"/>
                </a:solidFill>
                <a:latin typeface="Space Grotesk" pitchFamily="34" charset="0"/>
                <a:ea typeface="Space Grotesk" pitchFamily="34" charset="-122"/>
                <a:cs typeface="Space Grotesk" pitchFamily="34" charset="-120"/>
              </a:rPr>
              <a:t>Representation is cheap</a:t>
            </a:r>
            <a:endParaRPr lang="en-US" sz="1800" dirty="0"/>
          </a:p>
        </p:txBody>
      </p:sp>
      <p:sp>
        <p:nvSpPr>
          <p:cNvPr id="9" name="Text 7"/>
          <p:cNvSpPr/>
          <p:nvPr/>
        </p:nvSpPr>
        <p:spPr>
          <a:xfrm>
            <a:off x="6492240" y="2029968"/>
            <a:ext cx="4754880" cy="1280160"/>
          </a:xfrm>
          <a:prstGeom prst="rect">
            <a:avLst/>
          </a:prstGeom>
          <a:noFill/>
          <a:ln/>
        </p:spPr>
        <p:txBody>
          <a:bodyPr wrap="square" lIns="0" tIns="0" rIns="0" bIns="0" rtlCol="0" anchor="t"/>
          <a:lstStyle/>
          <a:p>
            <a:pPr indent="0" marL="0">
              <a:lnSpc>
                <a:spcPct val="110000"/>
              </a:lnSpc>
              <a:buNone/>
            </a:pPr>
            <a:r>
              <a:rPr lang="en-US" sz="1500" dirty="0">
                <a:solidFill>
                  <a:srgbClr val="FFFFFF"/>
                </a:solidFill>
                <a:latin typeface="Space Grotesk" pitchFamily="34" charset="0"/>
                <a:ea typeface="Space Grotesk" pitchFamily="34" charset="-122"/>
                <a:cs typeface="Space Grotesk" pitchFamily="34" charset="-120"/>
              </a:rPr>
              <a:t>Tessera's frozen embeddings tie the 600M Prithvi (p = 0.88). A large encoder buys no accuracy here.</a:t>
            </a:r>
            <a:endParaRPr lang="en-US" sz="1500" dirty="0"/>
          </a:p>
        </p:txBody>
      </p:sp>
      <p:sp>
        <p:nvSpPr>
          <p:cNvPr id="10" name="Shape 8"/>
          <p:cNvSpPr/>
          <p:nvPr/>
        </p:nvSpPr>
        <p:spPr>
          <a:xfrm>
            <a:off x="731520" y="3657600"/>
            <a:ext cx="5212080" cy="1965960"/>
          </a:xfrm>
          <a:prstGeom prst="roundRect">
            <a:avLst>
              <a:gd name="adj" fmla="val 4651"/>
            </a:avLst>
          </a:prstGeom>
          <a:solidFill>
            <a:srgbClr val="145043"/>
          </a:solidFill>
          <a:ln/>
          <a:effectLst>
            <a:outerShdw sx="100000" sy="100000" kx="0" ky="0" algn="bl" rotWithShape="0" blurRad="101600" dist="38100" dir="5400000">
              <a:srgbClr val="000000">
                <a:alpha val="35000"/>
              </a:srgbClr>
            </a:outerShdw>
          </a:effectLst>
        </p:spPr>
      </p:sp>
      <p:sp>
        <p:nvSpPr>
          <p:cNvPr id="11" name="Text 9"/>
          <p:cNvSpPr/>
          <p:nvPr/>
        </p:nvSpPr>
        <p:spPr>
          <a:xfrm>
            <a:off x="960120" y="3794760"/>
            <a:ext cx="4754880" cy="457200"/>
          </a:xfrm>
          <a:prstGeom prst="rect">
            <a:avLst/>
          </a:prstGeom>
          <a:noFill/>
          <a:ln/>
        </p:spPr>
        <p:txBody>
          <a:bodyPr wrap="square" lIns="0" tIns="0" rIns="0" bIns="0" rtlCol="0" anchor="t"/>
          <a:lstStyle/>
          <a:p>
            <a:pPr indent="0" marL="0">
              <a:buNone/>
            </a:pPr>
            <a:r>
              <a:rPr lang="en-US" sz="1800" b="1" dirty="0">
                <a:solidFill>
                  <a:srgbClr val="FF826C"/>
                </a:solidFill>
                <a:latin typeface="Space Grotesk" pitchFamily="34" charset="0"/>
                <a:ea typeface="Space Grotesk" pitchFamily="34" charset="-122"/>
                <a:cs typeface="Space Grotesk" pitchFamily="34" charset="-120"/>
              </a:rPr>
              <a:t>Ensembling doesn't pay</a:t>
            </a:r>
            <a:endParaRPr lang="en-US" sz="1800" dirty="0"/>
          </a:p>
        </p:txBody>
      </p:sp>
      <p:sp>
        <p:nvSpPr>
          <p:cNvPr id="12" name="Text 10"/>
          <p:cNvSpPr/>
          <p:nvPr/>
        </p:nvSpPr>
        <p:spPr>
          <a:xfrm>
            <a:off x="960120" y="4224528"/>
            <a:ext cx="4754880" cy="1280160"/>
          </a:xfrm>
          <a:prstGeom prst="rect">
            <a:avLst/>
          </a:prstGeom>
          <a:noFill/>
          <a:ln/>
        </p:spPr>
        <p:txBody>
          <a:bodyPr wrap="square" lIns="0" tIns="0" rIns="0" bIns="0" rtlCol="0" anchor="t"/>
          <a:lstStyle/>
          <a:p>
            <a:pPr indent="0" marL="0">
              <a:lnSpc>
                <a:spcPct val="110000"/>
              </a:lnSpc>
              <a:buNone/>
            </a:pPr>
            <a:r>
              <a:rPr lang="en-US" sz="1500" dirty="0">
                <a:solidFill>
                  <a:srgbClr val="FFFFFF"/>
                </a:solidFill>
                <a:latin typeface="Space Grotesk" pitchFamily="34" charset="0"/>
                <a:ea typeface="Space Grotesk" pitchFamily="34" charset="-122"/>
                <a:cs typeface="Space Grotesk" pitchFamily="34" charset="-120"/>
              </a:rPr>
              <a:t>Members are correlated: the stacked combiner is within noise (p = 0.37), and encoder diversity added &lt; 0.03.</a:t>
            </a:r>
            <a:endParaRPr lang="en-US" sz="1500" dirty="0"/>
          </a:p>
        </p:txBody>
      </p:sp>
      <p:sp>
        <p:nvSpPr>
          <p:cNvPr id="13" name="Shape 11"/>
          <p:cNvSpPr/>
          <p:nvPr/>
        </p:nvSpPr>
        <p:spPr>
          <a:xfrm>
            <a:off x="6263640" y="3657600"/>
            <a:ext cx="5212080" cy="1965960"/>
          </a:xfrm>
          <a:prstGeom prst="roundRect">
            <a:avLst>
              <a:gd name="adj" fmla="val 4651"/>
            </a:avLst>
          </a:prstGeom>
          <a:solidFill>
            <a:srgbClr val="145043"/>
          </a:solidFill>
          <a:ln/>
          <a:effectLst>
            <a:outerShdw sx="100000" sy="100000" kx="0" ky="0" algn="bl" rotWithShape="0" blurRad="101600" dist="38100" dir="5400000">
              <a:srgbClr val="000000">
                <a:alpha val="35000"/>
              </a:srgbClr>
            </a:outerShdw>
          </a:effectLst>
        </p:spPr>
      </p:sp>
      <p:sp>
        <p:nvSpPr>
          <p:cNvPr id="14" name="Text 12"/>
          <p:cNvSpPr/>
          <p:nvPr/>
        </p:nvSpPr>
        <p:spPr>
          <a:xfrm>
            <a:off x="6492240" y="3794760"/>
            <a:ext cx="4754880" cy="457200"/>
          </a:xfrm>
          <a:prstGeom prst="rect">
            <a:avLst/>
          </a:prstGeom>
          <a:noFill/>
          <a:ln/>
        </p:spPr>
        <p:txBody>
          <a:bodyPr wrap="square" lIns="0" tIns="0" rIns="0" bIns="0" rtlCol="0" anchor="t"/>
          <a:lstStyle/>
          <a:p>
            <a:pPr indent="0" marL="0">
              <a:buNone/>
            </a:pPr>
            <a:r>
              <a:rPr lang="en-US" sz="1800" b="1" dirty="0">
                <a:solidFill>
                  <a:srgbClr val="FF826C"/>
                </a:solidFill>
                <a:latin typeface="Space Grotesk" pitchFamily="34" charset="0"/>
                <a:ea typeface="Space Grotesk" pitchFamily="34" charset="-122"/>
                <a:cs typeface="Space Grotesk" pitchFamily="34" charset="-120"/>
              </a:rPr>
              <a:t>Hard classes are shared</a:t>
            </a:r>
            <a:endParaRPr lang="en-US" sz="1800" dirty="0"/>
          </a:p>
        </p:txBody>
      </p:sp>
      <p:sp>
        <p:nvSpPr>
          <p:cNvPr id="15" name="Text 13"/>
          <p:cNvSpPr/>
          <p:nvPr/>
        </p:nvSpPr>
        <p:spPr>
          <a:xfrm>
            <a:off x="6492240" y="4224528"/>
            <a:ext cx="4754880" cy="1280160"/>
          </a:xfrm>
          <a:prstGeom prst="rect">
            <a:avLst/>
          </a:prstGeom>
          <a:noFill/>
          <a:ln/>
        </p:spPr>
        <p:txBody>
          <a:bodyPr wrap="square" lIns="0" tIns="0" rIns="0" bIns="0" rtlCol="0" anchor="t"/>
          <a:lstStyle/>
          <a:p>
            <a:pPr indent="0" marL="0">
              <a:lnSpc>
                <a:spcPct val="110000"/>
              </a:lnSpc>
              <a:buNone/>
            </a:pPr>
            <a:r>
              <a:rPr lang="en-US" sz="1500" dirty="0">
                <a:solidFill>
                  <a:srgbClr val="FFFFFF"/>
                </a:solidFill>
                <a:latin typeface="Space Grotesk" pitchFamily="34" charset="0"/>
                <a:ea typeface="Space Grotesk" pitchFamily="34" charset="-122"/>
                <a:cs typeface="Space Grotesk" pitchFamily="34" charset="-120"/>
              </a:rPr>
              <a:t>Spruce and open/shrub are weak across every backbone and every truth source — a data limit, not a model flaw.</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640080" y="384048"/>
            <a:ext cx="1088136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Space Grotesk" pitchFamily="34" charset="0"/>
                <a:ea typeface="Space Grotesk" pitchFamily="34" charset="-122"/>
                <a:cs typeface="Space Grotesk" pitchFamily="34" charset="-120"/>
              </a:rPr>
              <a:t>Limitations</a:t>
            </a:r>
            <a:endParaRPr lang="en-US" sz="3200" dirty="0"/>
          </a:p>
        </p:txBody>
      </p:sp>
      <p:sp>
        <p:nvSpPr>
          <p:cNvPr id="4" name="Text 2"/>
          <p:cNvSpPr/>
          <p:nvPr/>
        </p:nvSpPr>
        <p:spPr>
          <a:xfrm>
            <a:off x="731520" y="1417320"/>
            <a:ext cx="6492240" cy="411480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500" dirty="0">
                <a:solidFill>
                  <a:srgbClr val="FFFFFF"/>
                </a:solidFill>
                <a:latin typeface="Space Grotesk" pitchFamily="34" charset="0"/>
                <a:ea typeface="Space Grotesk" pitchFamily="34" charset="-122"/>
                <a:cs typeface="Space Grotesk" pitchFamily="34" charset="-120"/>
              </a:rPr>
              <a:t>Thin held-out set: 209 plots limits statistical power — several head-to-head gaps sit within noise.</a:t>
            </a:r>
            <a:endParaRPr lang="en-US" sz="1500" dirty="0"/>
          </a:p>
          <a:p>
            <a:pPr marL="177800" indent="-177800">
              <a:lnSpc>
                <a:spcPct val="115000"/>
              </a:lnSpc>
              <a:spcAft>
                <a:spcPts val="800"/>
              </a:spcAft>
              <a:buSzPct val="100000"/>
              <a:buChar char="•"/>
            </a:pPr>
            <a:r>
              <a:rPr lang="en-US" sz="1500" dirty="0">
                <a:solidFill>
                  <a:srgbClr val="FFFFFF"/>
                </a:solidFill>
                <a:latin typeface="Space Grotesk" pitchFamily="34" charset="0"/>
                <a:ea typeface="Space Grotesk" pitchFamily="34" charset="-122"/>
                <a:cs typeface="Space Grotesk" pitchFamily="34" charset="-120"/>
              </a:rPr>
              <a:t>Spruce accuracy (~0.53–0.55) is the persistent weak axis across both backbones and both truth sources.</a:t>
            </a:r>
            <a:endParaRPr lang="en-US" sz="1500" dirty="0"/>
          </a:p>
          <a:p>
            <a:pPr marL="177800" indent="-177800">
              <a:lnSpc>
                <a:spcPct val="115000"/>
              </a:lnSpc>
              <a:spcAft>
                <a:spcPts val="800"/>
              </a:spcAft>
              <a:buSzPct val="100000"/>
              <a:buChar char="•"/>
            </a:pPr>
            <a:r>
              <a:rPr lang="en-US" sz="1500" dirty="0">
                <a:solidFill>
                  <a:srgbClr val="FFFFFF"/>
                </a:solidFill>
                <a:latin typeface="Space Grotesk" pitchFamily="34" charset="0"/>
                <a:ea typeface="Space Grotesk" pitchFamily="34" charset="-122"/>
                <a:cs typeface="Space Grotesk" pitchFamily="34" charset="-120"/>
              </a:rPr>
              <a:t>Crop classes are year-sensitive: labels and spectra must be matched to the same year, since crops rotate.</a:t>
            </a:r>
            <a:endParaRPr lang="en-US" sz="1500" dirty="0"/>
          </a:p>
          <a:p>
            <a:pPr marL="177800" indent="-177800">
              <a:lnSpc>
                <a:spcPct val="115000"/>
              </a:lnSpc>
              <a:spcAft>
                <a:spcPts val="800"/>
              </a:spcAft>
              <a:buSzPct val="100000"/>
              <a:buChar char="•"/>
            </a:pPr>
            <a:r>
              <a:rPr lang="en-US" sz="1500" dirty="0">
                <a:solidFill>
                  <a:srgbClr val="FFFFFF"/>
                </a:solidFill>
                <a:latin typeface="Space Grotesk" pitchFamily="34" charset="0"/>
                <a:ea typeface="Space Grotesk" pitchFamily="34" charset="-122"/>
                <a:cs typeface="Space Grotesk" pitchFamily="34" charset="-120"/>
              </a:rPr>
              <a:t>Ley-vs-pasture grass classes are not cleanly separable across truth sources — a boundary, not an error.</a:t>
            </a:r>
            <a:endParaRPr lang="en-US" sz="1500" dirty="0"/>
          </a:p>
          <a:p>
            <a:pPr marL="177800" indent="-177800">
              <a:lnSpc>
                <a:spcPct val="115000"/>
              </a:lnSpc>
              <a:spcAft>
                <a:spcPts val="800"/>
              </a:spcAft>
              <a:buSzPct val="100000"/>
              <a:buChar char="•"/>
            </a:pPr>
            <a:r>
              <a:rPr lang="en-US" sz="1500" dirty="0">
                <a:solidFill>
                  <a:srgbClr val="FFFFFF"/>
                </a:solidFill>
                <a:latin typeface="Space Grotesk" pitchFamily="34" charset="0"/>
                <a:ea typeface="Space Grotesk" pitchFamily="34" charset="-122"/>
                <a:cs typeface="Space Grotesk" pitchFamily="34" charset="-120"/>
              </a:rPr>
              <a:t>LUCAS coverage: only ~29% of crop points fall on a year-matched LPIS parcel, bounding that cross-check.</a:t>
            </a:r>
            <a:endParaRPr lang="en-US" sz="1500" dirty="0"/>
          </a:p>
        </p:txBody>
      </p:sp>
      <p:sp>
        <p:nvSpPr>
          <p:cNvPr id="5" name="Shape 3"/>
          <p:cNvSpPr/>
          <p:nvPr/>
        </p:nvSpPr>
        <p:spPr>
          <a:xfrm>
            <a:off x="7498080" y="1417320"/>
            <a:ext cx="3977640" cy="4434840"/>
          </a:xfrm>
          <a:prstGeom prst="roundRect">
            <a:avLst>
              <a:gd name="adj" fmla="val 2299"/>
            </a:avLst>
          </a:prstGeom>
          <a:solidFill>
            <a:srgbClr val="145043"/>
          </a:solidFill>
          <a:ln/>
          <a:effectLst>
            <a:outerShdw sx="100000" sy="100000" kx="0" ky="0" algn="bl" rotWithShape="0" blurRad="101600" dist="38100" dir="5400000">
              <a:srgbClr val="000000">
                <a:alpha val="35000"/>
              </a:srgbClr>
            </a:outerShdw>
          </a:effectLst>
        </p:spPr>
      </p:sp>
      <p:sp>
        <p:nvSpPr>
          <p:cNvPr id="6" name="Text 4"/>
          <p:cNvSpPr/>
          <p:nvPr/>
        </p:nvSpPr>
        <p:spPr>
          <a:xfrm>
            <a:off x="7726680" y="1554480"/>
            <a:ext cx="3520440" cy="457200"/>
          </a:xfrm>
          <a:prstGeom prst="rect">
            <a:avLst/>
          </a:prstGeom>
          <a:noFill/>
          <a:ln/>
        </p:spPr>
        <p:txBody>
          <a:bodyPr wrap="square" lIns="0" tIns="0" rIns="0" bIns="0" rtlCol="0" anchor="t"/>
          <a:lstStyle/>
          <a:p>
            <a:pPr indent="0" marL="0">
              <a:buNone/>
            </a:pPr>
            <a:r>
              <a:rPr lang="en-US" sz="1800" b="1" dirty="0">
                <a:solidFill>
                  <a:srgbClr val="CDFCE3"/>
                </a:solidFill>
                <a:latin typeface="Space Grotesk" pitchFamily="34" charset="0"/>
                <a:ea typeface="Space Grotesk" pitchFamily="34" charset="-122"/>
                <a:cs typeface="Space Grotesk" pitchFamily="34" charset="-120"/>
              </a:rPr>
              <a:t>What would move the needle</a:t>
            </a:r>
            <a:endParaRPr lang="en-US" sz="1800" dirty="0"/>
          </a:p>
        </p:txBody>
      </p:sp>
      <p:sp>
        <p:nvSpPr>
          <p:cNvPr id="7" name="Text 5"/>
          <p:cNvSpPr/>
          <p:nvPr/>
        </p:nvSpPr>
        <p:spPr>
          <a:xfrm>
            <a:off x="7726680" y="1984248"/>
            <a:ext cx="3520440" cy="3749040"/>
          </a:xfrm>
          <a:prstGeom prst="rect">
            <a:avLst/>
          </a:prstGeom>
          <a:noFill/>
          <a:ln/>
        </p:spPr>
        <p:txBody>
          <a:bodyPr wrap="square" lIns="0" tIns="0" rIns="0" bIns="0" rtlCol="0" anchor="t"/>
          <a:lstStyle/>
          <a:p>
            <a:pPr indent="0" marL="0">
              <a:lnSpc>
                <a:spcPct val="110000"/>
              </a:lnSpc>
              <a:buNone/>
            </a:pPr>
            <a:r>
              <a:rPr lang="en-US" sz="1350" dirty="0">
                <a:solidFill>
                  <a:srgbClr val="FFFFFF"/>
                </a:solidFill>
                <a:latin typeface="Space Grotesk" pitchFamily="34" charset="0"/>
                <a:ea typeface="Space Grotesk" pitchFamily="34" charset="-122"/>
                <a:cs typeface="Space Grotesk" pitchFamily="34" charset="-120"/>
              </a:rPr>
              <a:t>More field plots — especially spruce-dominated stands — would tighten every confidence interval and is the single highest-leverage next step.</a:t>
            </a:r>
            <a:endParaRPr lang="en-US" sz="1350" dirty="0"/>
          </a:p>
          <a:p>
            <a:pPr indent="0" marL="0">
              <a:lnSpc>
                <a:spcPct val="110000"/>
              </a:lnSpc>
              <a:buNone/>
            </a:pPr>
            <a:endParaRPr lang="en-US" sz="1350" dirty="0"/>
          </a:p>
          <a:p>
            <a:pPr indent="0" marL="0">
              <a:lnSpc>
                <a:spcPct val="110000"/>
              </a:lnSpc>
              <a:buNone/>
            </a:pPr>
            <a:r>
              <a:rPr lang="en-US" sz="1350" dirty="0">
                <a:solidFill>
                  <a:srgbClr val="FFFFFF"/>
                </a:solidFill>
                <a:latin typeface="Space Grotesk" pitchFamily="34" charset="0"/>
                <a:ea typeface="Space Grotesk" pitchFamily="34" charset="-122"/>
                <a:cs typeface="Space Grotesk" pitchFamily="34" charset="-120"/>
              </a:rPr>
              <a:t>Strict year-matching of spectra to crop labels is already enforced and must stay enforced.</a:t>
            </a:r>
            <a:endParaRPr lang="en-US" sz="1350" dirty="0"/>
          </a:p>
          <a:p>
            <a:pPr indent="0" marL="0">
              <a:lnSpc>
                <a:spcPct val="110000"/>
              </a:lnSpc>
              <a:buNone/>
            </a:pPr>
            <a:endParaRPr lang="en-US" sz="1350" dirty="0"/>
          </a:p>
          <a:p>
            <a:pPr indent="0" marL="0">
              <a:lnSpc>
                <a:spcPct val="110000"/>
              </a:lnSpc>
              <a:buNone/>
            </a:pPr>
            <a:r>
              <a:rPr lang="en-US" sz="1350" dirty="0">
                <a:solidFill>
                  <a:srgbClr val="FFFFFF"/>
                </a:solidFill>
                <a:latin typeface="Space Grotesk" pitchFamily="34" charset="0"/>
                <a:ea typeface="Space Grotesk" pitchFamily="34" charset="-122"/>
                <a:cs typeface="Space Grotesk" pitchFamily="34" charset="-120"/>
              </a:rPr>
              <a:t>The grass ambiguity is a survey-definition issue, best resolved upstream in the truth sources rather than in the model.</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433C"/>
        </a:solidFill>
      </p:bgPr>
    </p:bg>
    <p:spTree>
      <p:nvGrpSpPr>
        <p:cNvPr id="1" name=""/>
        <p:cNvGrpSpPr/>
        <p:nvPr/>
      </p:nvGrpSpPr>
      <p:grpSpPr>
        <a:xfrm>
          <a:off x="0" y="0"/>
          <a:ext cx="0" cy="0"/>
          <a:chOff x="0" y="0"/>
          <a:chExt cx="0" cy="0"/>
        </a:xfrm>
      </p:grpSpPr>
      <p:sp>
        <p:nvSpPr>
          <p:cNvPr id="2" name="Text 0"/>
          <p:cNvSpPr/>
          <p:nvPr/>
        </p:nvSpPr>
        <p:spPr>
          <a:xfrm>
            <a:off x="8686800" y="320040"/>
            <a:ext cx="3200400" cy="320040"/>
          </a:xfrm>
          <a:prstGeom prst="rect">
            <a:avLst/>
          </a:prstGeom>
          <a:noFill/>
          <a:ln/>
        </p:spPr>
        <p:txBody>
          <a:bodyPr wrap="square" lIns="0" tIns="0" rIns="0" bIns="0" rtlCol="0" anchor="ctr"/>
          <a:lstStyle/>
          <a:p>
            <a:pPr algn="r" indent="0" marL="0">
              <a:buNone/>
            </a:pPr>
            <a:r>
              <a:rPr lang="en-US" sz="1200" b="1" dirty="0">
                <a:solidFill>
                  <a:srgbClr val="CDFCE3"/>
                </a:solidFill>
                <a:latin typeface="Space Grotesk" pitchFamily="34" charset="0"/>
                <a:ea typeface="Space Grotesk" pitchFamily="34" charset="-122"/>
                <a:cs typeface="Space Grotesk" pitchFamily="34" charset="-120"/>
              </a:rPr>
              <a:t>◆ </a:t>
            </a:r>
            <a:pPr algn="r" indent="0" marL="0">
              <a:buNone/>
            </a:pPr>
            <a:r>
              <a:rPr lang="en-US" sz="1200" b="1" dirty="0">
                <a:solidFill>
                  <a:srgbClr val="FFFFFF"/>
                </a:solidFill>
                <a:latin typeface="Space Grotesk" pitchFamily="34" charset="0"/>
                <a:ea typeface="Space Grotesk" pitchFamily="34" charset="-122"/>
                <a:cs typeface="Space Grotesk" pitchFamily="34" charset="-120"/>
              </a:rPr>
              <a:t>Digital Earth Sweden</a:t>
            </a:r>
            <a:endParaRPr lang="en-US" sz="1200" dirty="0"/>
          </a:p>
        </p:txBody>
      </p:sp>
      <p:sp>
        <p:nvSpPr>
          <p:cNvPr id="3" name="Text 1"/>
          <p:cNvSpPr/>
          <p:nvPr/>
        </p:nvSpPr>
        <p:spPr>
          <a:xfrm>
            <a:off x="640080" y="384048"/>
            <a:ext cx="1088136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Space Grotesk" pitchFamily="34" charset="0"/>
                <a:ea typeface="Space Grotesk" pitchFamily="34" charset="-122"/>
                <a:cs typeface="Space Grotesk" pitchFamily="34" charset="-120"/>
              </a:rPr>
              <a:t>Conclusions</a:t>
            </a:r>
            <a:endParaRPr lang="en-US" sz="3200" dirty="0"/>
          </a:p>
        </p:txBody>
      </p:sp>
      <p:sp>
        <p:nvSpPr>
          <p:cNvPr id="4" name="Shape 2"/>
          <p:cNvSpPr/>
          <p:nvPr/>
        </p:nvSpPr>
        <p:spPr>
          <a:xfrm>
            <a:off x="731520" y="1371600"/>
            <a:ext cx="5212080" cy="1691640"/>
          </a:xfrm>
          <a:prstGeom prst="roundRect">
            <a:avLst>
              <a:gd name="adj" fmla="val 5405"/>
            </a:avLst>
          </a:prstGeom>
          <a:solidFill>
            <a:srgbClr val="145043"/>
          </a:solidFill>
          <a:ln/>
          <a:effectLst>
            <a:outerShdw sx="100000" sy="100000" kx="0" ky="0" algn="bl" rotWithShape="0" blurRad="101600" dist="38100" dir="5400000">
              <a:srgbClr val="000000">
                <a:alpha val="35000"/>
              </a:srgbClr>
            </a:outerShdw>
          </a:effectLst>
        </p:spPr>
      </p:sp>
      <p:sp>
        <p:nvSpPr>
          <p:cNvPr id="5" name="Text 3"/>
          <p:cNvSpPr/>
          <p:nvPr/>
        </p:nvSpPr>
        <p:spPr>
          <a:xfrm>
            <a:off x="960120" y="1508760"/>
            <a:ext cx="4754880" cy="457200"/>
          </a:xfrm>
          <a:prstGeom prst="rect">
            <a:avLst/>
          </a:prstGeom>
          <a:noFill/>
          <a:ln/>
        </p:spPr>
        <p:txBody>
          <a:bodyPr wrap="square" lIns="0" tIns="0" rIns="0" bIns="0" rtlCol="0" anchor="t"/>
          <a:lstStyle/>
          <a:p>
            <a:pPr indent="0" marL="0">
              <a:buNone/>
            </a:pPr>
            <a:r>
              <a:rPr lang="en-US" sz="1800" b="1" dirty="0">
                <a:solidFill>
                  <a:srgbClr val="CDFCE3"/>
                </a:solidFill>
                <a:latin typeface="Space Grotesk" pitchFamily="34" charset="0"/>
                <a:ea typeface="Space Grotesk" pitchFamily="34" charset="-122"/>
                <a:cs typeface="Space Grotesk" pitchFamily="34" charset="-120"/>
              </a:rPr>
              <a:t>Field calibration wins</a:t>
            </a:r>
            <a:endParaRPr lang="en-US" sz="1800" dirty="0"/>
          </a:p>
        </p:txBody>
      </p:sp>
      <p:sp>
        <p:nvSpPr>
          <p:cNvPr id="6" name="Text 4"/>
          <p:cNvSpPr/>
          <p:nvPr/>
        </p:nvSpPr>
        <p:spPr>
          <a:xfrm>
            <a:off x="960120" y="1938528"/>
            <a:ext cx="4754880" cy="1005840"/>
          </a:xfrm>
          <a:prstGeom prst="rect">
            <a:avLst/>
          </a:prstGeom>
          <a:noFill/>
          <a:ln/>
        </p:spPr>
        <p:txBody>
          <a:bodyPr wrap="square" lIns="0" tIns="0" rIns="0" bIns="0" rtlCol="0" anchor="t"/>
          <a:lstStyle/>
          <a:p>
            <a:pPr indent="0" marL="0">
              <a:lnSpc>
                <a:spcPct val="110000"/>
              </a:lnSpc>
              <a:buNone/>
            </a:pPr>
            <a:r>
              <a:rPr lang="en-US" sz="1450" dirty="0">
                <a:solidFill>
                  <a:srgbClr val="FFFFFF"/>
                </a:solidFill>
                <a:latin typeface="Space Grotesk" pitchFamily="34" charset="0"/>
                <a:ea typeface="Space Grotesk" pitchFamily="34" charset="-122"/>
                <a:cs typeface="Space Grotesk" pitchFamily="34" charset="-120"/>
              </a:rPr>
              <a:t>On independent field truth the field-calibrated model beats NMD2023 — 43.1% → 50.2%, and 57.9% on forest type.</a:t>
            </a:r>
            <a:endParaRPr lang="en-US" sz="1450" dirty="0"/>
          </a:p>
        </p:txBody>
      </p:sp>
      <p:sp>
        <p:nvSpPr>
          <p:cNvPr id="7" name="Shape 5"/>
          <p:cNvSpPr/>
          <p:nvPr/>
        </p:nvSpPr>
        <p:spPr>
          <a:xfrm>
            <a:off x="6263640" y="1371600"/>
            <a:ext cx="5212080" cy="1691640"/>
          </a:xfrm>
          <a:prstGeom prst="roundRect">
            <a:avLst>
              <a:gd name="adj" fmla="val 5405"/>
            </a:avLst>
          </a:prstGeom>
          <a:solidFill>
            <a:srgbClr val="145043"/>
          </a:solidFill>
          <a:ln/>
          <a:effectLst>
            <a:outerShdw sx="100000" sy="100000" kx="0" ky="0" algn="bl" rotWithShape="0" blurRad="101600" dist="38100" dir="5400000">
              <a:srgbClr val="000000">
                <a:alpha val="35000"/>
              </a:srgbClr>
            </a:outerShdw>
          </a:effectLst>
        </p:spPr>
      </p:sp>
      <p:sp>
        <p:nvSpPr>
          <p:cNvPr id="8" name="Text 6"/>
          <p:cNvSpPr/>
          <p:nvPr/>
        </p:nvSpPr>
        <p:spPr>
          <a:xfrm>
            <a:off x="6492240" y="1508760"/>
            <a:ext cx="4754880" cy="457200"/>
          </a:xfrm>
          <a:prstGeom prst="rect">
            <a:avLst/>
          </a:prstGeom>
          <a:noFill/>
          <a:ln/>
        </p:spPr>
        <p:txBody>
          <a:bodyPr wrap="square" lIns="0" tIns="0" rIns="0" bIns="0" rtlCol="0" anchor="t"/>
          <a:lstStyle/>
          <a:p>
            <a:pPr indent="0" marL="0">
              <a:buNone/>
            </a:pPr>
            <a:r>
              <a:rPr lang="en-US" sz="1800" b="1" dirty="0">
                <a:solidFill>
                  <a:srgbClr val="CDFCE3"/>
                </a:solidFill>
                <a:latin typeface="Space Grotesk" pitchFamily="34" charset="0"/>
                <a:ea typeface="Space Grotesk" pitchFamily="34" charset="-122"/>
                <a:cs typeface="Space Grotesk" pitchFamily="34" charset="-120"/>
              </a:rPr>
              <a:t>Deploy the pair</a:t>
            </a:r>
            <a:endParaRPr lang="en-US" sz="1800" dirty="0"/>
          </a:p>
        </p:txBody>
      </p:sp>
      <p:sp>
        <p:nvSpPr>
          <p:cNvPr id="9" name="Text 7"/>
          <p:cNvSpPr/>
          <p:nvPr/>
        </p:nvSpPr>
        <p:spPr>
          <a:xfrm>
            <a:off x="6492240" y="1938528"/>
            <a:ext cx="4754880" cy="1005840"/>
          </a:xfrm>
          <a:prstGeom prst="rect">
            <a:avLst/>
          </a:prstGeom>
          <a:noFill/>
          <a:ln/>
        </p:spPr>
        <p:txBody>
          <a:bodyPr wrap="square" lIns="0" tIns="0" rIns="0" bIns="0" rtlCol="0" anchor="t"/>
          <a:lstStyle/>
          <a:p>
            <a:pPr indent="0" marL="0">
              <a:lnSpc>
                <a:spcPct val="110000"/>
              </a:lnSpc>
              <a:buNone/>
            </a:pPr>
            <a:r>
              <a:rPr lang="en-US" sz="1450" dirty="0">
                <a:solidFill>
                  <a:srgbClr val="FFFFFF"/>
                </a:solidFill>
                <a:latin typeface="Space Grotesk" pitchFamily="34" charset="0"/>
                <a:ea typeface="Space Grotesk" pitchFamily="34" charset="-122"/>
                <a:cs typeface="Space Grotesk" pitchFamily="34" charset="-120"/>
              </a:rPr>
              <a:t>Ship the distilled 28-class base plus the forest-type fraction layer: hard mask decides forest, fractions decide species.</a:t>
            </a:r>
            <a:endParaRPr lang="en-US" sz="1450" dirty="0"/>
          </a:p>
        </p:txBody>
      </p:sp>
      <p:sp>
        <p:nvSpPr>
          <p:cNvPr id="10" name="Shape 8"/>
          <p:cNvSpPr/>
          <p:nvPr/>
        </p:nvSpPr>
        <p:spPr>
          <a:xfrm>
            <a:off x="731520" y="3246120"/>
            <a:ext cx="5212080" cy="1691640"/>
          </a:xfrm>
          <a:prstGeom prst="roundRect">
            <a:avLst>
              <a:gd name="adj" fmla="val 5405"/>
            </a:avLst>
          </a:prstGeom>
          <a:solidFill>
            <a:srgbClr val="145043"/>
          </a:solidFill>
          <a:ln/>
          <a:effectLst>
            <a:outerShdw sx="100000" sy="100000" kx="0" ky="0" algn="bl" rotWithShape="0" blurRad="101600" dist="38100" dir="5400000">
              <a:srgbClr val="000000">
                <a:alpha val="35000"/>
              </a:srgbClr>
            </a:outerShdw>
          </a:effectLst>
        </p:spPr>
      </p:sp>
      <p:sp>
        <p:nvSpPr>
          <p:cNvPr id="11" name="Text 9"/>
          <p:cNvSpPr/>
          <p:nvPr/>
        </p:nvSpPr>
        <p:spPr>
          <a:xfrm>
            <a:off x="960120" y="3383280"/>
            <a:ext cx="4754880" cy="457200"/>
          </a:xfrm>
          <a:prstGeom prst="rect">
            <a:avLst/>
          </a:prstGeom>
          <a:noFill/>
          <a:ln/>
        </p:spPr>
        <p:txBody>
          <a:bodyPr wrap="square" lIns="0" tIns="0" rIns="0" bIns="0" rtlCol="0" anchor="t"/>
          <a:lstStyle/>
          <a:p>
            <a:pPr indent="0" marL="0">
              <a:buNone/>
            </a:pPr>
            <a:r>
              <a:rPr lang="en-US" sz="1800" b="1" dirty="0">
                <a:solidFill>
                  <a:srgbClr val="FF826C"/>
                </a:solidFill>
                <a:latin typeface="Space Grotesk" pitchFamily="34" charset="0"/>
                <a:ea typeface="Space Grotesk" pitchFamily="34" charset="-122"/>
                <a:cs typeface="Space Grotesk" pitchFamily="34" charset="-120"/>
              </a:rPr>
              <a:t>Tessera for cost</a:t>
            </a:r>
            <a:endParaRPr lang="en-US" sz="1800" dirty="0"/>
          </a:p>
        </p:txBody>
      </p:sp>
      <p:sp>
        <p:nvSpPr>
          <p:cNvPr id="12" name="Text 10"/>
          <p:cNvSpPr/>
          <p:nvPr/>
        </p:nvSpPr>
        <p:spPr>
          <a:xfrm>
            <a:off x="960120" y="3813048"/>
            <a:ext cx="4754880" cy="1005840"/>
          </a:xfrm>
          <a:prstGeom prst="rect">
            <a:avLst/>
          </a:prstGeom>
          <a:noFill/>
          <a:ln/>
        </p:spPr>
        <p:txBody>
          <a:bodyPr wrap="square" lIns="0" tIns="0" rIns="0" bIns="0" rtlCol="0" anchor="t"/>
          <a:lstStyle/>
          <a:p>
            <a:pPr indent="0" marL="0">
              <a:lnSpc>
                <a:spcPct val="110000"/>
              </a:lnSpc>
              <a:buNone/>
            </a:pPr>
            <a:r>
              <a:rPr lang="en-US" sz="1450" dirty="0">
                <a:solidFill>
                  <a:srgbClr val="FFFFFF"/>
                </a:solidFill>
                <a:latin typeface="Space Grotesk" pitchFamily="34" charset="0"/>
                <a:ea typeface="Space Grotesk" pitchFamily="34" charset="-122"/>
                <a:cs typeface="Space Grotesk" pitchFamily="34" charset="-120"/>
              </a:rPr>
              <a:t>Use Tessera's precomputed embeddings for deployment — it ties the 600M model at a fraction of the compute.</a:t>
            </a:r>
            <a:endParaRPr lang="en-US" sz="1450" dirty="0"/>
          </a:p>
        </p:txBody>
      </p:sp>
      <p:sp>
        <p:nvSpPr>
          <p:cNvPr id="13" name="Shape 11"/>
          <p:cNvSpPr/>
          <p:nvPr/>
        </p:nvSpPr>
        <p:spPr>
          <a:xfrm>
            <a:off x="6263640" y="3246120"/>
            <a:ext cx="5212080" cy="1691640"/>
          </a:xfrm>
          <a:prstGeom prst="roundRect">
            <a:avLst>
              <a:gd name="adj" fmla="val 5405"/>
            </a:avLst>
          </a:prstGeom>
          <a:solidFill>
            <a:srgbClr val="145043"/>
          </a:solidFill>
          <a:ln/>
          <a:effectLst>
            <a:outerShdw sx="100000" sy="100000" kx="0" ky="0" algn="bl" rotWithShape="0" blurRad="101600" dist="38100" dir="5400000">
              <a:srgbClr val="000000">
                <a:alpha val="35000"/>
              </a:srgbClr>
            </a:outerShdw>
          </a:effectLst>
        </p:spPr>
      </p:sp>
      <p:sp>
        <p:nvSpPr>
          <p:cNvPr id="14" name="Text 12"/>
          <p:cNvSpPr/>
          <p:nvPr/>
        </p:nvSpPr>
        <p:spPr>
          <a:xfrm>
            <a:off x="6492240" y="3383280"/>
            <a:ext cx="4754880" cy="457200"/>
          </a:xfrm>
          <a:prstGeom prst="rect">
            <a:avLst/>
          </a:prstGeom>
          <a:noFill/>
          <a:ln/>
        </p:spPr>
        <p:txBody>
          <a:bodyPr wrap="square" lIns="0" tIns="0" rIns="0" bIns="0" rtlCol="0" anchor="t"/>
          <a:lstStyle/>
          <a:p>
            <a:pPr indent="0" marL="0">
              <a:buNone/>
            </a:pPr>
            <a:r>
              <a:rPr lang="en-US" sz="1800" b="1" dirty="0">
                <a:solidFill>
                  <a:srgbClr val="FF826C"/>
                </a:solidFill>
                <a:latin typeface="Space Grotesk" pitchFamily="34" charset="0"/>
                <a:ea typeface="Space Grotesk" pitchFamily="34" charset="-122"/>
                <a:cs typeface="Space Grotesk" pitchFamily="34" charset="-120"/>
              </a:rPr>
              <a:t>Skip the ensemble</a:t>
            </a:r>
            <a:endParaRPr lang="en-US" sz="1800" dirty="0"/>
          </a:p>
        </p:txBody>
      </p:sp>
      <p:sp>
        <p:nvSpPr>
          <p:cNvPr id="15" name="Text 13"/>
          <p:cNvSpPr/>
          <p:nvPr/>
        </p:nvSpPr>
        <p:spPr>
          <a:xfrm>
            <a:off x="6492240" y="3813048"/>
            <a:ext cx="4754880" cy="1005840"/>
          </a:xfrm>
          <a:prstGeom prst="rect">
            <a:avLst/>
          </a:prstGeom>
          <a:noFill/>
          <a:ln/>
        </p:spPr>
        <p:txBody>
          <a:bodyPr wrap="square" lIns="0" tIns="0" rIns="0" bIns="0" rtlCol="0" anchor="t"/>
          <a:lstStyle/>
          <a:p>
            <a:pPr indent="0" marL="0">
              <a:lnSpc>
                <a:spcPct val="110000"/>
              </a:lnSpc>
              <a:buNone/>
            </a:pPr>
            <a:r>
              <a:rPr lang="en-US" sz="1450" dirty="0">
                <a:solidFill>
                  <a:srgbClr val="FFFFFF"/>
                </a:solidFill>
                <a:latin typeface="Space Grotesk" pitchFamily="34" charset="0"/>
                <a:ea typeface="Space Grotesk" pitchFamily="34" charset="-122"/>
                <a:cs typeface="Space Grotesk" pitchFamily="34" charset="-120"/>
              </a:rPr>
              <a:t>Combining models is not worth it: the gain is within noise and adds serving complexity for nothing.</a:t>
            </a:r>
            <a:endParaRPr lang="en-US" sz="1450" dirty="0"/>
          </a:p>
        </p:txBody>
      </p:sp>
      <p:sp>
        <p:nvSpPr>
          <p:cNvPr id="16" name="Text 14"/>
          <p:cNvSpPr/>
          <p:nvPr/>
        </p:nvSpPr>
        <p:spPr>
          <a:xfrm>
            <a:off x="731520" y="5257800"/>
            <a:ext cx="10744200" cy="548640"/>
          </a:xfrm>
          <a:prstGeom prst="rect">
            <a:avLst/>
          </a:prstGeom>
          <a:noFill/>
          <a:ln/>
        </p:spPr>
        <p:txBody>
          <a:bodyPr wrap="square" lIns="0" tIns="0" rIns="0" bIns="0" rtlCol="0" anchor="ctr"/>
          <a:lstStyle/>
          <a:p>
            <a:pPr indent="0" marL="0">
              <a:lnSpc>
                <a:spcPct val="110000"/>
              </a:lnSpc>
              <a:buNone/>
            </a:pPr>
            <a:r>
              <a:rPr lang="en-US" sz="1200" i="1" dirty="0">
                <a:solidFill>
                  <a:srgbClr val="9DBDB0"/>
                </a:solidFill>
                <a:latin typeface="Space Grotesk" pitchFamily="34" charset="0"/>
                <a:ea typeface="Space Grotesk" pitchFamily="34" charset="-122"/>
                <a:cs typeface="Space Grotesk" pitchFamily="34" charset="-120"/>
              </a:rPr>
              <a:t>Provenance: docs/data/{distill,tradslag_fraction,hybrid_nfi_head}_finding.md — all held-out figures use 209 plots, grouped-tile split, calibration on the train side only.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2026-08-18T12:03:23Z</dcterms:created>
  <dcterms:modified xsi:type="dcterms:W3CDTF">2026-08-18T12:03:23Z</dcterms:modified>
</cp:coreProperties>
</file>