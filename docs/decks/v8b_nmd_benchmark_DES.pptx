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overall</c:v>
                </c:pt>
              </c:strCache>
            </c:strRef>
          </c:tx>
          <c:spPr>
            <a:solidFill>
              <a:srgbClr val="CDFCE3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500" u="none">
                    <a:solidFill>
                      <a:srgbClr val="FFFFFF"/>
                    </a:solidFill>
                    <a:latin typeface="Space Grotesk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DFCE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826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E847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NMD2023</c:v>
                  </c:pt>
                  <c:pt idx="1">
                    <c:v>v8b</c:v>
                  </c:pt>
                  <c:pt idx="2">
                    <c:v>NMD2018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49.3</c:v>
                </c:pt>
                <c:pt idx="1">
                  <c:v>46.3</c:v>
                </c:pt>
                <c:pt idx="2">
                  <c:v>40.6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500" u="none">
                  <a:solidFill>
                    <a:srgbClr val="FFFFFF"/>
                  </a:solidFill>
                  <a:latin typeface="Space Grotesk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Space Grotesk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2"/>
          <c:min val="35"/>
        </c:scaling>
        <c:delete val="0"/>
        <c:axPos val="l"/>
        <c:majorGridlines>
          <c:spPr>
            <a:ln w="12700" cap="flat">
              <a:solidFill>
                <a:srgbClr val="1C5248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DBDB0"/>
                </a:solidFill>
                <a:latin typeface="Space Grotesk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mIoU</c:v>
                </c:pt>
              </c:strCache>
            </c:strRef>
          </c:tx>
          <c:spPr>
            <a:solidFill>
              <a:srgbClr val="FF826C"/>
            </a:solidFill>
            <a:ln w="38100" cap="flat">
              <a:solidFill>
                <a:srgbClr val="FF826C"/>
              </a:solidFill>
              <a:prstDash val="solid"/>
              <a:round/>
            </a:ln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Space Grotesk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F826C"/>
              </a:solidFill>
              <a:ln w="9525" cap="flat">
                <a:solidFill>
                  <a:srgbClr val="FF826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v6a</c:v>
                  </c:pt>
                  <c:pt idx="1">
                    <c:v>300M/256</c:v>
                  </c:pt>
                  <c:pt idx="2">
                    <c:v>600M/512</c:v>
                  </c:pt>
                  <c:pt idx="3">
                    <c:v>v8</c:v>
                  </c:pt>
                  <c:pt idx="4">
                    <c:v>v8b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0.366</c:v>
                </c:pt>
                <c:pt idx="1">
                  <c:v>0.472</c:v>
                </c:pt>
                <c:pt idx="2">
                  <c:v>0.477</c:v>
                </c:pt>
                <c:pt idx="3">
                  <c:v>0.515</c:v>
                </c:pt>
                <c:pt idx="4">
                  <c:v>0.535</c:v>
                </c:pt>
              </c:numCache>
            </c:numRef>
          </c:val>
          <c:smooth val="1"/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Space Grotesk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Space Grotesk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0.3"/>
        </c:scaling>
        <c:delete val="0"/>
        <c:axPos val="l"/>
        <c:majorGridlines>
          <c:spPr>
            <a:ln w="12700" cap="flat">
              <a:solidFill>
                <a:srgbClr val="1C52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DBDB0"/>
                </a:solidFill>
                <a:latin typeface="Space Grotesk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43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320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DFC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◆ </a:t>
            </a:r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Digital Earth Sweden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00584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v8b</a:t>
            </a:r>
            <a:endParaRPr lang="en-US" sz="9200" dirty="0"/>
          </a:p>
        </p:txBody>
      </p:sp>
      <p:sp>
        <p:nvSpPr>
          <p:cNvPr id="4" name="Text 2"/>
          <p:cNvSpPr/>
          <p:nvPr/>
        </p:nvSpPr>
        <p:spPr>
          <a:xfrm>
            <a:off x="658368" y="2377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DFC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Multitemporal Sentinel-2-modell för svensk marktäckning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10881360" cy="1920240"/>
          </a:xfrm>
          <a:prstGeom prst="roundRect">
            <a:avLst>
              <a:gd name="adj" fmla="val 5714"/>
            </a:avLst>
          </a:prstGeom>
          <a:solidFill>
            <a:srgbClr val="145043"/>
          </a:solidFill>
          <a:ln/>
          <a:effectLst>
            <a:outerShdw sx="100000" sy="100000" kx="0" ky="0" algn="bl" rotWithShape="0" blurRad="127000" dist="38100" dir="54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347472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v8b slår sin egen labelkälla NMD2018 — </a:t>
            </a:r>
            <a:pPr indent="0" marL="0">
              <a:buNone/>
            </a:pPr>
            <a:r>
              <a:rPr lang="en-US" sz="2700" b="1" dirty="0">
                <a:solidFill>
                  <a:srgbClr val="FF826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och är ikapp nya NMD2023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005840" y="448056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DFC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Fältvalidering mot Riksskogstaxeringen, 912 gemensamma plottar: overall 46,3 % (v8b) · 40,6 % (NMD2018) · 49,3 % (NMD2023)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54406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23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6035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D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klasser (unified)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02152" y="54406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7 882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502152" y="6035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D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tiles, hela Sverige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64224" y="54406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Prithvi-600M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364224" y="6035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D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backbone, 504 px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226296" y="54406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0,5352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226296" y="6035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D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val mIoU (20 epoker)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43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320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DFC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◆ </a:t>
            </a:r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Digital Earth Sweden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Exempel — NMD-referens vs v8b-prediktion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1133856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D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 5×5 km-tile, 23-klass unified schema (tile_331280_6541280, norra Sverige)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783080"/>
            <a:ext cx="3566160" cy="356616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783080"/>
            <a:ext cx="3566160" cy="35661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37360" y="54223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DFC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NMD-baserad referens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7040880" y="54223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826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v8b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822960" y="6071616"/>
            <a:ext cx="201168" cy="201168"/>
          </a:xfrm>
          <a:prstGeom prst="rect">
            <a:avLst/>
          </a:prstGeom>
          <a:solidFill>
            <a:srgbClr val="006400"/>
          </a:solidFill>
          <a:ln/>
        </p:spPr>
      </p:sp>
      <p:sp>
        <p:nvSpPr>
          <p:cNvPr id="10" name="Text 6"/>
          <p:cNvSpPr/>
          <p:nvPr/>
        </p:nvSpPr>
        <p:spPr>
          <a:xfrm>
            <a:off x="1115568" y="602589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tallskog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3566160" y="6071616"/>
            <a:ext cx="201168" cy="201168"/>
          </a:xfrm>
          <a:prstGeom prst="rect">
            <a:avLst/>
          </a:prstGeom>
          <a:solidFill>
            <a:srgbClr val="228B22"/>
          </a:solidFill>
          <a:ln/>
        </p:spPr>
      </p:sp>
      <p:sp>
        <p:nvSpPr>
          <p:cNvPr id="12" name="Text 8"/>
          <p:cNvSpPr/>
          <p:nvPr/>
        </p:nvSpPr>
        <p:spPr>
          <a:xfrm>
            <a:off x="3858768" y="602589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granskog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309360" y="6071616"/>
            <a:ext cx="201168" cy="201168"/>
          </a:xfrm>
          <a:prstGeom prst="rect">
            <a:avLst/>
          </a:prstGeom>
          <a:solidFill>
            <a:srgbClr val="32CD32"/>
          </a:solidFill>
          <a:ln/>
        </p:spPr>
      </p:sp>
      <p:sp>
        <p:nvSpPr>
          <p:cNvPr id="14" name="Text 10"/>
          <p:cNvSpPr/>
          <p:nvPr/>
        </p:nvSpPr>
        <p:spPr>
          <a:xfrm>
            <a:off x="6601968" y="602589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lövskog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9052560" y="6071616"/>
            <a:ext cx="201168" cy="201168"/>
          </a:xfrm>
          <a:prstGeom prst="rect">
            <a:avLst/>
          </a:prstGeom>
          <a:solidFill>
            <a:srgbClr val="3CB371"/>
          </a:solidFill>
          <a:ln/>
        </p:spPr>
      </p:sp>
      <p:sp>
        <p:nvSpPr>
          <p:cNvPr id="16" name="Text 12"/>
          <p:cNvSpPr/>
          <p:nvPr/>
        </p:nvSpPr>
        <p:spPr>
          <a:xfrm>
            <a:off x="9345168" y="602589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blandskog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22960" y="6400800"/>
            <a:ext cx="201168" cy="201168"/>
          </a:xfrm>
          <a:prstGeom prst="rect">
            <a:avLst/>
          </a:prstGeom>
          <a:solidFill>
            <a:srgbClr val="2E4F2E"/>
          </a:solidFill>
          <a:ln/>
        </p:spPr>
      </p:sp>
      <p:sp>
        <p:nvSpPr>
          <p:cNvPr id="18" name="Text 14"/>
          <p:cNvSpPr/>
          <p:nvPr/>
        </p:nvSpPr>
        <p:spPr>
          <a:xfrm>
            <a:off x="1115568" y="63550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sumpskog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3566160" y="6400800"/>
            <a:ext cx="201168" cy="201168"/>
          </a:xfrm>
          <a:prstGeom prst="rect">
            <a:avLst/>
          </a:prstGeom>
          <a:solidFill>
            <a:srgbClr val="D2B48C"/>
          </a:solidFill>
          <a:ln/>
        </p:spPr>
      </p:sp>
      <p:sp>
        <p:nvSpPr>
          <p:cNvPr id="20" name="Text 16"/>
          <p:cNvSpPr/>
          <p:nvPr/>
        </p:nvSpPr>
        <p:spPr>
          <a:xfrm>
            <a:off x="3858768" y="63550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öppen mark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309360" y="6400800"/>
            <a:ext cx="201168" cy="201168"/>
          </a:xfrm>
          <a:prstGeom prst="rect">
            <a:avLst/>
          </a:prstGeom>
          <a:solidFill>
            <a:srgbClr val="0000FF"/>
          </a:solidFill>
          <a:ln/>
        </p:spPr>
      </p:sp>
      <p:sp>
        <p:nvSpPr>
          <p:cNvPr id="22" name="Text 18"/>
          <p:cNvSpPr/>
          <p:nvPr/>
        </p:nvSpPr>
        <p:spPr>
          <a:xfrm>
            <a:off x="6601968" y="63550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vatten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9052560" y="6400800"/>
            <a:ext cx="201168" cy="201168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24" name="Text 20"/>
          <p:cNvSpPr/>
          <p:nvPr/>
        </p:nvSpPr>
        <p:spPr>
          <a:xfrm>
            <a:off x="9345168" y="63550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bebyggelse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43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320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DFC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◆ </a:t>
            </a:r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Digital Earth Sweden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Overall accuracy mot fältdata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58368" y="1188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BD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5-klass (4 skogstyper + icke-skog), samma 912 NFI-plottar där NMD2023 v2.1 finns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828800"/>
          <a:ext cx="66751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680960" y="19659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DFC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Studenten slår läraren — nästan ikapp nästa generation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680960" y="2843784"/>
            <a:ext cx="146304" cy="146304"/>
          </a:xfrm>
          <a:prstGeom prst="ellipse">
            <a:avLst/>
          </a:prstGeom>
          <a:solidFill>
            <a:srgbClr val="FF826C"/>
          </a:solidFill>
          <a:ln/>
        </p:spPr>
      </p:sp>
      <p:sp>
        <p:nvSpPr>
          <p:cNvPr id="8" name="Text 5"/>
          <p:cNvSpPr/>
          <p:nvPr/>
        </p:nvSpPr>
        <p:spPr>
          <a:xfrm>
            <a:off x="7973568" y="27432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v8b är tränad PÅ NMD2018 — ändå +5,7 pp bättre vid fältpunkterna.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7680960" y="3986784"/>
            <a:ext cx="146304" cy="146304"/>
          </a:xfrm>
          <a:prstGeom prst="ellipse">
            <a:avLst/>
          </a:prstGeom>
          <a:solidFill>
            <a:srgbClr val="FF826C"/>
          </a:solidFill>
          <a:ln/>
        </p:spPr>
      </p:sp>
      <p:sp>
        <p:nvSpPr>
          <p:cNvPr id="10" name="Text 7"/>
          <p:cNvSpPr/>
          <p:nvPr/>
        </p:nvSpPr>
        <p:spPr>
          <a:xfrm>
            <a:off x="7973568" y="38862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Nya NMD2023 (laser + 2023 S2) leder med 49,3 % — men bara +3,0 pp över v8b.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7680960" y="5129784"/>
            <a:ext cx="146304" cy="146304"/>
          </a:xfrm>
          <a:prstGeom prst="ellipse">
            <a:avLst/>
          </a:prstGeom>
          <a:solidFill>
            <a:srgbClr val="FF826C"/>
          </a:solidFill>
          <a:ln/>
        </p:spPr>
      </p:sp>
      <p:sp>
        <p:nvSpPr>
          <p:cNvPr id="12" name="Text 9"/>
          <p:cNvSpPr/>
          <p:nvPr/>
        </p:nvSpPr>
        <p:spPr>
          <a:xfrm>
            <a:off x="7973568" y="50292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v8b vinner löv- och blandskog på F1; NMD2023 vinner tall och gran.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43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320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DFC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◆ </a:t>
            </a:r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Digital Earth Sweden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Standardmått — user's / producer's / F1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107899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DBD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Confusion-matris över alla plottar (4 skogstyper + icke-skog), tre källor på exakt samma 912 fältplottar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14504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733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DFC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Overall accuracy (5-klass)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99339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D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NMD2023 </a:t>
            </a:r>
            <a:pPr indent="0" marL="0">
              <a:buNone/>
            </a:pPr>
            <a:r>
              <a:rPr lang="en-US" sz="2000" b="1" dirty="0">
                <a:solidFill>
                  <a:srgbClr val="CDFC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49,3 %</a:t>
            </a:r>
            <a:pPr indent="0" marL="0">
              <a:buNone/>
            </a:pPr>
            <a:r>
              <a:rPr lang="en-US" sz="1200" dirty="0">
                <a:solidFill>
                  <a:srgbClr val="9DBD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  v8b </a:t>
            </a:r>
            <a:pPr indent="0" marL="0">
              <a:buNone/>
            </a:pPr>
            <a:r>
              <a:rPr lang="en-US" sz="2000" b="1" dirty="0">
                <a:solidFill>
                  <a:srgbClr val="FF826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46,3 %</a:t>
            </a:r>
            <a:pPr indent="0" marL="0">
              <a:buNone/>
            </a:pPr>
            <a:r>
              <a:rPr lang="en-US" sz="1200" dirty="0">
                <a:solidFill>
                  <a:srgbClr val="9DBD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  NMD2018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40,6 %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60020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145043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16733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DFC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Cohen's kappa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46520" y="199339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D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NMD2023 </a:t>
            </a:r>
            <a:pPr indent="0" marL="0">
              <a:buNone/>
            </a:pPr>
            <a:r>
              <a:rPr lang="en-US" sz="2000" b="1" dirty="0">
                <a:solidFill>
                  <a:srgbClr val="CDFC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0,366</a:t>
            </a:r>
            <a:pPr indent="0" marL="0">
              <a:buNone/>
            </a:pPr>
            <a:r>
              <a:rPr lang="en-US" sz="1200" dirty="0">
                <a:solidFill>
                  <a:srgbClr val="9DBD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  v8b </a:t>
            </a:r>
            <a:pPr indent="0" marL="0">
              <a:buNone/>
            </a:pPr>
            <a:r>
              <a:rPr lang="en-US" sz="2000" b="1" dirty="0">
                <a:solidFill>
                  <a:srgbClr val="FF826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0,335</a:t>
            </a:r>
            <a:pPr indent="0" marL="0">
              <a:buNone/>
            </a:pPr>
            <a:r>
              <a:rPr lang="en-US" sz="1200" dirty="0">
                <a:solidFill>
                  <a:srgbClr val="9DBD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  NMD2018 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0,257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743200"/>
          <a:ext cx="1110996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Klass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22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826C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v8b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22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DFCE3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NMD2023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22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NMD2018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22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2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U</a:t>
                      </a:r>
                      <a:endParaRPr lang="en-US" sz="10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2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P</a:t>
                      </a:r>
                      <a:endParaRPr lang="en-US" sz="10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2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F1</a:t>
                      </a:r>
                      <a:endParaRPr lang="en-US" sz="10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56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U</a:t>
                      </a:r>
                      <a:endParaRPr lang="en-US" sz="10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2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P</a:t>
                      </a:r>
                      <a:endParaRPr lang="en-US" sz="10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2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F1</a:t>
                      </a:r>
                      <a:endParaRPr lang="en-US" sz="10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56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U</a:t>
                      </a:r>
                      <a:endParaRPr lang="en-US" sz="10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2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P</a:t>
                      </a:r>
                      <a:endParaRPr lang="en-US" sz="10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2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F1</a:t>
                      </a:r>
                      <a:endParaRPr lang="en-US" sz="10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56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tallskog</a:t>
                      </a:r>
                      <a:endParaRPr lang="en-US" sz="1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A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0,81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A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0,44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A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0,57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56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0,82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A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0,48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A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DFCE3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0,61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0,71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A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0,44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A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0,54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56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granskog</a:t>
                      </a:r>
                      <a:endParaRPr lang="en-US" sz="1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0,66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0,47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0,55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56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0,76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0,50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DFCE3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0,60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0,59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0,40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0,47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56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lövskog</a:t>
                      </a:r>
                      <a:endParaRPr lang="en-US" sz="1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A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0,60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A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0,36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A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DFCE3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0,45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0,32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A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0,55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A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0,41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56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0,30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A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0,40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A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0,34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56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blandskog</a:t>
                      </a:r>
                      <a:endParaRPr lang="en-US" sz="1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0,31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0,36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DFCE3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0,34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0,35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0,28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0,31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56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0,38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DBDB0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0,25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F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0,30</a:t>
                      </a:r>
                      <a:endParaRPr lang="en-US" sz="115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52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564A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40080" y="617220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DBD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User's = precision · Producer's = recall. NMD2023 vinner overall, kappa, tall &amp; gran; v8b vinner löv &amp; blandskog. Grön = högsta F1 per rad.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43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320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DFC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◆ </a:t>
            </a:r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Digital Earth Sweden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Vad betyder det?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DFC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Modellhistorik — val mIoU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28800"/>
          <a:ext cx="54864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400800" y="155448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145043"/>
          </a:solidFill>
          <a:ln/>
        </p:spPr>
      </p:sp>
      <p:sp>
        <p:nvSpPr>
          <p:cNvPr id="7" name="Text 4"/>
          <p:cNvSpPr/>
          <p:nvPr/>
        </p:nvSpPr>
        <p:spPr>
          <a:xfrm>
            <a:off x="6675120" y="1700784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DFC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Slår sin egen labelkälla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675120" y="2130552"/>
            <a:ext cx="4617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v8b tränades på NMD2018 och slår ändå NMD2018 på F1, overall och kappa vid fältpunkterna — multitemporal S2 + LiDAR-aux avbrusar per-pixel-felen.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0" y="3090672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145043"/>
          </a:solidFill>
          <a:ln/>
        </p:spPr>
      </p:sp>
      <p:sp>
        <p:nvSpPr>
          <p:cNvPr id="10" name="Text 7"/>
          <p:cNvSpPr/>
          <p:nvPr/>
        </p:nvSpPr>
        <p:spPr>
          <a:xfrm>
            <a:off x="6675120" y="3236976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DFC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Ikapp nya generationen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675120" y="3666744"/>
            <a:ext cx="4617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NMD2023 (laser + 2023 S2) leder overall 49,3 vs 46,3 — men v8b vinner löv- och blandskog. Gapet är litet, inte principiellt.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400800" y="4626864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145043"/>
          </a:solidFill>
          <a:ln/>
        </p:spPr>
      </p:sp>
      <p:sp>
        <p:nvSpPr>
          <p:cNvPr id="13" name="Text 10"/>
          <p:cNvSpPr/>
          <p:nvPr/>
        </p:nvSpPr>
        <p:spPr>
          <a:xfrm>
            <a:off x="6675120" y="4773168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826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Nästa steg: träna på NMD2023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675120" y="5202936"/>
            <a:ext cx="4617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Samma denoising borde lyfta en NMD2023-tränad v8b över NMD2023. Bygg om labels med NMD2023-bas, matcha 2023-spektral, finetuna.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DBDB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Alla tal på samma 912 NFI-plottar där NMD2023 v2.1 har täckning. 4-vägs skogstyp i en 10 m-pixel mot en fältplott är genuint svårt — för alla metoder.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2026-08-05T19:16:07Z</dcterms:created>
  <dcterms:modified xsi:type="dcterms:W3CDTF">2026-08-05T19:16:07Z</dcterms:modified>
</cp:coreProperties>
</file>