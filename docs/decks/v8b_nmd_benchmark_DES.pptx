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NMD2023</c:v>
                  </c:pt>
                  <c:pt idx="1">
                    <c:v>Distillerad modell</c:v>
                  </c:pt>
                  <c:pt idx="2">
                    <c:v>Skogstypslager (fraktioner)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43.1</c:v>
                </c:pt>
                <c:pt idx="1">
                  <c:v>50.2</c:v>
                </c:pt>
                <c:pt idx="2">
                  <c:v>57.9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35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FF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v8b (NMD2018)</c:v>
                  </c:pt>
                  <c:pt idx="1">
                    <c:v>NMD2023-labels</c:v>
                  </c:pt>
                  <c:pt idx="2">
                    <c:v>NMD2023 självt</c:v>
                  </c:pt>
                  <c:pt idx="3">
                    <c:v>Distillerad</c:v>
                  </c:pt>
                  <c:pt idx="4">
                    <c:v>NFI-head (OOF)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46.5</c:v>
                </c:pt>
                <c:pt idx="1">
                  <c:v>46</c:v>
                </c:pt>
                <c:pt idx="2">
                  <c:v>49.3</c:v>
                </c:pt>
                <c:pt idx="3">
                  <c:v>52.7</c:v>
                </c:pt>
                <c:pt idx="4">
                  <c:v>63.7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8"/>
          <c:min val="40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Fältkalibrerad marktäckningsmodell för Sverige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145043"/>
          </a:solidFill>
          <a:ln/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33832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Modellen slår nu NMD2023 — </a:t>
            </a:r>
            <a:pPr indent="0" marL="0">
              <a:buNone/>
            </a:pPr>
            <a:r>
              <a:rPr lang="en-US" sz="2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på oberoende fältdata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05840" y="43434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Håll-ut-validering (209 NFI-plottar ingen träningsfas sett): full modell 50,2 % vs NMD2023 43,1 % · skogstypslager 57,9 %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klasser (unified)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02152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7 882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tiles, hela Sverige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944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64224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NFI-fältplottar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226296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+0,07 / +0,15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26296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över NMD2023 (håll-ut)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Fyra generationer — samma landskap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13385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 5×5 km-tile, identisk extent och unified färgpalett (tile_331280_6541280): etikettkällorna 2018/2023 och modellerna tränade mot respektive mål.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783080"/>
            <a:ext cx="2697480" cy="2697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4805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NMD2018-etikett</a:t>
            </a:r>
            <a:endParaRPr lang="en-US" sz="1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783080"/>
            <a:ext cx="26974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8269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 (tränad på 2018)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1783080"/>
            <a:ext cx="2697480" cy="2697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1733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NMD2023-etikett</a:t>
            </a:r>
            <a:endParaRPr lang="en-US" sz="12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783080"/>
            <a:ext cx="2697480" cy="2697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95197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 (distillerad)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85800" y="5276088"/>
            <a:ext cx="182880" cy="182880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4" name="Text 8"/>
          <p:cNvSpPr/>
          <p:nvPr/>
        </p:nvSpPr>
        <p:spPr>
          <a:xfrm>
            <a:off x="9601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tallskog</a:t>
            </a:r>
            <a:endParaRPr lang="en-US" sz="1150" dirty="0"/>
          </a:p>
        </p:txBody>
      </p:sp>
      <p:sp>
        <p:nvSpPr>
          <p:cNvPr id="15" name="Shape 9"/>
          <p:cNvSpPr/>
          <p:nvPr/>
        </p:nvSpPr>
        <p:spPr>
          <a:xfrm>
            <a:off x="3429000" y="5276088"/>
            <a:ext cx="182880" cy="182880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16" name="Text 10"/>
          <p:cNvSpPr/>
          <p:nvPr/>
        </p:nvSpPr>
        <p:spPr>
          <a:xfrm>
            <a:off x="37033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granskog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6172200" y="5276088"/>
            <a:ext cx="182880" cy="182880"/>
          </a:xfrm>
          <a:prstGeom prst="rect">
            <a:avLst/>
          </a:prstGeom>
          <a:solidFill>
            <a:srgbClr val="32CD32"/>
          </a:solidFill>
          <a:ln/>
        </p:spPr>
      </p:sp>
      <p:sp>
        <p:nvSpPr>
          <p:cNvPr id="18" name="Text 12"/>
          <p:cNvSpPr/>
          <p:nvPr/>
        </p:nvSpPr>
        <p:spPr>
          <a:xfrm>
            <a:off x="64465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lövskog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915400" y="5276088"/>
            <a:ext cx="182880" cy="182880"/>
          </a:xfrm>
          <a:prstGeom prst="rect">
            <a:avLst/>
          </a:prstGeom>
          <a:solidFill>
            <a:srgbClr val="3CB371"/>
          </a:solidFill>
          <a:ln/>
        </p:spPr>
      </p:sp>
      <p:sp>
        <p:nvSpPr>
          <p:cNvPr id="20" name="Text 14"/>
          <p:cNvSpPr/>
          <p:nvPr/>
        </p:nvSpPr>
        <p:spPr>
          <a:xfrm>
            <a:off x="91897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blandskog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85800" y="5568696"/>
            <a:ext cx="182880" cy="182880"/>
          </a:xfrm>
          <a:prstGeom prst="rect">
            <a:avLst/>
          </a:prstGeom>
          <a:solidFill>
            <a:srgbClr val="2E4F2E"/>
          </a:solidFill>
          <a:ln/>
        </p:spPr>
      </p:sp>
      <p:sp>
        <p:nvSpPr>
          <p:cNvPr id="22" name="Text 16"/>
          <p:cNvSpPr/>
          <p:nvPr/>
        </p:nvSpPr>
        <p:spPr>
          <a:xfrm>
            <a:off x="9601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sumpskog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429000" y="5568696"/>
            <a:ext cx="182880" cy="182880"/>
          </a:xfrm>
          <a:prstGeom prst="rect">
            <a:avLst/>
          </a:prstGeom>
          <a:solidFill>
            <a:srgbClr val="00CED1"/>
          </a:solidFill>
          <a:ln/>
        </p:spPr>
      </p:sp>
      <p:sp>
        <p:nvSpPr>
          <p:cNvPr id="24" name="Text 18"/>
          <p:cNvSpPr/>
          <p:nvPr/>
        </p:nvSpPr>
        <p:spPr>
          <a:xfrm>
            <a:off x="37033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hygge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172200" y="5568696"/>
            <a:ext cx="182880" cy="182880"/>
          </a:xfrm>
          <a:prstGeom prst="rect">
            <a:avLst/>
          </a:prstGeom>
          <a:solidFill>
            <a:srgbClr val="D2B48C"/>
          </a:solidFill>
          <a:ln/>
        </p:spPr>
      </p:sp>
      <p:sp>
        <p:nvSpPr>
          <p:cNvPr id="26" name="Text 20"/>
          <p:cNvSpPr/>
          <p:nvPr/>
        </p:nvSpPr>
        <p:spPr>
          <a:xfrm>
            <a:off x="64465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öppen mark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8915400" y="5568696"/>
            <a:ext cx="182880" cy="18288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8" name="Text 22"/>
          <p:cNvSpPr/>
          <p:nvPr/>
        </p:nvSpPr>
        <p:spPr>
          <a:xfrm>
            <a:off x="91897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vatten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85800" y="5861304"/>
            <a:ext cx="182880" cy="18288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30" name="Text 24"/>
          <p:cNvSpPr/>
          <p:nvPr/>
        </p:nvSpPr>
        <p:spPr>
          <a:xfrm>
            <a:off x="9601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bebyggelse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3429000" y="5861304"/>
            <a:ext cx="182880" cy="182880"/>
          </a:xfrm>
          <a:prstGeom prst="rect">
            <a:avLst/>
          </a:prstGeom>
          <a:solidFill>
            <a:srgbClr val="FFD27E"/>
          </a:solidFill>
          <a:ln/>
        </p:spPr>
      </p:sp>
      <p:sp>
        <p:nvSpPr>
          <p:cNvPr id="32" name="Text 26"/>
          <p:cNvSpPr/>
          <p:nvPr/>
        </p:nvSpPr>
        <p:spPr>
          <a:xfrm>
            <a:off x="37033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gräsdom. mark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6172200" y="5861304"/>
            <a:ext cx="182880" cy="182880"/>
          </a:xfrm>
          <a:prstGeom prst="rect">
            <a:avLst/>
          </a:prstGeom>
          <a:solidFill>
            <a:srgbClr val="CDAA66"/>
          </a:solidFill>
          <a:ln/>
        </p:spPr>
      </p:sp>
      <p:sp>
        <p:nvSpPr>
          <p:cNvPr id="34" name="Text 28"/>
          <p:cNvSpPr/>
          <p:nvPr/>
        </p:nvSpPr>
        <p:spPr>
          <a:xfrm>
            <a:off x="64465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risdom. mark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8915400" y="5861304"/>
            <a:ext cx="182880" cy="182880"/>
          </a:xfrm>
          <a:prstGeom prst="rect">
            <a:avLst/>
          </a:prstGeom>
          <a:solidFill>
            <a:srgbClr val="ABC8A6"/>
          </a:solidFill>
          <a:ln/>
        </p:spPr>
      </p:sp>
      <p:sp>
        <p:nvSpPr>
          <p:cNvPr id="36" name="Text 30"/>
          <p:cNvSpPr/>
          <p:nvPr/>
        </p:nvSpPr>
        <p:spPr>
          <a:xfrm>
            <a:off x="91897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buskdom. mark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Håll-ut-resultat — overall accuracy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209 NFI-plottar på tiles som varken huvudträning, distillering eller finetune sett. NMD2023 poängsatt på exakt samma plottar.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74520"/>
          <a:ext cx="6675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68096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Ärlig utvärdering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680960" y="275234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8" name="Text 5"/>
          <p:cNvSpPr/>
          <p:nvPr/>
        </p:nvSpPr>
        <p:spPr>
          <a:xfrm>
            <a:off x="7973568" y="26517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Trösklar och huvud tränade ENBART på träningssplittens 735 plottar — de 209 är orörda.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680960" y="394106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3840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Distillerad modell = full 28-klassprodukt, alla klasser fungerar (+7,2 pp).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512978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2" name="Text 9"/>
          <p:cNvSpPr/>
          <p:nvPr/>
        </p:nvSpPr>
        <p:spPr>
          <a:xfrm>
            <a:off x="7973568" y="5029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Fraktionslagret (NFI-kollapsregel) når 57,9 % på skogstyp — tall F1 0,74.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 klass — F1 på håll-ut-plottarna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Tre källor på exakt samma 209 fältplottar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Overall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43,1 %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Distill.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50,2 %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Fraktioner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57,9 %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Cohen's kappa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0,298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Distill.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0,371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Fraktioner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0,420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88920"/>
          <a:ext cx="1110996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Klass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NMD2023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26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Distill.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Fraktioner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tallskog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0,61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0,74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granskog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0,56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0,63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0,55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lövskog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0,43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blandskog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0,28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0,29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icke-skog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0,24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0,32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0,00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6035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Grön = bästa F1 per rad. Distillerad vinner gran &amp; icke-skog; fraktionslagret vinner tall &amp; löv. Fraktionsvägen kan inte säga icke-skog (produktion: hård mask + fraktionstyp).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Vägen förbi taket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 overall (944 plottar) genom experimentserien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783080"/>
          <a:ext cx="57607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15544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0" y="168249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Hårda labels = proxytak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766560" y="210312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Träning mot NMD-klasser fastnade på ~0,46 oavsett generation — denoising-effekten skalar med lärarens brus, och NMD2023 är för ren att slå via imitation.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3090672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321868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Fältmålet bröt taket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766560" y="363931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Samma features + NFI-supervision: 0,64 (läckagefritt OOF). Representationen räckte — det var träningsMÅLET som var begränsningen.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4626864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4754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Produktrekommendation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766560" y="517550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Distillerad 28-klassbas + fraktionshuvudet som skogstypslager (hård mask avgör skog/ej skog, fraktioner avgör typ).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2636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Alla håll-ut-tal: 209 plottar, grupperad tile-split, kalibrering endast på träningssidan. Detalj: docs/data/{distill,tradslag_fraction,hybrid_nfi_head}_finding.md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2026-08-10T14:50:55Z</dcterms:created>
  <dcterms:modified xsi:type="dcterms:W3CDTF">2026-08-10T14:50:55Z</dcterms:modified>
</cp:coreProperties>
</file>