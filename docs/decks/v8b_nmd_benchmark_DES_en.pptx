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overall</c:v>
                </c:pt>
              </c:strCache>
            </c:strRef>
          </c:tx>
          <c:spPr>
            <a:solidFill>
              <a:srgbClr val="5E847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FFFFFF"/>
                    </a:solidFill>
                    <a:latin typeface="Space Grotesk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E847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F826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DFCE3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NMD2023</c:v>
                  </c:pt>
                  <c:pt idx="1">
                    <c:v>Distilled model</c:v>
                  </c:pt>
                  <c:pt idx="2">
                    <c:v>Forest-type layer (fractions)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43.1</c:v>
                </c:pt>
                <c:pt idx="1">
                  <c:v>50.2</c:v>
                </c:pt>
                <c:pt idx="2">
                  <c:v>57.9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500" u="none">
                  <a:solidFill>
                    <a:srgbClr val="FFFFFF"/>
                  </a:solidFill>
                  <a:latin typeface="Space Grotesk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Space Grotesk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2"/>
          <c:min val="35"/>
        </c:scaling>
        <c:delete val="0"/>
        <c:axPos val="l"/>
        <c:majorGridlines>
          <c:spPr>
            <a:ln w="12700" cap="flat">
              <a:solidFill>
                <a:srgbClr val="1C524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DBDB0"/>
                </a:solidFill>
                <a:latin typeface="Space Grotesk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overall</c:v>
                </c:pt>
              </c:strCache>
            </c:strRef>
          </c:tx>
          <c:spPr>
            <a:solidFill>
              <a:srgbClr val="5E847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Space Grotesk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E847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E847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FFF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F826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DFCE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v8b (NMD2018)</c:v>
                  </c:pt>
                  <c:pt idx="1">
                    <c:v>NMD2023 labels</c:v>
                  </c:pt>
                  <c:pt idx="2">
                    <c:v>NMD2023 itself</c:v>
                  </c:pt>
                  <c:pt idx="3">
                    <c:v>Distilled</c:v>
                  </c:pt>
                  <c:pt idx="4">
                    <c:v>NFI head (OOF)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46.5</c:v>
                </c:pt>
                <c:pt idx="1">
                  <c:v>46</c:v>
                </c:pt>
                <c:pt idx="2">
                  <c:v>49.3</c:v>
                </c:pt>
                <c:pt idx="3">
                  <c:v>52.7</c:v>
                </c:pt>
                <c:pt idx="4">
                  <c:v>63.7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Space Grotesk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FFFFFF"/>
                </a:solidFill>
                <a:latin typeface="Space Grotesk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8"/>
          <c:min val="40"/>
        </c:scaling>
        <c:delete val="0"/>
        <c:axPos val="l"/>
        <c:majorGridlines>
          <c:spPr>
            <a:ln w="12700" cap="flat">
              <a:solidFill>
                <a:srgbClr val="1C524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DBDB0"/>
                </a:solidFill>
                <a:latin typeface="Space Grotesk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320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◆ </a:t>
            </a:r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Digital Earth Sweden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91440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v8b-NFI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658368" y="22402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Field-calibrated land-cover model for Sweden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3108960"/>
            <a:ext cx="10881360" cy="1920240"/>
          </a:xfrm>
          <a:prstGeom prst="roundRect">
            <a:avLst>
              <a:gd name="adj" fmla="val 5714"/>
            </a:avLst>
          </a:prstGeom>
          <a:solidFill>
            <a:srgbClr val="145043"/>
          </a:solidFill>
          <a:ln/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338328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model now beats NMD2023 — </a:t>
            </a:r>
            <a:pPr indent="0" marL="0">
              <a:buNone/>
            </a:pPr>
            <a:r>
              <a:rPr lang="en-US" sz="2900" b="1" dirty="0">
                <a:solidFill>
                  <a:srgbClr val="FF826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 independent field data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1005840" y="434340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Held-out validation (209 NFI plots unseen by any training stage): full model 50.2% vs NMD2023 43.1% · forest-type layer 57.9%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53949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28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59893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classes (unified)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502152" y="53949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7,882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502152" y="59893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tiles, all of Sweden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64224" y="53949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944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364224" y="59893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NFI field plots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226296" y="53949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+0.07 / +0.15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9226296" y="59893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over NMD2023 (held-out)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320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◆ </a:t>
            </a:r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Digital Earth Sweden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Four generations — same landscape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58368" y="1133856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5×5 km tile, identical extent and unified palette (tile_331280_6541280): the 2018/2023 label sources and the models trained against each target.</a:t>
            </a:r>
            <a:endParaRPr lang="en-US" sz="13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783080"/>
            <a:ext cx="2697480" cy="2697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48056" y="4535424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NMD2018 label</a:t>
            </a:r>
            <a:endParaRPr lang="en-US" sz="12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783080"/>
            <a:ext cx="2697480" cy="2697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282696" y="4535424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v8b (trained on 2018)</a:t>
            </a:r>
            <a:endParaRPr lang="en-US" sz="12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3056" y="1783080"/>
            <a:ext cx="2697480" cy="26974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117336" y="4535424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NMD2023 label</a:t>
            </a:r>
            <a:endParaRPr lang="en-US" sz="125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1783080"/>
            <a:ext cx="2697480" cy="269748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8951976" y="4535424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826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v8b-NFI (distilled)</a:t>
            </a:r>
            <a:endParaRPr lang="en-US" sz="1250" dirty="0"/>
          </a:p>
        </p:txBody>
      </p:sp>
      <p:sp>
        <p:nvSpPr>
          <p:cNvPr id="13" name="Shape 7"/>
          <p:cNvSpPr/>
          <p:nvPr/>
        </p:nvSpPr>
        <p:spPr>
          <a:xfrm>
            <a:off x="685800" y="5276088"/>
            <a:ext cx="182880" cy="182880"/>
          </a:xfrm>
          <a:prstGeom prst="rect">
            <a:avLst/>
          </a:prstGeom>
          <a:solidFill>
            <a:srgbClr val="006400"/>
          </a:solidFill>
          <a:ln/>
        </p:spPr>
      </p:sp>
      <p:sp>
        <p:nvSpPr>
          <p:cNvPr id="14" name="Text 8"/>
          <p:cNvSpPr/>
          <p:nvPr/>
        </p:nvSpPr>
        <p:spPr>
          <a:xfrm>
            <a:off x="960120" y="52303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Pine</a:t>
            </a:r>
            <a:endParaRPr lang="en-US" sz="1150" dirty="0"/>
          </a:p>
        </p:txBody>
      </p:sp>
      <p:sp>
        <p:nvSpPr>
          <p:cNvPr id="15" name="Shape 9"/>
          <p:cNvSpPr/>
          <p:nvPr/>
        </p:nvSpPr>
        <p:spPr>
          <a:xfrm>
            <a:off x="3429000" y="5276088"/>
            <a:ext cx="182880" cy="182880"/>
          </a:xfrm>
          <a:prstGeom prst="rect">
            <a:avLst/>
          </a:prstGeom>
          <a:solidFill>
            <a:srgbClr val="228B22"/>
          </a:solidFill>
          <a:ln/>
        </p:spPr>
      </p:sp>
      <p:sp>
        <p:nvSpPr>
          <p:cNvPr id="16" name="Text 10"/>
          <p:cNvSpPr/>
          <p:nvPr/>
        </p:nvSpPr>
        <p:spPr>
          <a:xfrm>
            <a:off x="3703320" y="52303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Spruce</a:t>
            </a:r>
            <a:endParaRPr lang="en-US" sz="1150" dirty="0"/>
          </a:p>
        </p:txBody>
      </p:sp>
      <p:sp>
        <p:nvSpPr>
          <p:cNvPr id="17" name="Shape 11"/>
          <p:cNvSpPr/>
          <p:nvPr/>
        </p:nvSpPr>
        <p:spPr>
          <a:xfrm>
            <a:off x="6172200" y="5276088"/>
            <a:ext cx="182880" cy="182880"/>
          </a:xfrm>
          <a:prstGeom prst="rect">
            <a:avLst/>
          </a:prstGeom>
          <a:solidFill>
            <a:srgbClr val="32CD32"/>
          </a:solidFill>
          <a:ln/>
        </p:spPr>
      </p:sp>
      <p:sp>
        <p:nvSpPr>
          <p:cNvPr id="18" name="Text 12"/>
          <p:cNvSpPr/>
          <p:nvPr/>
        </p:nvSpPr>
        <p:spPr>
          <a:xfrm>
            <a:off x="6446520" y="52303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Deciduous</a:t>
            </a:r>
            <a:endParaRPr lang="en-US" sz="1150" dirty="0"/>
          </a:p>
        </p:txBody>
      </p:sp>
      <p:sp>
        <p:nvSpPr>
          <p:cNvPr id="19" name="Shape 13"/>
          <p:cNvSpPr/>
          <p:nvPr/>
        </p:nvSpPr>
        <p:spPr>
          <a:xfrm>
            <a:off x="8915400" y="5276088"/>
            <a:ext cx="182880" cy="182880"/>
          </a:xfrm>
          <a:prstGeom prst="rect">
            <a:avLst/>
          </a:prstGeom>
          <a:solidFill>
            <a:srgbClr val="3CB371"/>
          </a:solidFill>
          <a:ln/>
        </p:spPr>
      </p:sp>
      <p:sp>
        <p:nvSpPr>
          <p:cNvPr id="20" name="Text 14"/>
          <p:cNvSpPr/>
          <p:nvPr/>
        </p:nvSpPr>
        <p:spPr>
          <a:xfrm>
            <a:off x="9189720" y="52303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Mixed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685800" y="5568696"/>
            <a:ext cx="182880" cy="182880"/>
          </a:xfrm>
          <a:prstGeom prst="rect">
            <a:avLst/>
          </a:prstGeom>
          <a:solidFill>
            <a:srgbClr val="2E4F2E"/>
          </a:solidFill>
          <a:ln/>
        </p:spPr>
      </p:sp>
      <p:sp>
        <p:nvSpPr>
          <p:cNvPr id="22" name="Text 16"/>
          <p:cNvSpPr/>
          <p:nvPr/>
        </p:nvSpPr>
        <p:spPr>
          <a:xfrm>
            <a:off x="960120" y="55229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Swamp forest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3429000" y="5568696"/>
            <a:ext cx="182880" cy="182880"/>
          </a:xfrm>
          <a:prstGeom prst="rect">
            <a:avLst/>
          </a:prstGeom>
          <a:solidFill>
            <a:srgbClr val="00CED1"/>
          </a:solidFill>
          <a:ln/>
        </p:spPr>
      </p:sp>
      <p:sp>
        <p:nvSpPr>
          <p:cNvPr id="24" name="Text 18"/>
          <p:cNvSpPr/>
          <p:nvPr/>
        </p:nvSpPr>
        <p:spPr>
          <a:xfrm>
            <a:off x="3703320" y="55229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Clear-cut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6172200" y="5568696"/>
            <a:ext cx="182880" cy="182880"/>
          </a:xfrm>
          <a:prstGeom prst="rect">
            <a:avLst/>
          </a:prstGeom>
          <a:solidFill>
            <a:srgbClr val="D2B48C"/>
          </a:solidFill>
          <a:ln/>
        </p:spPr>
      </p:sp>
      <p:sp>
        <p:nvSpPr>
          <p:cNvPr id="26" name="Text 20"/>
          <p:cNvSpPr/>
          <p:nvPr/>
        </p:nvSpPr>
        <p:spPr>
          <a:xfrm>
            <a:off x="6446520" y="55229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Open land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8915400" y="5568696"/>
            <a:ext cx="182880" cy="18288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8" name="Text 22"/>
          <p:cNvSpPr/>
          <p:nvPr/>
        </p:nvSpPr>
        <p:spPr>
          <a:xfrm>
            <a:off x="9189720" y="55229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Water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685800" y="5861304"/>
            <a:ext cx="182880" cy="182880"/>
          </a:xfrm>
          <a:prstGeom prst="rect">
            <a:avLst/>
          </a:prstGeom>
          <a:solidFill>
            <a:srgbClr val="FF0000"/>
          </a:solidFill>
          <a:ln/>
        </p:spPr>
      </p:sp>
      <p:sp>
        <p:nvSpPr>
          <p:cNvPr id="30" name="Text 24"/>
          <p:cNvSpPr/>
          <p:nvPr/>
        </p:nvSpPr>
        <p:spPr>
          <a:xfrm>
            <a:off x="960120" y="58155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Built-up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3429000" y="5861304"/>
            <a:ext cx="182880" cy="182880"/>
          </a:xfrm>
          <a:prstGeom prst="rect">
            <a:avLst/>
          </a:prstGeom>
          <a:solidFill>
            <a:srgbClr val="FFD27E"/>
          </a:solidFill>
          <a:ln/>
        </p:spPr>
      </p:sp>
      <p:sp>
        <p:nvSpPr>
          <p:cNvPr id="32" name="Text 26"/>
          <p:cNvSpPr/>
          <p:nvPr/>
        </p:nvSpPr>
        <p:spPr>
          <a:xfrm>
            <a:off x="3703320" y="58155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Grass-dom.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6172200" y="5861304"/>
            <a:ext cx="182880" cy="182880"/>
          </a:xfrm>
          <a:prstGeom prst="rect">
            <a:avLst/>
          </a:prstGeom>
          <a:solidFill>
            <a:srgbClr val="CDAA66"/>
          </a:solidFill>
          <a:ln/>
        </p:spPr>
      </p:sp>
      <p:sp>
        <p:nvSpPr>
          <p:cNvPr id="34" name="Text 28"/>
          <p:cNvSpPr/>
          <p:nvPr/>
        </p:nvSpPr>
        <p:spPr>
          <a:xfrm>
            <a:off x="6446520" y="58155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Dwarf-shrub</a:t>
            </a:r>
            <a:endParaRPr lang="en-US" sz="1150" dirty="0"/>
          </a:p>
        </p:txBody>
      </p:sp>
      <p:sp>
        <p:nvSpPr>
          <p:cNvPr id="35" name="Shape 29"/>
          <p:cNvSpPr/>
          <p:nvPr/>
        </p:nvSpPr>
        <p:spPr>
          <a:xfrm>
            <a:off x="8915400" y="5861304"/>
            <a:ext cx="182880" cy="182880"/>
          </a:xfrm>
          <a:prstGeom prst="rect">
            <a:avLst/>
          </a:prstGeom>
          <a:solidFill>
            <a:srgbClr val="ABC8A6"/>
          </a:solidFill>
          <a:ln/>
        </p:spPr>
      </p:sp>
      <p:sp>
        <p:nvSpPr>
          <p:cNvPr id="36" name="Text 30"/>
          <p:cNvSpPr/>
          <p:nvPr/>
        </p:nvSpPr>
        <p:spPr>
          <a:xfrm>
            <a:off x="9189720" y="58155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Shrub-dom.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320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◆ </a:t>
            </a:r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Digital Earth Sweden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Held-out results — overall accuracy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117043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209 NFI plots on tiles unseen by head training, distillation and finetune. NMD2023 scored on the exact same plots.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1874520"/>
          <a:ext cx="667512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7680960" y="20116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Honest evaluation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7680960" y="2752344"/>
            <a:ext cx="146304" cy="146304"/>
          </a:xfrm>
          <a:prstGeom prst="ellipse">
            <a:avLst/>
          </a:prstGeom>
          <a:solidFill>
            <a:srgbClr val="FF826C"/>
          </a:solidFill>
          <a:ln/>
        </p:spPr>
      </p:sp>
      <p:sp>
        <p:nvSpPr>
          <p:cNvPr id="8" name="Text 5"/>
          <p:cNvSpPr/>
          <p:nvPr/>
        </p:nvSpPr>
        <p:spPr>
          <a:xfrm>
            <a:off x="7973568" y="265176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Thresholds and head trained ONLY on the 735 train-split plots — the 209 are untouched.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680960" y="3941064"/>
            <a:ext cx="146304" cy="146304"/>
          </a:xfrm>
          <a:prstGeom prst="ellipse">
            <a:avLst/>
          </a:prstGeom>
          <a:solidFill>
            <a:srgbClr val="FF826C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38404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Distilled model = full 28-class product, every class functional (+7.2 pp).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680960" y="5129784"/>
            <a:ext cx="146304" cy="146304"/>
          </a:xfrm>
          <a:prstGeom prst="ellipse">
            <a:avLst/>
          </a:prstGeom>
          <a:solidFill>
            <a:srgbClr val="FF826C"/>
          </a:solidFill>
          <a:ln/>
        </p:spPr>
      </p:sp>
      <p:sp>
        <p:nvSpPr>
          <p:cNvPr id="12" name="Text 9"/>
          <p:cNvSpPr/>
          <p:nvPr/>
        </p:nvSpPr>
        <p:spPr>
          <a:xfrm>
            <a:off x="7973568" y="50292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fraction layer (NFI collapse rule) reaches 57.9% on forest type — pine F1 0.74.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320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◆ </a:t>
            </a:r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Digital Earth Sweden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 class — F1 on the held-out plots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Three sources on the exact same 209 field plots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145043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67335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Overall accuracy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199339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NMD2023 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43.1%</a:t>
            </a:r>
            <a:pPr indent="0" marL="0">
              <a:buNone/>
            </a:pPr>
            <a:r>
              <a:rPr lang="en-US" sz="12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  Distilled </a:t>
            </a:r>
            <a:pPr indent="0" marL="0">
              <a:buNone/>
            </a:pPr>
            <a:r>
              <a:rPr lang="en-US" sz="1900" b="1" dirty="0">
                <a:solidFill>
                  <a:srgbClr val="FF826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50.2%</a:t>
            </a:r>
            <a:pPr indent="0" marL="0">
              <a:buNone/>
            </a:pPr>
            <a:r>
              <a:rPr lang="en-US" sz="12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  Fractions </a:t>
            </a:r>
            <a:pPr indent="0" marL="0">
              <a:buNone/>
            </a:pPr>
            <a:r>
              <a:rPr lang="en-US" sz="19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57.9%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600200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145043"/>
          </a:solidFill>
          <a:ln/>
        </p:spPr>
      </p:sp>
      <p:sp>
        <p:nvSpPr>
          <p:cNvPr id="9" name="Text 7"/>
          <p:cNvSpPr/>
          <p:nvPr/>
        </p:nvSpPr>
        <p:spPr>
          <a:xfrm>
            <a:off x="6446520" y="167335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Cohen's kappa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46520" y="199339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NMD2023 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0.298</a:t>
            </a:r>
            <a:pPr indent="0" marL="0">
              <a:buNone/>
            </a:pPr>
            <a:r>
              <a:rPr lang="en-US" sz="12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  Distilled </a:t>
            </a:r>
            <a:pPr indent="0" marL="0">
              <a:buNone/>
            </a:pPr>
            <a:r>
              <a:rPr lang="en-US" sz="1900" b="1" dirty="0">
                <a:solidFill>
                  <a:srgbClr val="FF826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0.371</a:t>
            </a:r>
            <a:pPr indent="0" marL="0">
              <a:buNone/>
            </a:pPr>
            <a:r>
              <a:rPr lang="en-US" sz="12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  Fractions </a:t>
            </a:r>
            <a:pPr indent="0" marL="0">
              <a:buNone/>
            </a:pPr>
            <a:r>
              <a:rPr lang="en-US" sz="19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0.420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788920"/>
          <a:ext cx="1110996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743200"/>
                <a:gridCol w="2743200"/>
                <a:gridCol w="274320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Class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2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NMD2023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2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826C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Distilled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2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DFCE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Fractions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22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Pine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0.59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0.61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DFCE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0.74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B5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Spruce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F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0.56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F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DFCE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0.63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B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0.55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F3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Deciduous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0.30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0.43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DFCE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0.59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B5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Mixed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F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0.28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F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DFCE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0.30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B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0.29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F3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Non-forest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0.24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DFCE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0.32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B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0.00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3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40080" y="603504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Green = best F1 per row. Distilled wins spruce &amp; non-forest; the fraction layer wins pine &amp; deciduous. The fraction path cannot say non-forest (production: hard mask + fraction type).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320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◆ </a:t>
            </a:r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Digital Earth Sweden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Breaking the label ceiling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NFI overall (944 plots) across the experiment series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02920" y="1783080"/>
          <a:ext cx="576072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492240" y="155448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5043"/>
          </a:solidFill>
          <a:ln/>
        </p:spPr>
      </p:sp>
      <p:sp>
        <p:nvSpPr>
          <p:cNvPr id="7" name="Text 4"/>
          <p:cNvSpPr/>
          <p:nvPr/>
        </p:nvSpPr>
        <p:spPr>
          <a:xfrm>
            <a:off x="6766560" y="1682496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Hard labels = proxy ceiling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6766560" y="210312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Training against NMD classes capped at ~0.46 regardless of generation — the denoising effect scales with teacher noise, and NMD2023 is too clean to beat by imitation.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92240" y="3090672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5043"/>
          </a:solidFill>
          <a:ln/>
        </p:spPr>
      </p:sp>
      <p:sp>
        <p:nvSpPr>
          <p:cNvPr id="10" name="Text 7"/>
          <p:cNvSpPr/>
          <p:nvPr/>
        </p:nvSpPr>
        <p:spPr>
          <a:xfrm>
            <a:off x="6766560" y="3218688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field target broke it</a:t>
            </a:r>
            <a:endParaRPr lang="en-US" sz="1650" dirty="0"/>
          </a:p>
        </p:txBody>
      </p:sp>
      <p:sp>
        <p:nvSpPr>
          <p:cNvPr id="11" name="Text 8"/>
          <p:cNvSpPr/>
          <p:nvPr/>
        </p:nvSpPr>
        <p:spPr>
          <a:xfrm>
            <a:off x="6766560" y="3639312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Same features + NFI supervision: 0.64 (leak-free OOF). The representation sufficed — the supervision TARGET was the constraint.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92240" y="4626864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5043"/>
          </a:solidFill>
          <a:ln/>
        </p:spPr>
      </p:sp>
      <p:sp>
        <p:nvSpPr>
          <p:cNvPr id="13" name="Text 10"/>
          <p:cNvSpPr/>
          <p:nvPr/>
        </p:nvSpPr>
        <p:spPr>
          <a:xfrm>
            <a:off x="6766560" y="475488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FF826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Production recommendation</a:t>
            </a:r>
            <a:endParaRPr lang="en-US" sz="1650" dirty="0"/>
          </a:p>
        </p:txBody>
      </p:sp>
      <p:sp>
        <p:nvSpPr>
          <p:cNvPr id="14" name="Text 11"/>
          <p:cNvSpPr/>
          <p:nvPr/>
        </p:nvSpPr>
        <p:spPr>
          <a:xfrm>
            <a:off x="6766560" y="5175504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Distilled 28-class base + the fraction head as a forest-type layer (hard mask decides forest/non-forest, fractions decide type).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40080" y="626364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All held-out figures: 209 plots, grouped tile split, calibration on the train side only. Detail: docs/data/{distill,tradslag_fraction,hybrid_nfi_head}_finding.md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2026-08-10T14:50:55Z</dcterms:created>
  <dcterms:modified xsi:type="dcterms:W3CDTF">2026-08-10T14:50:55Z</dcterms:modified>
</cp:coreProperties>
</file>