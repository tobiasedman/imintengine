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rgbClr val="CDFCE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FFFFFF"/>
                    </a:solidFill>
                    <a:latin typeface="Space Grotes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DFCE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26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847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NMD2023</c:v>
                  </c:pt>
                  <c:pt idx="1">
                    <c:v>v8b</c:v>
                  </c:pt>
                  <c:pt idx="2">
                    <c:v>NMD2018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49.3</c:v>
                </c:pt>
                <c:pt idx="1">
                  <c:v>46.3</c:v>
                </c:pt>
                <c:pt idx="2">
                  <c:v>40.6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FFFFFF"/>
                  </a:solidFill>
                  <a:latin typeface="Space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Space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35"/>
        </c:scaling>
        <c:delete val="0"/>
        <c:axPos val="l"/>
        <c:majorGridlines>
          <c:spPr>
            <a:ln w="12700" cap="flat">
              <a:solidFill>
                <a:srgbClr val="1C524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BDB0"/>
                </a:solidFill>
                <a:latin typeface="Space Grotesk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mIoU</c:v>
                </c:pt>
              </c:strCache>
            </c:strRef>
          </c:tx>
          <c:spPr>
            <a:solidFill>
              <a:srgbClr val="FF826C"/>
            </a:solidFill>
            <a:ln w="38100" cap="flat">
              <a:solidFill>
                <a:srgbClr val="FF826C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Space Grotesk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826C"/>
              </a:solidFill>
              <a:ln w="9525" cap="flat">
                <a:solidFill>
                  <a:srgbClr val="FF82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v6a</c:v>
                  </c:pt>
                  <c:pt idx="1">
                    <c:v>300M/256</c:v>
                  </c:pt>
                  <c:pt idx="2">
                    <c:v>600M/512</c:v>
                  </c:pt>
                  <c:pt idx="3">
                    <c:v>v8</c:v>
                  </c:pt>
                  <c:pt idx="4">
                    <c:v>v8b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0.366</c:v>
                </c:pt>
                <c:pt idx="1">
                  <c:v>0.472</c:v>
                </c:pt>
                <c:pt idx="2">
                  <c:v>0.477</c:v>
                </c:pt>
                <c:pt idx="3">
                  <c:v>0.515</c:v>
                </c:pt>
                <c:pt idx="4">
                  <c:v>0.535</c:v>
                </c:pt>
              </c:numCache>
            </c:numRef>
          </c:val>
          <c:smooth val="1"/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Space Grotesk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Space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.3"/>
        </c:scaling>
        <c:delete val="0"/>
        <c:axPos val="l"/>
        <c:majorGridlines>
          <c:spPr>
            <a:ln w="12700" cap="flat">
              <a:solidFill>
                <a:srgbClr val="1C5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DBDB0"/>
                </a:solidFill>
                <a:latin typeface="Space Grotesk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320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Earth Sweden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v8b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658368" y="2377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Multitemporal Sentinel-2 land-cover model for Sweden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0881360" cy="1920240"/>
          </a:xfrm>
          <a:prstGeom prst="roundRect">
            <a:avLst>
              <a:gd name="adj" fmla="val 5714"/>
            </a:avLst>
          </a:prstGeom>
          <a:solidFill>
            <a:srgbClr val="145043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747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v8b beats its own label source NMD2018 — </a:t>
            </a:r>
            <a:pPr indent="0" marL="0">
              <a:buNone/>
            </a:pPr>
            <a:r>
              <a:rPr lang="en-US" sz="2700" b="1" dirty="0">
                <a:solidFill>
                  <a:srgbClr val="FF82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keeps pace with the new NMD2023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05840" y="448056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Field validation against the National Forest Inventory, 912 shared plots: overall 46.3% (v8b) · 40.6% (NMD2018) · 49.3% (NMD2023)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classes (unified)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02152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7,882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02152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tiles, all of Sweden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64224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Prithvi-600M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64224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backbone, 504 px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226296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0.5352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226296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 mIoU (20 epochs)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320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Earth Sweden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 — NMD reference vs v8b prediction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1338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5×5 km tile, 23-class unified schema (tile_331280_6541280, northern Sweden)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783080"/>
            <a:ext cx="3566160" cy="35661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783080"/>
            <a:ext cx="3566160" cy="3566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5422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NMD-based reference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040880" y="5422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2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v8b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22960" y="6071616"/>
            <a:ext cx="201168" cy="201168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10" name="Text 6"/>
          <p:cNvSpPr/>
          <p:nvPr/>
        </p:nvSpPr>
        <p:spPr>
          <a:xfrm>
            <a:off x="1115568" y="6025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Pine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566160" y="6071616"/>
            <a:ext cx="201168" cy="201168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12" name="Text 8"/>
          <p:cNvSpPr/>
          <p:nvPr/>
        </p:nvSpPr>
        <p:spPr>
          <a:xfrm>
            <a:off x="3858768" y="6025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Spruce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09360" y="6071616"/>
            <a:ext cx="201168" cy="201168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4" name="Text 10"/>
          <p:cNvSpPr/>
          <p:nvPr/>
        </p:nvSpPr>
        <p:spPr>
          <a:xfrm>
            <a:off x="6601968" y="6025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Deciduous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9052560" y="6071616"/>
            <a:ext cx="201168" cy="201168"/>
          </a:xfrm>
          <a:prstGeom prst="rect">
            <a:avLst/>
          </a:prstGeom>
          <a:solidFill>
            <a:srgbClr val="3CB371"/>
          </a:solidFill>
          <a:ln/>
        </p:spPr>
      </p:sp>
      <p:sp>
        <p:nvSpPr>
          <p:cNvPr id="16" name="Text 12"/>
          <p:cNvSpPr/>
          <p:nvPr/>
        </p:nvSpPr>
        <p:spPr>
          <a:xfrm>
            <a:off x="9345168" y="6025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Mixed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22960" y="6400800"/>
            <a:ext cx="201168" cy="201168"/>
          </a:xfrm>
          <a:prstGeom prst="rect">
            <a:avLst/>
          </a:prstGeom>
          <a:solidFill>
            <a:srgbClr val="2E4F2E"/>
          </a:solidFill>
          <a:ln/>
        </p:spPr>
      </p:sp>
      <p:sp>
        <p:nvSpPr>
          <p:cNvPr id="18" name="Text 14"/>
          <p:cNvSpPr/>
          <p:nvPr/>
        </p:nvSpPr>
        <p:spPr>
          <a:xfrm>
            <a:off x="1115568" y="6355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Swamp forest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566160" y="6400800"/>
            <a:ext cx="201168" cy="201168"/>
          </a:xfrm>
          <a:prstGeom prst="rect">
            <a:avLst/>
          </a:prstGeom>
          <a:solidFill>
            <a:srgbClr val="D2B48C"/>
          </a:solidFill>
          <a:ln/>
        </p:spPr>
      </p:sp>
      <p:sp>
        <p:nvSpPr>
          <p:cNvPr id="20" name="Text 16"/>
          <p:cNvSpPr/>
          <p:nvPr/>
        </p:nvSpPr>
        <p:spPr>
          <a:xfrm>
            <a:off x="3858768" y="6355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 land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309360" y="6400800"/>
            <a:ext cx="201168" cy="201168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22" name="Text 18"/>
          <p:cNvSpPr/>
          <p:nvPr/>
        </p:nvSpPr>
        <p:spPr>
          <a:xfrm>
            <a:off x="6601968" y="6355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Water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9052560" y="6400800"/>
            <a:ext cx="201168" cy="20116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4" name="Text 20"/>
          <p:cNvSpPr/>
          <p:nvPr/>
        </p:nvSpPr>
        <p:spPr>
          <a:xfrm>
            <a:off x="9345168" y="6355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Built-up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320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Earth Sweden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Overall accuracy vs field truth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5-class (4 forest types + non-forest), same 912 NFI plots where NMD2023 v2.1 exists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2880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965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 beats teacher — nearly level with the next generation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680960" y="2843784"/>
            <a:ext cx="146304" cy="146304"/>
          </a:xfrm>
          <a:prstGeom prst="ellipse">
            <a:avLst/>
          </a:prstGeom>
          <a:solidFill>
            <a:srgbClr val="FF826C"/>
          </a:solidFill>
          <a:ln/>
        </p:spPr>
      </p:sp>
      <p:sp>
        <p:nvSpPr>
          <p:cNvPr id="8" name="Text 5"/>
          <p:cNvSpPr/>
          <p:nvPr/>
        </p:nvSpPr>
        <p:spPr>
          <a:xfrm>
            <a:off x="7973568" y="2743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v8b is trained ON NMD2018 — yet +5.7 pp better at the field points.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680960" y="3986784"/>
            <a:ext cx="146304" cy="146304"/>
          </a:xfrm>
          <a:prstGeom prst="ellipse">
            <a:avLst/>
          </a:prstGeom>
          <a:solidFill>
            <a:srgbClr val="FF826C"/>
          </a:solidFill>
          <a:ln/>
        </p:spPr>
      </p:sp>
      <p:sp>
        <p:nvSpPr>
          <p:cNvPr id="10" name="Text 7"/>
          <p:cNvSpPr/>
          <p:nvPr/>
        </p:nvSpPr>
        <p:spPr>
          <a:xfrm>
            <a:off x="7973568" y="3886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new NMD2023 (laser + 2023 S2) leads at 49.3% — but only +3.0 pp over v8b.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680960" y="5129784"/>
            <a:ext cx="146304" cy="146304"/>
          </a:xfrm>
          <a:prstGeom prst="ellipse">
            <a:avLst/>
          </a:prstGeom>
          <a:solidFill>
            <a:srgbClr val="FF826C"/>
          </a:solidFill>
          <a:ln/>
        </p:spPr>
      </p:sp>
      <p:sp>
        <p:nvSpPr>
          <p:cNvPr id="12" name="Text 9"/>
          <p:cNvSpPr/>
          <p:nvPr/>
        </p:nvSpPr>
        <p:spPr>
          <a:xfrm>
            <a:off x="7973568" y="5029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v8b wins deciduous and mixed on F1; NMD2023 wins pine and spruce.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320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Earth Sweden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Standard measures — user's / producer's / F1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Confusion matrix over all plots (4 forest types + non-forest), three sources on the exact same 912 field plots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4504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73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Overall accuracy (5-class)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NMD2023 </a:t>
            </a:r>
            <a:pPr indent="0" marL="0">
              <a:buNone/>
            </a:pPr>
            <a:r>
              <a:rPr lang="en-US" sz="20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49.3%</a:t>
            </a:r>
            <a:pPr indent="0" marL="0">
              <a:buNone/>
            </a:pPr>
            <a:r>
              <a:rPr lang="en-US" sz="12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v8b </a:t>
            </a:r>
            <a:pPr indent="0" marL="0">
              <a:buNone/>
            </a:pPr>
            <a:r>
              <a:rPr lang="en-US" sz="2000" b="1" dirty="0">
                <a:solidFill>
                  <a:srgbClr val="FF82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46.3%</a:t>
            </a:r>
            <a:pPr indent="0" marL="0">
              <a:buNone/>
            </a:pPr>
            <a:r>
              <a:rPr lang="en-US" sz="12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NMD2018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40.6%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45043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73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Cohen's kappa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1993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NMD2023 </a:t>
            </a:r>
            <a:pPr indent="0" marL="0">
              <a:buNone/>
            </a:pPr>
            <a:r>
              <a:rPr lang="en-US" sz="20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0.366</a:t>
            </a:r>
            <a:pPr indent="0" marL="0">
              <a:buNone/>
            </a:pPr>
            <a:r>
              <a:rPr lang="en-US" sz="12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v8b </a:t>
            </a:r>
            <a:pPr indent="0" marL="0">
              <a:buNone/>
            </a:pPr>
            <a:r>
              <a:rPr lang="en-US" sz="2000" b="1" dirty="0">
                <a:solidFill>
                  <a:srgbClr val="FF82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0.335</a:t>
            </a:r>
            <a:pPr indent="0" marL="0">
              <a:buNone/>
            </a:pPr>
            <a:r>
              <a:rPr lang="en-US" sz="12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NMD2018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0.257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1110996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Class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826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v8b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DFCE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NMD2023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NMD2018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U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F1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U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F1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U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F1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Pine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0.81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0.44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0.57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0.82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0.48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DFCE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0.61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0.71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0.44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0.54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Spruce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0.66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0.47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0.55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0.76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0.50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DFCE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0.60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0.59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0.40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0.47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Deciduous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0.60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0.36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DFCE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0.45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0.32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0.55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0.41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0.30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0.40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0.34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Mixed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0.31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0.36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DFCE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0.34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0.35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0.28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0.31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0.38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0.25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0.30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" y="61722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User's = precision · Producer's = recall. NMD2023 wins overall, kappa, pine &amp; spruce; v8b wins deciduous &amp; mixed. Green = highest F1 per row.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320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Earth Sweden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does it mean?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lineage — val mIoU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5544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45043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0" y="170078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Beats its own label source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75120" y="2130552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v8b was trained on NMD2018 and still beats NMD2018 on F1, overall and kappa at the field points — multitemporal S2 + LiDAR aux denoises the per-pixel errors.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0" y="3090672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45043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323697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with the new generation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675120" y="3666744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NMD2023 (laser + 2023 S2) leads overall 49.3 vs 46.3 — but v8b wins deciduous and mixed. The gap is small, not fundamental.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0" y="4626864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45043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477316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82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Next: train on NMD2023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75120" y="5202936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same denoising should lift an NMD2023-trained v8b above NMD2023. Rebuild labels on the NMD2023 base, match 2023 spectral, fine-tune.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figures on the same 912 NFI plots where NMD2023 v2.1 has coverage. 4-way forest type in a 10 m pixel against a field plot is genuinely hard — for every method.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2026-08-05T19:16:07Z</dcterms:created>
  <dcterms:modified xsi:type="dcterms:W3CDTF">2026-08-05T19:16:07Z</dcterms:modified>
</cp:coreProperties>
</file>